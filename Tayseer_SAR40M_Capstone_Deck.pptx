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decision" id="{c0bf2337-daee-4d15-0747-13910b60cb9a}">
          <p14:sldIdLst>
            <p14:sldId id="256"/>
          </p14:sldIdLst>
        </p14:section>
        <p14:section name="Situation and complication" id="{43166fcf-0172-ad6d-5df0-22ba312a1a0d}">
          <p14:sldIdLst>
            <p14:sldId id="257"/>
            <p14:sldId id="258"/>
          </p14:sldIdLst>
        </p14:section>
        <p14:section name="Evidence" id="{461e75c5-dfbd-8614-7196-0b832129c67f}">
          <p14:sldIdLst>
            <p14:sldId id="259"/>
          </p14:sldIdLst>
        </p14:section>
        <p14:section name="Options, recommendation and ask" id="{6193fd9f-0d96-5ea3-4f0e-20701e9421db}">
          <p14:sldIdLst>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6"/>
          <c:w val="0.86"/>
          <c:h val="0.8"/>
        </c:manualLayout>
      </c:layout>
      <c:lineChart>
        <c:varyColors val="0"/>
        <c:ser>
          <c:idx val="0"/>
          <c:order val="0"/>
          <c:tx>
            <c:strRef>
              <c:f>Sheet1!$B$1</c:f>
              <c:strCache>
                <c:ptCount val="1"/>
                <c:pt idx="0">
                  <c:v>National adoption</c:v>
                </c:pt>
              </c:strCache>
            </c:strRef>
          </c:tx>
          <c:spPr>
            <a:solidFill>
              <a:srgbClr val="006C35"/>
            </a:solidFill>
            <a:ln w="38100" cap="flat">
              <a:solidFill>
                <a:srgbClr val="006C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6C35"/>
              </a:solidFill>
              <a:ln w="9525" cap="flat">
                <a:solidFill>
                  <a:srgbClr val="006C35"/>
                </a:solidFill>
                <a:prstDash val="solid"/>
                <a:round/>
              </a:ln>
              <a:effectLst/>
            </c:spPr>
          </c:marker>
          <c:cat>
            <c:multiLvlStrRef>
              <c:f>Sheet1!$A$2:$A$49</c:f>
              <c:multiLvlStrCache>
                <c:ptCount val="48"/>
                <c:lvl>
                  <c:pt idx="0">
                    <c:v>Jan 2022</c:v>
                  </c:pt>
                  <c:pt idx="1">
                    <c:v>Feb 2022</c:v>
                  </c:pt>
                  <c:pt idx="2">
                    <c:v>Mar 2022</c:v>
                  </c:pt>
                  <c:pt idx="3">
                    <c:v>Apr 2022</c:v>
                  </c:pt>
                  <c:pt idx="4">
                    <c:v>May 2022</c:v>
                  </c:pt>
                  <c:pt idx="5">
                    <c:v>Jun 2022</c:v>
                  </c:pt>
                  <c:pt idx="6">
                    <c:v>Jul 2022</c:v>
                  </c:pt>
                  <c:pt idx="7">
                    <c:v>Aug 2022</c:v>
                  </c:pt>
                  <c:pt idx="8">
                    <c:v>Sep 2022</c:v>
                  </c:pt>
                  <c:pt idx="9">
                    <c:v>Oct 2022</c:v>
                  </c:pt>
                  <c:pt idx="10">
                    <c:v>Nov 2022</c:v>
                  </c:pt>
                  <c:pt idx="11">
                    <c:v>Dec 2022</c:v>
                  </c:pt>
                  <c:pt idx="12">
                    <c:v>Jan 2023</c:v>
                  </c:pt>
                  <c:pt idx="13">
                    <c:v>Feb 2023</c:v>
                  </c:pt>
                  <c:pt idx="14">
                    <c:v>Mar 2023</c:v>
                  </c:pt>
                  <c:pt idx="15">
                    <c:v>Apr 2023</c:v>
                  </c:pt>
                  <c:pt idx="16">
                    <c:v>May 2023</c:v>
                  </c:pt>
                  <c:pt idx="17">
                    <c:v>Jun 2023</c:v>
                  </c:pt>
                  <c:pt idx="18">
                    <c:v>Jul 2023</c:v>
                  </c:pt>
                  <c:pt idx="19">
                    <c:v>Aug 2023</c:v>
                  </c:pt>
                  <c:pt idx="20">
                    <c:v>Sep 2023</c:v>
                  </c:pt>
                  <c:pt idx="21">
                    <c:v>Oct 2023</c:v>
                  </c:pt>
                  <c:pt idx="22">
                    <c:v>Nov 2023</c:v>
                  </c:pt>
                  <c:pt idx="23">
                    <c:v>Dec 2023</c:v>
                  </c:pt>
                  <c:pt idx="24">
                    <c:v>Jan 2024</c:v>
                  </c:pt>
                  <c:pt idx="25">
                    <c:v>Feb 2024</c:v>
                  </c:pt>
                  <c:pt idx="26">
                    <c:v>Mar 2024</c:v>
                  </c:pt>
                  <c:pt idx="27">
                    <c:v>Apr 2024</c:v>
                  </c:pt>
                  <c:pt idx="28">
                    <c:v>May 2024</c:v>
                  </c:pt>
                  <c:pt idx="29">
                    <c:v>Jun 2024</c:v>
                  </c:pt>
                  <c:pt idx="30">
                    <c:v>Jul 2024</c:v>
                  </c:pt>
                  <c:pt idx="31">
                    <c:v>Aug 2024</c:v>
                  </c:pt>
                  <c:pt idx="32">
                    <c:v>Sep 2024</c:v>
                  </c:pt>
                  <c:pt idx="33">
                    <c:v>Oct 2024</c:v>
                  </c:pt>
                  <c:pt idx="34">
                    <c:v>Nov 2024</c:v>
                  </c:pt>
                  <c:pt idx="35">
                    <c:v>Dec 2024</c:v>
                  </c:pt>
                  <c:pt idx="36">
                    <c:v>Jan 2025</c:v>
                  </c:pt>
                  <c:pt idx="37">
                    <c:v>Feb 2025</c:v>
                  </c:pt>
                  <c:pt idx="38">
                    <c:v>Mar 2025</c:v>
                  </c:pt>
                  <c:pt idx="39">
                    <c:v>Apr 2025</c:v>
                  </c:pt>
                  <c:pt idx="40">
                    <c:v>May 2025</c:v>
                  </c:pt>
                  <c:pt idx="41">
                    <c:v>Jun 2025</c:v>
                  </c:pt>
                  <c:pt idx="42">
                    <c:v>Jul 2025</c:v>
                  </c:pt>
                  <c:pt idx="43">
                    <c:v>Aug 2025</c:v>
                  </c:pt>
                  <c:pt idx="44">
                    <c:v>Sep 2025</c:v>
                  </c:pt>
                  <c:pt idx="45">
                    <c:v>Oct 2025</c:v>
                  </c:pt>
                  <c:pt idx="46">
                    <c:v>Nov 2025</c:v>
                  </c:pt>
                  <c:pt idx="47">
                    <c:v>Dec 2025</c:v>
                  </c:pt>
                </c:lvl>
              </c:multiLvlStrCache>
            </c:multiLvlStrRef>
          </c:cat>
          <c:val>
            <c:numRef>
              <c:f>Sheet1!$B$2:$B$49</c:f>
              <c:numCache>
                <c:formatCode>General</c:formatCode>
                <c:ptCount val="48"/>
                <c:pt idx="0">
                  <c:v>54.14</c:v>
                </c:pt>
                <c:pt idx="1">
                  <c:v>54.04</c:v>
                </c:pt>
                <c:pt idx="2">
                  <c:v>54.55</c:v>
                </c:pt>
                <c:pt idx="3">
                  <c:v>54.73</c:v>
                </c:pt>
                <c:pt idx="4">
                  <c:v>55.22</c:v>
                </c:pt>
                <c:pt idx="5">
                  <c:v>55.2</c:v>
                </c:pt>
                <c:pt idx="6">
                  <c:v>55.55</c:v>
                </c:pt>
                <c:pt idx="7">
                  <c:v>56.08</c:v>
                </c:pt>
                <c:pt idx="8">
                  <c:v>55.88</c:v>
                </c:pt>
                <c:pt idx="9">
                  <c:v>56.45</c:v>
                </c:pt>
                <c:pt idx="10">
                  <c:v>56.72</c:v>
                </c:pt>
                <c:pt idx="11">
                  <c:v>56.6</c:v>
                </c:pt>
                <c:pt idx="12">
                  <c:v>57.02</c:v>
                </c:pt>
                <c:pt idx="13">
                  <c:v>57.43</c:v>
                </c:pt>
                <c:pt idx="14">
                  <c:v>57.47</c:v>
                </c:pt>
                <c:pt idx="15">
                  <c:v>58.01</c:v>
                </c:pt>
                <c:pt idx="16">
                  <c:v>58.44</c:v>
                </c:pt>
                <c:pt idx="17">
                  <c:v>58.38</c:v>
                </c:pt>
                <c:pt idx="18">
                  <c:v>58.89</c:v>
                </c:pt>
                <c:pt idx="19">
                  <c:v>59.02</c:v>
                </c:pt>
                <c:pt idx="20">
                  <c:v>59.23</c:v>
                </c:pt>
                <c:pt idx="21">
                  <c:v>59.25</c:v>
                </c:pt>
                <c:pt idx="22">
                  <c:v>59.58</c:v>
                </c:pt>
                <c:pt idx="23">
                  <c:v>59.85</c:v>
                </c:pt>
                <c:pt idx="24">
                  <c:v>60.38</c:v>
                </c:pt>
                <c:pt idx="25">
                  <c:v>60.55</c:v>
                </c:pt>
                <c:pt idx="26">
                  <c:v>60.77</c:v>
                </c:pt>
                <c:pt idx="27">
                  <c:v>60.85</c:v>
                </c:pt>
                <c:pt idx="28">
                  <c:v>61.35</c:v>
                </c:pt>
                <c:pt idx="29">
                  <c:v>61.52</c:v>
                </c:pt>
                <c:pt idx="30">
                  <c:v>62.01</c:v>
                </c:pt>
                <c:pt idx="31">
                  <c:v>61.83</c:v>
                </c:pt>
                <c:pt idx="32">
                  <c:v>62.58</c:v>
                </c:pt>
                <c:pt idx="33">
                  <c:v>62.79</c:v>
                </c:pt>
                <c:pt idx="34">
                  <c:v>62.79</c:v>
                </c:pt>
                <c:pt idx="35">
                  <c:v>63.26</c:v>
                </c:pt>
                <c:pt idx="36">
                  <c:v>63.42</c:v>
                </c:pt>
                <c:pt idx="37">
                  <c:v>63.78</c:v>
                </c:pt>
                <c:pt idx="38">
                  <c:v>63.66</c:v>
                </c:pt>
                <c:pt idx="39">
                  <c:v>64.06</c:v>
                </c:pt>
                <c:pt idx="40">
                  <c:v>64.19</c:v>
                </c:pt>
                <c:pt idx="41">
                  <c:v>64.6</c:v>
                </c:pt>
                <c:pt idx="42">
                  <c:v>64.98</c:v>
                </c:pt>
                <c:pt idx="43">
                  <c:v>65.2</c:v>
                </c:pt>
                <c:pt idx="44">
                  <c:v>65.51</c:v>
                </c:pt>
                <c:pt idx="45">
                  <c:v>65.7</c:v>
                </c:pt>
                <c:pt idx="46">
                  <c:v>65.98</c:v>
                </c:pt>
                <c:pt idx="47">
                  <c:v>66.21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65% target</c:v>
                </c:pt>
              </c:strCache>
            </c:strRef>
          </c:tx>
          <c:spPr>
            <a:solidFill>
              <a:srgbClr val="B83A37"/>
            </a:solidFill>
            <a:ln w="25400" cap="flat">
              <a:solidFill>
                <a:srgbClr val="B83A37"/>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3A37"/>
              </a:solidFill>
              <a:ln w="9525" cap="flat">
                <a:solidFill>
                  <a:srgbClr val="B83A37"/>
                </a:solidFill>
                <a:prstDash val="solid"/>
                <a:round/>
              </a:ln>
              <a:effectLst/>
            </c:spPr>
          </c:marker>
          <c:cat>
            <c:multiLvlStrRef>
              <c:f>Sheet1!$A$2:$A$49</c:f>
              <c:multiLvlStrCache>
                <c:ptCount val="48"/>
                <c:lvl>
                  <c:pt idx="0">
                    <c:v>Jan 2022</c:v>
                  </c:pt>
                  <c:pt idx="1">
                    <c:v>Feb 2022</c:v>
                  </c:pt>
                  <c:pt idx="2">
                    <c:v>Mar 2022</c:v>
                  </c:pt>
                  <c:pt idx="3">
                    <c:v>Apr 2022</c:v>
                  </c:pt>
                  <c:pt idx="4">
                    <c:v>May 2022</c:v>
                  </c:pt>
                  <c:pt idx="5">
                    <c:v>Jun 2022</c:v>
                  </c:pt>
                  <c:pt idx="6">
                    <c:v>Jul 2022</c:v>
                  </c:pt>
                  <c:pt idx="7">
                    <c:v>Aug 2022</c:v>
                  </c:pt>
                  <c:pt idx="8">
                    <c:v>Sep 2022</c:v>
                  </c:pt>
                  <c:pt idx="9">
                    <c:v>Oct 2022</c:v>
                  </c:pt>
                  <c:pt idx="10">
                    <c:v>Nov 2022</c:v>
                  </c:pt>
                  <c:pt idx="11">
                    <c:v>Dec 2022</c:v>
                  </c:pt>
                  <c:pt idx="12">
                    <c:v>Jan 2023</c:v>
                  </c:pt>
                  <c:pt idx="13">
                    <c:v>Feb 2023</c:v>
                  </c:pt>
                  <c:pt idx="14">
                    <c:v>Mar 2023</c:v>
                  </c:pt>
                  <c:pt idx="15">
                    <c:v>Apr 2023</c:v>
                  </c:pt>
                  <c:pt idx="16">
                    <c:v>May 2023</c:v>
                  </c:pt>
                  <c:pt idx="17">
                    <c:v>Jun 2023</c:v>
                  </c:pt>
                  <c:pt idx="18">
                    <c:v>Jul 2023</c:v>
                  </c:pt>
                  <c:pt idx="19">
                    <c:v>Aug 2023</c:v>
                  </c:pt>
                  <c:pt idx="20">
                    <c:v>Sep 2023</c:v>
                  </c:pt>
                  <c:pt idx="21">
                    <c:v>Oct 2023</c:v>
                  </c:pt>
                  <c:pt idx="22">
                    <c:v>Nov 2023</c:v>
                  </c:pt>
                  <c:pt idx="23">
                    <c:v>Dec 2023</c:v>
                  </c:pt>
                  <c:pt idx="24">
                    <c:v>Jan 2024</c:v>
                  </c:pt>
                  <c:pt idx="25">
                    <c:v>Feb 2024</c:v>
                  </c:pt>
                  <c:pt idx="26">
                    <c:v>Mar 2024</c:v>
                  </c:pt>
                  <c:pt idx="27">
                    <c:v>Apr 2024</c:v>
                  </c:pt>
                  <c:pt idx="28">
                    <c:v>May 2024</c:v>
                  </c:pt>
                  <c:pt idx="29">
                    <c:v>Jun 2024</c:v>
                  </c:pt>
                  <c:pt idx="30">
                    <c:v>Jul 2024</c:v>
                  </c:pt>
                  <c:pt idx="31">
                    <c:v>Aug 2024</c:v>
                  </c:pt>
                  <c:pt idx="32">
                    <c:v>Sep 2024</c:v>
                  </c:pt>
                  <c:pt idx="33">
                    <c:v>Oct 2024</c:v>
                  </c:pt>
                  <c:pt idx="34">
                    <c:v>Nov 2024</c:v>
                  </c:pt>
                  <c:pt idx="35">
                    <c:v>Dec 2024</c:v>
                  </c:pt>
                  <c:pt idx="36">
                    <c:v>Jan 2025</c:v>
                  </c:pt>
                  <c:pt idx="37">
                    <c:v>Feb 2025</c:v>
                  </c:pt>
                  <c:pt idx="38">
                    <c:v>Mar 2025</c:v>
                  </c:pt>
                  <c:pt idx="39">
                    <c:v>Apr 2025</c:v>
                  </c:pt>
                  <c:pt idx="40">
                    <c:v>May 2025</c:v>
                  </c:pt>
                  <c:pt idx="41">
                    <c:v>Jun 2025</c:v>
                  </c:pt>
                  <c:pt idx="42">
                    <c:v>Jul 2025</c:v>
                  </c:pt>
                  <c:pt idx="43">
                    <c:v>Aug 2025</c:v>
                  </c:pt>
                  <c:pt idx="44">
                    <c:v>Sep 2025</c:v>
                  </c:pt>
                  <c:pt idx="45">
                    <c:v>Oct 2025</c:v>
                  </c:pt>
                  <c:pt idx="46">
                    <c:v>Nov 2025</c:v>
                  </c:pt>
                  <c:pt idx="47">
                    <c:v>Dec 2025</c:v>
                  </c:pt>
                </c:lvl>
              </c:multiLvlStrCache>
            </c:multiLvlStrRef>
          </c:cat>
          <c:val>
            <c:numRef>
              <c:f>Sheet1!$C$2:$C$49</c:f>
              <c:numCache>
                <c:formatCode>General</c:formatCode>
                <c:ptCount val="48"/>
                <c:pt idx="0">
                  <c:v>65</c:v>
                </c:pt>
                <c:pt idx="1">
                  <c:v>65</c:v>
                </c:pt>
                <c:pt idx="2">
                  <c:v>65</c:v>
                </c:pt>
                <c:pt idx="3">
                  <c:v>65</c:v>
                </c:pt>
                <c:pt idx="4">
                  <c:v>65</c:v>
                </c:pt>
                <c:pt idx="5">
                  <c:v>65</c:v>
                </c:pt>
                <c:pt idx="6">
                  <c:v>65</c:v>
                </c:pt>
                <c:pt idx="7">
                  <c:v>65</c:v>
                </c:pt>
                <c:pt idx="8">
                  <c:v>65</c:v>
                </c:pt>
                <c:pt idx="9">
                  <c:v>65</c:v>
                </c:pt>
                <c:pt idx="10">
                  <c:v>65</c:v>
                </c:pt>
                <c:pt idx="11">
                  <c:v>65</c:v>
                </c:pt>
                <c:pt idx="12">
                  <c:v>65</c:v>
                </c:pt>
                <c:pt idx="13">
                  <c:v>65</c:v>
                </c:pt>
                <c:pt idx="14">
                  <c:v>65</c:v>
                </c:pt>
                <c:pt idx="15">
                  <c:v>65</c:v>
                </c:pt>
                <c:pt idx="16">
                  <c:v>65</c:v>
                </c:pt>
                <c:pt idx="17">
                  <c:v>65</c:v>
                </c:pt>
                <c:pt idx="18">
                  <c:v>65</c:v>
                </c:pt>
                <c:pt idx="19">
                  <c:v>65</c:v>
                </c:pt>
                <c:pt idx="20">
                  <c:v>65</c:v>
                </c:pt>
                <c:pt idx="21">
                  <c:v>65</c:v>
                </c:pt>
                <c:pt idx="22">
                  <c:v>65</c:v>
                </c:pt>
                <c:pt idx="23">
                  <c:v>65</c:v>
                </c:pt>
                <c:pt idx="24">
                  <c:v>65</c:v>
                </c:pt>
                <c:pt idx="25">
                  <c:v>65</c:v>
                </c:pt>
                <c:pt idx="26">
                  <c:v>65</c:v>
                </c:pt>
                <c:pt idx="27">
                  <c:v>65</c:v>
                </c:pt>
                <c:pt idx="28">
                  <c:v>65</c:v>
                </c:pt>
                <c:pt idx="29">
                  <c:v>65</c:v>
                </c:pt>
                <c:pt idx="30">
                  <c:v>65</c:v>
                </c:pt>
                <c:pt idx="31">
                  <c:v>65</c:v>
                </c:pt>
                <c:pt idx="32">
                  <c:v>65</c:v>
                </c:pt>
                <c:pt idx="33">
                  <c:v>65</c:v>
                </c:pt>
                <c:pt idx="34">
                  <c:v>65</c:v>
                </c:pt>
                <c:pt idx="35">
                  <c:v>65</c:v>
                </c:pt>
                <c:pt idx="36">
                  <c:v>65</c:v>
                </c:pt>
                <c:pt idx="37">
                  <c:v>65</c:v>
                </c:pt>
                <c:pt idx="38">
                  <c:v>65</c:v>
                </c:pt>
                <c:pt idx="39">
                  <c:v>65</c:v>
                </c:pt>
                <c:pt idx="40">
                  <c:v>65</c:v>
                </c:pt>
                <c:pt idx="41">
                  <c:v>65</c:v>
                </c:pt>
                <c:pt idx="42">
                  <c:v>65</c:v>
                </c:pt>
                <c:pt idx="43">
                  <c:v>65</c:v>
                </c:pt>
                <c:pt idx="44">
                  <c:v>65</c:v>
                </c:pt>
                <c:pt idx="45">
                  <c:v>65</c:v>
                </c:pt>
                <c:pt idx="46">
                  <c:v>65</c:v>
                </c:pt>
                <c:pt idx="47">
                  <c:v>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24D"/>
                </a:solidFill>
                <a:latin typeface="+mn-lt"/>
              </a:defRPr>
            </a:pPr>
            <a:endParaRPr lang="en-US"/>
          </a:p>
        </c:txPr>
        <c:crossAx val="2094734552"/>
        <c:crosses val="autoZero"/>
        <c:auto val="1"/>
        <c:lblAlgn val="ctr"/>
        <c:noMultiLvlLbl val="1"/>
        <c:tickLblSkip val="12"/>
      </c:catAx>
      <c:valAx>
        <c:axId val="2094734552"/>
        <c:scaling>
          <c:orientation val="minMax"/>
          <c:max val="70"/>
          <c:min val="50"/>
        </c:scaling>
        <c:delete val="0"/>
        <c:axPos val="l"/>
        <c:majorGridlines>
          <c:spPr>
            <a:ln w="9525" cap="flat">
              <a:solidFill>
                <a:srgbClr val="E6E9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706B"/>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6"/>
          <c:y val="0.01"/>
          <c:w val="0.66"/>
          <c:h val="0.97"/>
        </c:manualLayout>
      </c:layout>
      <c:barChart>
        <c:barDir val="bar"/>
        <c:grouping val="clustered"/>
        <c:varyColors val="0"/>
        <c:ser>
          <c:idx val="0"/>
          <c:order val="0"/>
          <c:tx>
            <c:strRef>
              <c:f>Sheet1!$B$1</c:f>
              <c:strCache>
                <c:ptCount val="1"/>
                <c:pt idx="0">
                  <c:v>Digital adoption, Dec 2025</c:v>
                </c:pt>
              </c:strCache>
            </c:strRef>
          </c:tx>
          <c:spPr>
            <a:solidFill>
              <a:srgbClr val="E15759"/>
            </a:solidFill>
            <a:effectLst/>
          </c:spPr>
          <c:invertIfNegative val="0"/>
          <c:dLbls>
            <c:numFmt formatCode="0.0&quot;%&quot;" sourceLinked="0"/>
            <c:txPr>
              <a:bodyPr/>
              <a:lstStyle/>
              <a:p>
                <a:pPr>
                  <a:defRPr b="1" i="0" strike="noStrike" sz="1200" u="none">
                    <a:solidFill>
                      <a:srgbClr val="1D2B26"/>
                    </a:solidFill>
                    <a:latin typeface="+mn-lt"/>
                  </a:defRPr>
                </a:pPr>
              </a:p>
            </c:txPr>
            <c:dLblPos val="inBase"/>
            <c:showLegendKey val="0"/>
            <c:showVal val="1"/>
            <c:showCatName val="0"/>
            <c:showSerName val="0"/>
            <c:showPercent val="0"/>
            <c:showBubbleSize val="0"/>
            <c:showLeaderLines val="0"/>
          </c:dLbls>
          <c:dPt>
            <c:idx val="0"/>
            <c:invertIfNegative val="0"/>
            <c:bubble3D val="0"/>
            <c:spPr>
              <a:solidFill>
                <a:srgbClr val="E15759"/>
              </a:solidFill>
              <a:effectLst/>
            </c:spPr>
          </c:dPt>
          <c:dPt>
            <c:idx val="1"/>
            <c:invertIfNegative val="0"/>
            <c:bubble3D val="0"/>
            <c:spPr>
              <a:solidFill>
                <a:srgbClr val="E15759"/>
              </a:solidFill>
              <a:effectLst/>
            </c:spPr>
          </c:dPt>
          <c:dPt>
            <c:idx val="2"/>
            <c:invertIfNegative val="0"/>
            <c:bubble3D val="0"/>
            <c:spPr>
              <a:solidFill>
                <a:srgbClr val="E15759"/>
              </a:solidFill>
              <a:effectLst/>
            </c:spPr>
          </c:dPt>
          <c:dPt>
            <c:idx val="3"/>
            <c:invertIfNegative val="0"/>
            <c:bubble3D val="0"/>
            <c:spPr>
              <a:solidFill>
                <a:srgbClr val="E15759"/>
              </a:solidFill>
              <a:effectLst/>
            </c:spPr>
          </c:dPt>
          <c:dPt>
            <c:idx val="4"/>
            <c:invertIfNegative val="0"/>
            <c:bubble3D val="0"/>
            <c:spPr>
              <a:solidFill>
                <a:srgbClr val="E15759"/>
              </a:solidFill>
              <a:effectLst/>
            </c:spPr>
          </c:dPt>
          <c:dPt>
            <c:idx val="5"/>
            <c:invertIfNegative val="0"/>
            <c:bubble3D val="0"/>
            <c:spPr>
              <a:solidFill>
                <a:srgbClr val="E15759"/>
              </a:solidFill>
              <a:effectLst/>
            </c:spPr>
          </c:dPt>
          <c:dPt>
            <c:idx val="6"/>
            <c:invertIfNegative val="0"/>
            <c:bubble3D val="0"/>
            <c:spPr>
              <a:solidFill>
                <a:srgbClr val="E15759"/>
              </a:solidFill>
              <a:effectLst/>
            </c:spPr>
          </c:dPt>
          <c:dPt>
            <c:idx val="7"/>
            <c:invertIfNegative val="0"/>
            <c:bubble3D val="0"/>
            <c:spPr>
              <a:solidFill>
                <a:srgbClr val="E15759"/>
              </a:solidFill>
              <a:effectLst/>
            </c:spPr>
          </c:dPt>
          <c:dPt>
            <c:idx val="8"/>
            <c:invertIfNegative val="0"/>
            <c:bubble3D val="0"/>
            <c:spPr>
              <a:solidFill>
                <a:srgbClr val="BAB0AC"/>
              </a:solidFill>
              <a:effectLst/>
            </c:spPr>
          </c:dPt>
          <c:dPt>
            <c:idx val="9"/>
            <c:invertIfNegative val="0"/>
            <c:bubble3D val="0"/>
            <c:spPr>
              <a:solidFill>
                <a:srgbClr val="BAB0AC"/>
              </a:solidFill>
              <a:effectLst/>
            </c:spPr>
          </c:dPt>
          <c:dPt>
            <c:idx val="10"/>
            <c:invertIfNegative val="0"/>
            <c:bubble3D val="0"/>
            <c:spPr>
              <a:solidFill>
                <a:srgbClr val="BAB0AC"/>
              </a:solidFill>
              <a:effectLst/>
            </c:spPr>
          </c:dPt>
          <c:dPt>
            <c:idx val="11"/>
            <c:invertIfNegative val="0"/>
            <c:bubble3D val="0"/>
            <c:spPr>
              <a:solidFill>
                <a:srgbClr val="BAB0AC"/>
              </a:solidFill>
              <a:effectLst/>
            </c:spPr>
          </c:dPt>
          <c:dPt>
            <c:idx val="12"/>
            <c:invertIfNegative val="0"/>
            <c:bubble3D val="0"/>
            <c:spPr>
              <a:solidFill>
                <a:srgbClr val="BAB0AC"/>
              </a:solidFill>
              <a:effectLst/>
            </c:spPr>
          </c:dPt>
          <c:cat>
            <c:multiLvlStrRef>
              <c:f>Sheet1!$A$2:$A$14</c:f>
              <c:multiLvlStrCache>
                <c:ptCount val="13"/>
                <c:lvl>
                  <c:pt idx="0">
                    <c:v>Najran</c:v>
                  </c:pt>
                  <c:pt idx="1">
                    <c:v>Northern Borders</c:v>
                  </c:pt>
                  <c:pt idx="2">
                    <c:v>Al-Baha</c:v>
                  </c:pt>
                  <c:pt idx="3">
                    <c:v>Jazan</c:v>
                  </c:pt>
                  <c:pt idx="4">
                    <c:v>Asir</c:v>
                  </c:pt>
                  <c:pt idx="5">
                    <c:v>Tabuk</c:v>
                  </c:pt>
                  <c:pt idx="6">
                    <c:v>Hail</c:v>
                  </c:pt>
                  <c:pt idx="7">
                    <c:v>Al-Jouf</c:v>
                  </c:pt>
                  <c:pt idx="8">
                    <c:v>Qassim</c:v>
                  </c:pt>
                  <c:pt idx="9">
                    <c:v>Madinah</c:v>
                  </c:pt>
                  <c:pt idx="10">
                    <c:v>Eastern Province</c:v>
                  </c:pt>
                  <c:pt idx="11">
                    <c:v>Makkah</c:v>
                  </c:pt>
                  <c:pt idx="12">
                    <c:v>Riyadh</c:v>
                  </c:pt>
                </c:lvl>
              </c:multiLvlStrCache>
            </c:multiLvlStrRef>
          </c:cat>
          <c:val>
            <c:numRef>
              <c:f>Sheet1!$B$2:$B$14</c:f>
              <c:numCache>
                <c:formatCode>General</c:formatCode>
                <c:ptCount val="13"/>
                <c:pt idx="0">
                  <c:v>60.86</c:v>
                </c:pt>
                <c:pt idx="1">
                  <c:v>62.7</c:v>
                </c:pt>
                <c:pt idx="2">
                  <c:v>62.78</c:v>
                </c:pt>
                <c:pt idx="3">
                  <c:v>63.03</c:v>
                </c:pt>
                <c:pt idx="4">
                  <c:v>64.36</c:v>
                </c:pt>
                <c:pt idx="5">
                  <c:v>64.48</c:v>
                </c:pt>
                <c:pt idx="6">
                  <c:v>64.74</c:v>
                </c:pt>
                <c:pt idx="7">
                  <c:v>64.82</c:v>
                </c:pt>
                <c:pt idx="8">
                  <c:v>66.11</c:v>
                </c:pt>
                <c:pt idx="9">
                  <c:v>68.23</c:v>
                </c:pt>
                <c:pt idx="10">
                  <c:v>68.7</c:v>
                </c:pt>
                <c:pt idx="11">
                  <c:v>70.7</c:v>
                </c:pt>
                <c:pt idx="12">
                  <c:v>70.75</c:v>
                </c:pt>
              </c:numCache>
            </c:numRef>
          </c:val>
        </c:ser>
        <c:dLbls>
          <c:numFmt formatCode="0.0&quot;%&quot;" sourceLinked="0"/>
          <c:txPr>
            <a:bodyPr/>
            <a:lstStyle/>
            <a:p>
              <a:pPr>
                <a:defRPr b="1" i="0" strike="noStrike" sz="1200" u="none">
                  <a:solidFill>
                    <a:srgbClr val="1D2B26"/>
                  </a:solidFill>
                  <a:latin typeface="+mn-lt"/>
                </a:defRPr>
              </a:pPr>
            </a:p>
          </c:txPr>
          <c:dLblPos val="inBase"/>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6524D"/>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70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7"/>
          <c:y val="0.02"/>
          <c:w val="0.63"/>
          <c:h val="0.96"/>
        </c:manualLayout>
      </c:layout>
      <c:barChart>
        <c:barDir val="bar"/>
        <c:grouping val="clustered"/>
        <c:varyColors val="0"/>
        <c:ser>
          <c:idx val="0"/>
          <c:order val="0"/>
          <c:tx>
            <c:strRef>
              <c:f>Sheet1!$B$1</c:f>
              <c:strCache>
                <c:ptCount val="1"/>
                <c:pt idx="0">
                  <c:v>Share of the remaining gap</c:v>
                </c:pt>
              </c:strCache>
            </c:strRef>
          </c:tx>
          <c:spPr>
            <a:solidFill>
              <a:srgbClr val="E15759"/>
            </a:solidFill>
            <a:effectLst/>
          </c:spPr>
          <c:invertIfNegative val="0"/>
          <c:dLbls>
            <c:numFmt formatCode="0&quot;%&quot;" sourceLinked="0"/>
            <c:txPr>
              <a:bodyPr/>
              <a:lstStyle/>
              <a:p>
                <a:pPr>
                  <a:defRPr b="1" i="0" strike="noStrike" sz="1200" u="none">
                    <a:solidFill>
                      <a:srgbClr val="1D2B26"/>
                    </a:solidFill>
                    <a:latin typeface="+mn-lt"/>
                  </a:defRPr>
                </a:pPr>
              </a:p>
            </c:txPr>
            <c:showLegendKey val="0"/>
            <c:showVal val="1"/>
            <c:showCatName val="0"/>
            <c:showSerName val="0"/>
            <c:showPercent val="0"/>
            <c:showBubbleSize val="0"/>
            <c:showLeaderLines val="0"/>
          </c:dLbls>
          <c:dPt>
            <c:idx val="0"/>
            <c:invertIfNegative val="0"/>
            <c:bubble3D val="0"/>
            <c:spPr>
              <a:solidFill>
                <a:srgbClr val="E15759"/>
              </a:solidFill>
              <a:effectLst/>
            </c:spPr>
          </c:dPt>
          <c:dPt>
            <c:idx val="1"/>
            <c:invertIfNegative val="0"/>
            <c:bubble3D val="0"/>
            <c:spPr>
              <a:solidFill>
                <a:srgbClr val="E15759"/>
              </a:solidFill>
              <a:effectLst/>
            </c:spPr>
          </c:dPt>
          <c:dPt>
            <c:idx val="2"/>
            <c:invertIfNegative val="0"/>
            <c:bubble3D val="0"/>
            <c:spPr>
              <a:solidFill>
                <a:srgbClr val="E15759"/>
              </a:solidFill>
              <a:effectLst/>
            </c:spPr>
          </c:dPt>
          <c:dPt>
            <c:idx val="3"/>
            <c:invertIfNegative val="0"/>
            <c:bubble3D val="0"/>
            <c:spPr>
              <a:solidFill>
                <a:srgbClr val="E15759"/>
              </a:solidFill>
              <a:effectLst/>
            </c:spPr>
          </c:dPt>
          <c:dPt>
            <c:idx val="4"/>
            <c:invertIfNegative val="0"/>
            <c:bubble3D val="0"/>
            <c:spPr>
              <a:solidFill>
                <a:srgbClr val="BAB0AC"/>
              </a:solidFill>
              <a:effectLst/>
            </c:spPr>
          </c:dPt>
          <c:dPt>
            <c:idx val="5"/>
            <c:invertIfNegative val="0"/>
            <c:bubble3D val="0"/>
            <c:spPr>
              <a:solidFill>
                <a:srgbClr val="BAB0AC"/>
              </a:solidFill>
              <a:effectLst/>
            </c:spPr>
          </c:dPt>
          <c:dPt>
            <c:idx val="6"/>
            <c:invertIfNegative val="0"/>
            <c:bubble3D val="0"/>
            <c:spPr>
              <a:solidFill>
                <a:srgbClr val="BAB0AC"/>
              </a:solidFill>
              <a:effectLst/>
            </c:spPr>
          </c:dPt>
          <c:dPt>
            <c:idx val="7"/>
            <c:invertIfNegative val="0"/>
            <c:bubble3D val="0"/>
            <c:spPr>
              <a:solidFill>
                <a:srgbClr val="BAB0AC"/>
              </a:solidFill>
              <a:effectLst/>
            </c:spPr>
          </c:dPt>
          <c:cat>
            <c:multiLvlStrRef>
              <c:f>Sheet1!$A$2:$A$9</c:f>
              <c:multiLvlStrCache>
                <c:ptCount val="8"/>
                <c:lvl>
                  <c:pt idx="0">
                    <c:v>Najran</c:v>
                  </c:pt>
                  <c:pt idx="1">
                    <c:v>Northern Borders</c:v>
                  </c:pt>
                  <c:pt idx="2">
                    <c:v>Al-Baha</c:v>
                  </c:pt>
                  <c:pt idx="3">
                    <c:v>Jazan</c:v>
                  </c:pt>
                  <c:pt idx="4">
                    <c:v>Asir</c:v>
                  </c:pt>
                  <c:pt idx="5">
                    <c:v>Tabuk</c:v>
                  </c:pt>
                  <c:pt idx="6">
                    <c:v>Hail</c:v>
                  </c:pt>
                  <c:pt idx="7">
                    <c:v>Al-Jouf</c:v>
                  </c:pt>
                </c:lvl>
              </c:multiLvlStrCache>
            </c:multiLvlStrRef>
          </c:cat>
          <c:val>
            <c:numRef>
              <c:f>Sheet1!$B$2:$B$9</c:f>
              <c:numCache>
                <c:formatCode>General</c:formatCode>
                <c:ptCount val="8"/>
                <c:pt idx="0">
                  <c:v>31.1</c:v>
                </c:pt>
                <c:pt idx="1">
                  <c:v>19.6</c:v>
                </c:pt>
                <c:pt idx="2">
                  <c:v>16.9</c:v>
                </c:pt>
                <c:pt idx="3">
                  <c:v>16.4</c:v>
                </c:pt>
                <c:pt idx="4">
                  <c:v>6.9</c:v>
                </c:pt>
                <c:pt idx="5">
                  <c:v>4.9</c:v>
                </c:pt>
                <c:pt idx="6">
                  <c:v>2.5</c:v>
                </c:pt>
                <c:pt idx="7">
                  <c:v>1.7</c:v>
                </c:pt>
              </c:numCache>
            </c:numRef>
          </c:val>
        </c:ser>
        <c:dLbls>
          <c:numFmt formatCode="0&quot;%&quot;" sourceLinked="0"/>
          <c:txPr>
            <a:bodyPr/>
            <a:lstStyle/>
            <a:p>
              <a:pPr>
                <a:defRPr b="1" i="0" strike="noStrike" sz="1200" u="none">
                  <a:solidFill>
                    <a:srgbClr val="1D2B26"/>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6524D"/>
                </a:solidFill>
                <a:latin typeface="+mn-lt"/>
              </a:defRPr>
            </a:pPr>
            <a:endParaRPr lang="en-US"/>
          </a:p>
        </c:txPr>
        <c:crossAx val="2094734552"/>
        <c:crosses val="autoZero"/>
        <c:auto val="1"/>
        <c:lblAlgn val="ctr"/>
        <c:noMultiLvlLbl val="1"/>
      </c:catAx>
      <c:valAx>
        <c:axId val="2094734552"/>
        <c:scaling>
          <c:orientation val="minMax"/>
          <c:max val="3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70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
          <c:y val="0.02"/>
          <c:w val="0.66"/>
          <c:h val="0.96"/>
        </c:manualLayout>
      </c:layout>
      <c:barChart>
        <c:barDir val="bar"/>
        <c:grouping val="clustered"/>
        <c:varyColors val="0"/>
        <c:ser>
          <c:idx val="0"/>
          <c:order val="0"/>
          <c:tx>
            <c:strRef>
              <c:f>Sheet1!$B$1</c:f>
              <c:strCache>
                <c:ptCount val="1"/>
                <c:pt idx="0">
                  <c:v>Allocation (SAR M)</c:v>
                </c:pt>
              </c:strCache>
            </c:strRef>
          </c:tx>
          <c:spPr>
            <a:solidFill>
              <a:srgbClr val="E15759"/>
            </a:solidFill>
            <a:effectLst/>
          </c:spPr>
          <c:invertIfNegative val="0"/>
          <c:dLbls>
            <c:numFmt formatCode="&quot;SAR &quot;0.0&quot;M&quot;" sourceLinked="0"/>
            <c:txPr>
              <a:bodyPr/>
              <a:lstStyle/>
              <a:p>
                <a:pPr>
                  <a:defRPr b="1" i="0" strike="noStrike" sz="1200" u="none">
                    <a:solidFill>
                      <a:srgbClr val="1D2B26"/>
                    </a:solidFill>
                    <a:latin typeface="+mn-lt"/>
                  </a:defRPr>
                </a:pPr>
              </a:p>
            </c:txPr>
            <c:showLegendKey val="0"/>
            <c:showVal val="1"/>
            <c:showCatName val="0"/>
            <c:showSerName val="0"/>
            <c:showPercent val="0"/>
            <c:showBubbleSize val="0"/>
            <c:showLeaderLines val="0"/>
          </c:dLbls>
          <c:dPt>
            <c:idx val="0"/>
            <c:invertIfNegative val="0"/>
            <c:bubble3D val="0"/>
            <c:spPr>
              <a:solidFill>
                <a:srgbClr val="E15759"/>
              </a:solidFill>
              <a:effectLst/>
            </c:spPr>
          </c:dPt>
          <c:dPt>
            <c:idx val="1"/>
            <c:invertIfNegative val="0"/>
            <c:bubble3D val="0"/>
            <c:spPr>
              <a:solidFill>
                <a:srgbClr val="E15759"/>
              </a:solidFill>
              <a:effectLst/>
            </c:spPr>
          </c:dPt>
          <c:dPt>
            <c:idx val="2"/>
            <c:invertIfNegative val="0"/>
            <c:bubble3D val="0"/>
            <c:spPr>
              <a:solidFill>
                <a:srgbClr val="E15759"/>
              </a:solidFill>
              <a:effectLst/>
            </c:spPr>
          </c:dPt>
          <c:dPt>
            <c:idx val="3"/>
            <c:invertIfNegative val="0"/>
            <c:bubble3D val="0"/>
            <c:spPr>
              <a:solidFill>
                <a:srgbClr val="E15759"/>
              </a:solidFill>
              <a:effectLst/>
            </c:spPr>
          </c:dPt>
          <c:dPt>
            <c:idx val="4"/>
            <c:invertIfNegative val="0"/>
            <c:bubble3D val="0"/>
            <c:spPr>
              <a:solidFill>
                <a:srgbClr val="BAB0AC"/>
              </a:solidFill>
              <a:effectLst/>
            </c:spPr>
          </c:dPt>
          <c:cat>
            <c:multiLvlStrRef>
              <c:f>Sheet1!$A$2:$A$6</c:f>
              <c:multiLvlStrCache>
                <c:ptCount val="5"/>
                <c:lvl>
                  <c:pt idx="0">
                    <c:v>Najran</c:v>
                  </c:pt>
                  <c:pt idx="1">
                    <c:v>Northern Borders</c:v>
                  </c:pt>
                  <c:pt idx="2">
                    <c:v>Al-Baha</c:v>
                  </c:pt>
                  <c:pt idx="3">
                    <c:v>Jazan</c:v>
                  </c:pt>
                  <c:pt idx="4">
                    <c:v>Reserve</c:v>
                  </c:pt>
                </c:lvl>
              </c:multiLvlStrCache>
            </c:multiLvlStrRef>
          </c:cat>
          <c:val>
            <c:numRef>
              <c:f>Sheet1!$B$2:$B$6</c:f>
              <c:numCache>
                <c:formatCode>General</c:formatCode>
                <c:ptCount val="5"/>
                <c:pt idx="0">
                  <c:v>13.5</c:v>
                </c:pt>
                <c:pt idx="1">
                  <c:v>8.5</c:v>
                </c:pt>
                <c:pt idx="2">
                  <c:v>7</c:v>
                </c:pt>
                <c:pt idx="3">
                  <c:v>7</c:v>
                </c:pt>
                <c:pt idx="4">
                  <c:v>4</c:v>
                </c:pt>
              </c:numCache>
            </c:numRef>
          </c:val>
        </c:ser>
        <c:dLbls>
          <c:numFmt formatCode="&quot;SAR &quot;0.0&quot;M&quot;" sourceLinked="0"/>
          <c:txPr>
            <a:bodyPr/>
            <a:lstStyle/>
            <a:p>
              <a:pPr>
                <a:defRPr b="1" i="0" strike="noStrike" sz="1200" u="none">
                  <a:solidFill>
                    <a:srgbClr val="1D2B2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6524D"/>
                </a:solidFill>
                <a:latin typeface="+mn-lt"/>
              </a:defRPr>
            </a:pPr>
            <a:endParaRPr lang="en-US"/>
          </a:p>
        </c:txPr>
        <c:crossAx val="2094734552"/>
        <c:crosses val="autoZero"/>
        <c:auto val="1"/>
        <c:lblAlgn val="ctr"/>
        <c:noMultiLvlLbl val="1"/>
      </c:catAx>
      <c:valAx>
        <c:axId val="2094734552"/>
        <c:scaling>
          <c:orientation val="minMax"/>
          <c:max val="1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70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Naif Alnasser. TIME: 0:00-0:30.
Open with the decision, not the data. Say: "We are asking you to approve SAR 36 million for four regions - Najran, Northern Borders, Al-Baha and Jazan, the red regions on this map - split by the size of each region's gap, plus a 4 million reserve that we release at a six-month checkpoint. Nationally Tayseer is already at 66.2%, above the 65% target. But 8 of 13 regions are still below it, and these four hold 84% of the remaining gap. That is where the money should go."
Then hand over to the Situation slide.
BIG IDEA: Tayseer has passed 65% nationally, but 8 regions holding half its users are still below target; concentrating the SAR 40M on the four furthest behind closes 84% of the remaining gap and is the fastest route to every region reaching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Naif Alnasser. TIME: 0:30-1:15.
Orient first: "This line is national digital adoption every month since January 2022; the dashed red line is the 65% target."
Point: "Adoption has gone up every year, from a 55.4% annual average in 2022 to 64.8% in 2025. It crossed 65% in August 2025 and reached 66.2% in December, up 2.9 points in a year. So nationally, yes, Tayseer is on track."
Bridge: "But a national average can hide who is being left behind."
TABLEAU: KPI sheet (66.2%, Dec 2025). If asked how it is calculated: SUM(digital adoption pct / 100 x unique users) / SUM(unique users) x 100, i.e. weighted by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Naif Alnasser. TIME: 1:15-2:00.
Orient: "Each bar is one region's digital adoption in December 2025, sorted lowest to highest; the dashed line is 65%. Red is below target. The map shows the same colours on the Kingdom."
Point: "Eight of thirteen regions are below 65% - Najran, Northern Borders, Al-Baha, Jazan, Asir, Tabuk, Hail and Al-Jouf. Together they hold 52% of Tayseer users, and they sit in the south-west and the north. The national number looks healthy because Riyadh, Makkah, Eastern Province, Madinah and Qassim are all above 66%."
So what: "The national target is met, but half of our users live in regions that have not reached it. The question is which of these eight to fund."
TABLEAU: Regional Adoption sheet (Month = Dec 2025, Region = All, 65% reference line, Target Status colour). Live demo option: use the Region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Naif Alnasser. TIME: 2:00-4:00.
Orient: "This chart takes the eight below-target regions. Each bar is that region's share of the remaining gap - the number of users who would need to move to digital for the region to reach 65%."
Point 1: "Four regions - Najran, Northern Borders, Al-Baha and Jazan - hold 84% of the gap. Najran alone is 31%: it is at 60.9%, 4.1 points short, and at its current pace of +2.5 points a year it needs about 19 months. Of the four, Northern Borders is improving slowest: +2.4 points a year, so without help it stays behind the longest after Najran."
Point 2: "The other four - Asir, Tabuk, Hail and Al-Jouf - are each within 0.7 points and, on current momentum, cross 65% within about three months. They are only 16% of the gap."
So what: "Money spent on the near-miss four buys little that would not happen anyway. The priority is the first four."
DETAIL (for Q&amp;A): Najran 60.9%, gap 4.1 pts, 31% of gap, +2.5 pts/yr, ~19 months to 65%; Northern Borders 62.7%, gap 2.3 pts, 20% of gap, +2.4 pts/yr, ~11 months to 65%; Al-Baha 62.8%, gap 2.2 pts, 17% of gap, +3.7 pts/yr, ~7 months to 65%; Jazan 63.0%, gap 2.0 pts, 16% of gap, +2.9 pts/yr, ~8 months to 65%; Asir 64.4%, gap 0.6 pts, 7% of gap, +2.2 pts/yr, ~3 months to 65%; Tabuk 64.5%, gap 0.5 pts, 5% of gap, +3.4 pts/yr, ~2 months to 65%; Hail 64.7%, gap 0.3 pts, 2% of gap, +3.2 pts/yr, ~1 months to 65%; Al-Jouf 64.8%, gap 0.2 pts, 2% of gap, +3.9 pts/yr, ~1 months to 65%.
IF CHALLENGED ON NORTHERN BORDERS: it is the slowest of the four priority regions on the Dec 2024 to Dec 2025 change; across all 13 regions Eastern Province (+2.2) and Asir (+2.2) grew slower, but both are either above target or within 0.7 pts of it.
CAVEATS if asked: the data is the course's synthetic Tayseer dataset; 'current pace' assumes last year's change continues in a straight line.
TABLEAU: Regional Adoption sheet; switch the Month filter between Dec 2024 and Dec 2025 to show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[Partner name]. TIME: 4:00-5:15.
Orient: "We compared three realistic uses of the SAR 40M on one test - the middle row: how much of the money reaches the four regions that hold 84% of the gap."
Option A: "Splitting evenly - 5 million to each of the eight regions - is simple and fair, but half the money goes to Asir, Tabuk, Hail and Al-Jouf, which are already within 0.7 points of target."
Option C: "A single national campaign lifts everyone, but because spending follows users, only about 23% reaches the priority four and 48% lands in regions already above 65%."
Option B: "Targeting the gap puts 36 million - 90% - into the four regions that need it, and keeps 4 million in reserve in case a near-miss region stalls."
So what: "Only Option B matches the evidence on the previous slide."
If asked why not 100% to the four: the reserve is insurance for the near-miss regions, whose crossing of 65% is a projection, not yet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[Partner name]. TIME: 5:15-6:15.
"We recommend Option B." Orient on the chart: "This is how the 40 million is split: Najran 13.5, Northern Borders 8.5, Al-Baha 7, Jazan 7, and a 4 million reserve. Each amount follows the region's share of the gap, so the rule is transparent and repeatable."
Three reasons: (1) 90% of the money reaches 84% of the gap. (2) Najran is the slowest case - about 19 months to 65% on its own. (3) We know what to fund: in these regions branches and call centres still handle about 34% of transactions. In 2025 an assisted transaction cost SAR 24.08 (branch) or 23.09 (call centre) versus 15.01 on the app, and satisfaction is lower (CSAT 3.80 branch vs 4.08 app). Complaints is the weakest service in the below-target regions at 58.8% digital.
Expected effect: all 13 regions at or above 65% within 12 months.
Be honest if challenged: the dataset does not tell us how many points each riyal buys; the 12-month goal is a target we test at the month-6 checkpoint, not a forecast.
Exact gap-weighted amounts before rounding: Najran 13.32M, Northern Borders 8.40M, Al-Baha 7.26M, Jazan 7.03M.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[Partner name]. TIME: 6:15-7:00. Restate the Ask exactly as on slide 1.
"Our ask today: approve SAR 36 million for Najran, Northern Borders, Al-Baha and Jazan, split by their share of the gap, and hold 4 million in reserve. At month 6 we check two things on the Tableau dashboard: has each funded region closed at least half its gap - for Najran that means at least 62.9% - and has every near-miss region crossed 65%? Any that has not receives the reserve. Our target is every region at or above 65% within 12 months."
Close with the Big Idea: "Tayseer has passed 65% nationally. Reaching it in every region is now a targeting decision, and the evidence points to four regions." Then invite questions.
Month-6 half-gap thresholds: Najran 62.9%, Northern Borders 63.9%, Al-Baha 63.9%, Jazan 64.0%.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1094415" cy="292608"/>
          </a:xfrm>
          <a:prstGeom prst="rect">
            <a:avLst/>
          </a:prstGeom>
          <a:noFill/>
          <a:ln/>
        </p:spPr>
        <p:txBody>
          <a:bodyPr wrap="square" rtlCol="0"/>
          <a:lstStyle>
            <a:lvl1pPr indent="0" marL="0">
              <a:buNone/>
              <a:defRPr lang="en-US" sz="1300" dirty="0">
                <a:solidFill>
                  <a:schemeClr val="accent4"/>
                </a:solidFill>
              </a:defRPr>
            </a:lvl1pPr>
          </a:lstStyle>
          <a:p>
            <a:pPr indent="0" marL="0">
              <a:buNone/>
            </a:pPr>
            <a:endParaRPr lang="en-US" sz="1300" dirty="0"/>
          </a:p>
        </p:txBody>
      </p:sp>
      <p:sp>
        <p:nvSpPr>
          <p:cNvPr id="3" name="Text 0"/>
          <p:cNvSpPr/>
          <p:nvPr>
            <p:ph idx="101" type="title" hasCustomPrompt="1"/>
          </p:nvPr>
        </p:nvSpPr>
        <p:spPr>
          <a:xfrm>
            <a:off x="548640" y="960120"/>
            <a:ext cx="6675120" cy="16002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355080"/>
            <a:ext cx="9144000" cy="274320"/>
          </a:xfrm>
          <a:prstGeom prst="rect">
            <a:avLst/>
          </a:prstGeom>
          <a:noFill/>
          <a:ln/>
        </p:spPr>
        <p:txBody>
          <a:bodyPr wrap="square" lIns="0" tIns="0" rIns="0" bIns="0" rtlCol="0" anchor="ctr"/>
          <a:lstStyle/>
          <a:p>
            <a:pPr indent="0" marL="0">
              <a:buNone/>
            </a:pPr>
            <a:r>
              <a:rPr lang="en-US" sz="1100" dirty="0">
                <a:solidFill>
                  <a:srgbClr val="D6E0DA"/>
                </a:solidFill>
              </a:rPr>
              <a:t>SDAIA Academy · SDA-DSC-112 Capstone · Naif Alnasser &amp; [Partner name]</a:t>
            </a:r>
            <a:endParaRPr lang="en-US" sz="11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6E0D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1094415" cy="292608"/>
          </a:xfrm>
          <a:prstGeom prst="rect">
            <a:avLst/>
          </a:prstGeom>
          <a:noFill/>
          <a:ln/>
        </p:spPr>
        <p:txBody>
          <a:bodyPr wrap="square" rtlCol="0"/>
          <a:lstStyle>
            <a:lvl1pPr indent="0" marL="0">
              <a:buNone/>
              <a:defRPr lang="en-US" sz="1300" dirty="0">
                <a:solidFill>
                  <a:schemeClr val="accent4"/>
                </a:solidFill>
              </a:defRPr>
            </a:lvl1pPr>
          </a:lstStyle>
          <a:p>
            <a:pPr indent="0" marL="0">
              <a:buNone/>
            </a:pPr>
            <a:endParaRPr lang="en-US" sz="1300" dirty="0"/>
          </a:p>
        </p:txBody>
      </p:sp>
      <p:sp>
        <p:nvSpPr>
          <p:cNvPr id="3" name="Text 0"/>
          <p:cNvSpPr/>
          <p:nvPr>
            <p:ph idx="101" type="title" hasCustomPrompt="1"/>
          </p:nvPr>
        </p:nvSpPr>
        <p:spPr>
          <a:xfrm>
            <a:off x="548640" y="960120"/>
            <a:ext cx="11094415" cy="11887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355080"/>
            <a:ext cx="9144000" cy="274320"/>
          </a:xfrm>
          <a:prstGeom prst="rect">
            <a:avLst/>
          </a:prstGeom>
          <a:noFill/>
          <a:ln/>
        </p:spPr>
        <p:txBody>
          <a:bodyPr wrap="square" lIns="0" tIns="0" rIns="0" bIns="0" rtlCol="0" anchor="ctr"/>
          <a:lstStyle/>
          <a:p>
            <a:pPr indent="0" marL="0">
              <a:buNone/>
            </a:pPr>
            <a:r>
              <a:rPr lang="en-US" sz="1100" dirty="0">
                <a:solidFill>
                  <a:srgbClr val="D6E0DA"/>
                </a:solidFill>
              </a:rPr>
              <a:t>SDAIA Academy · SDA-DSC-112 Capstone · Naif Alnasser &amp; [Partner name]</a:t>
            </a:r>
            <a:endParaRPr lang="en-US" sz="11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6E0D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3" name="Text 0"/>
          <p:cNvSpPr/>
          <p:nvPr>
            <p:ph idx="101" type="title" hasCustomPrompt="1"/>
          </p:nvPr>
        </p:nvSpPr>
        <p:spPr>
          <a:xfrm>
            <a:off x="548640" y="749808"/>
            <a:ext cx="11094415" cy="9601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548640" y="6355080"/>
            <a:ext cx="10332720" cy="274320"/>
          </a:xfrm>
          <a:prstGeom prst="rect">
            <a:avLst/>
          </a:prstGeom>
          <a:noFill/>
          <a:ln/>
        </p:spPr>
        <p:txBody>
          <a:bodyPr wrap="square" rtlCol="0"/>
          <a:lstStyle>
            <a:lvl1pPr indent="0" marL="0">
              <a:buNone/>
              <a:defRPr lang="en-US" sz="1100" dirty="0">
                <a:solidFill>
                  <a:schemeClr val="accent6"/>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6E0D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public.tableau.com/app/profile/naif.alnasser/viz/TayseerDigitalAdoption/TayseerDigitalAdoption" TargetMode="Externa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1094415" cy="292608"/>
          </a:xfrm>
          <a:prstGeom prst="rect">
            <a:avLst/>
          </a:prstGeom>
          <a:noFill/>
          <a:ln/>
        </p:spPr>
        <p:txBody>
          <a:bodyPr wrap="square" lIns="0" tIns="0" rIns="0" bIns="0" rtlCol="0" anchor="t"/>
          <a:lstStyle/>
          <a:p>
            <a:pPr indent="0" marL="0">
              <a:buNone/>
            </a:pPr>
            <a:r>
              <a:rPr lang="en-US" sz="1300" b="1" dirty="0">
                <a:solidFill>
                  <a:schemeClr val="accent4"/>
                </a:solidFill>
              </a:rPr>
              <a:t>SDAIA Academy · Data Visualization &amp; Storytelling capstone</a:t>
            </a:r>
            <a:endParaRPr lang="en-US" sz="1300" dirty="0"/>
          </a:p>
        </p:txBody>
      </p:sp>
      <p:sp>
        <p:nvSpPr>
          <p:cNvPr id="3" name="Text 0"/>
          <p:cNvSpPr/>
          <p:nvPr>
            <p:ph idx="101" type="title" hasCustomPrompt="1"/>
          </p:nvPr>
        </p:nvSpPr>
        <p:spPr>
          <a:xfrm>
            <a:off x="548640" y="960120"/>
            <a:ext cx="6675120" cy="1600200"/>
          </a:xfrm>
          <a:prstGeom prst="rect">
            <a:avLst/>
          </a:prstGeom>
          <a:noFill/>
          <a:ln/>
        </p:spPr>
        <p:txBody>
          <a:bodyPr wrap="square" lIns="0" tIns="0" rIns="0" bIns="0" rtlCol="0" anchor="t"/>
          <a:lstStyle/>
          <a:p>
            <a:pPr algn="l" indent="0" marL="0">
              <a:buNone/>
            </a:pPr>
            <a:r>
              <a:rPr lang="en-US" sz="3200" b="1" dirty="0">
                <a:solidFill>
                  <a:schemeClr val="bg1"/>
                </a:solidFill>
              </a:rPr>
              <a:t>Direct the SAR 40M to the four regions that hold 84% of the remaining adoption gap</a:t>
            </a:r>
            <a:endParaRPr lang="en-US" sz="3200" dirty="0"/>
          </a:p>
        </p:txBody>
      </p:sp>
      <p:sp>
        <p:nvSpPr>
          <p:cNvPr id="4" name="Ask"/>
          <p:cNvSpPr txBox="1"/>
          <p:nvPr/>
        </p:nvSpPr>
        <p:spPr>
          <a:xfrm>
            <a:off x="548640" y="2743200"/>
            <a:ext cx="6492240" cy="960120"/>
          </a:xfrm>
          <a:prstGeom prst="rect">
            <a:avLst/>
          </a:prstGeom>
          <a:noFill/>
          <a:ln/>
        </p:spPr>
        <p:txBody>
          <a:bodyPr wrap="square" lIns="0" tIns="0" rIns="0" bIns="0" rtlCol="0" anchor="t"/>
          <a:lstStyle/>
          <a:p>
            <a:pPr indent="0" marL="0">
              <a:buNone/>
            </a:pPr>
            <a:r>
              <a:rPr lang="en-US" sz="1700" b="1" dirty="0">
                <a:solidFill>
                  <a:schemeClr val="accent4"/>
                </a:solidFill>
              </a:rPr>
              <a:t>Our ask: </a:t>
            </a:r>
            <a:pPr indent="0" marL="0">
              <a:buNone/>
            </a:pPr>
            <a:r>
              <a:rPr lang="en-US" sz="1700" dirty="0">
                <a:solidFill>
                  <a:schemeClr val="bg1"/>
                </a:solidFill>
              </a:rPr>
              <a:t>approve SAR 36M for Najran, Northern Borders, Al-Baha and Jazan, split by each region’s gap, and hold SAR 4M in reserve until a 6-month checkpoint.</a:t>
            </a:r>
            <a:endParaRPr lang="en-US" sz="1700" dirty="0"/>
          </a:p>
        </p:txBody>
      </p:sp>
      <p:sp>
        <p:nvSpPr>
          <p:cNvPr id="5" name="Stat 1 number"/>
          <p:cNvSpPr txBox="1"/>
          <p:nvPr/>
        </p:nvSpPr>
        <p:spPr>
          <a:xfrm>
            <a:off x="548640" y="4160520"/>
            <a:ext cx="2057400" cy="685800"/>
          </a:xfrm>
          <a:prstGeom prst="rect">
            <a:avLst/>
          </a:prstGeom>
          <a:noFill/>
          <a:ln/>
        </p:spPr>
        <p:txBody>
          <a:bodyPr wrap="square" lIns="0" tIns="0" rIns="0" bIns="0" rtlCol="0" anchor="b"/>
          <a:lstStyle/>
          <a:p>
            <a:pPr indent="0" marL="0">
              <a:buNone/>
            </a:pPr>
            <a:r>
              <a:rPr lang="en-US" sz="3800" b="1" dirty="0">
                <a:solidFill>
                  <a:schemeClr val="bg1"/>
                </a:solidFill>
                <a:latin typeface="+mj-lt" pitchFamily="34" charset="0"/>
                <a:ea typeface="+mj-lt" pitchFamily="34" charset="-122"/>
                <a:cs typeface="+mj-lt" pitchFamily="34" charset="-120"/>
              </a:rPr>
              <a:t>66.2%</a:t>
            </a:r>
            <a:endParaRPr lang="en-US" sz="3800" dirty="0"/>
          </a:p>
        </p:txBody>
      </p:sp>
      <p:sp>
        <p:nvSpPr>
          <p:cNvPr id="6" name="Stat 1 label"/>
          <p:cNvSpPr txBox="1"/>
          <p:nvPr/>
        </p:nvSpPr>
        <p:spPr>
          <a:xfrm>
            <a:off x="548640" y="4937760"/>
            <a:ext cx="1965960" cy="822960"/>
          </a:xfrm>
          <a:prstGeom prst="rect">
            <a:avLst/>
          </a:prstGeom>
          <a:noFill/>
          <a:ln/>
        </p:spPr>
        <p:txBody>
          <a:bodyPr wrap="square" lIns="0" tIns="0" rIns="0" bIns="0" rtlCol="0" anchor="t"/>
          <a:lstStyle/>
          <a:p>
            <a:pPr indent="0" marL="0">
              <a:buNone/>
            </a:pPr>
            <a:r>
              <a:rPr lang="en-US" sz="1300" dirty="0">
                <a:solidFill>
                  <a:srgbClr val="D6E0DA"/>
                </a:solidFill>
              </a:rPr>
              <a:t>national adoption, Dec 2025: target met nationally</a:t>
            </a:r>
            <a:endParaRPr lang="en-US" sz="1300" dirty="0"/>
          </a:p>
        </p:txBody>
      </p:sp>
      <p:sp>
        <p:nvSpPr>
          <p:cNvPr id="7" name="Stat 2 number"/>
          <p:cNvSpPr txBox="1"/>
          <p:nvPr/>
        </p:nvSpPr>
        <p:spPr>
          <a:xfrm>
            <a:off x="2770632" y="4160520"/>
            <a:ext cx="2057400" cy="685800"/>
          </a:xfrm>
          <a:prstGeom prst="rect">
            <a:avLst/>
          </a:prstGeom>
          <a:noFill/>
          <a:ln/>
        </p:spPr>
        <p:txBody>
          <a:bodyPr wrap="square" lIns="0" tIns="0" rIns="0" bIns="0" rtlCol="0" anchor="b"/>
          <a:lstStyle/>
          <a:p>
            <a:pPr indent="0" marL="0">
              <a:buNone/>
            </a:pPr>
            <a:r>
              <a:rPr lang="en-US" sz="3800" b="1" dirty="0">
                <a:solidFill>
                  <a:srgbClr val="F28B87"/>
                </a:solidFill>
                <a:latin typeface="+mj-lt" pitchFamily="34" charset="0"/>
                <a:ea typeface="+mj-lt" pitchFamily="34" charset="-122"/>
                <a:cs typeface="+mj-lt" pitchFamily="34" charset="-120"/>
              </a:rPr>
              <a:t>8 of 13</a:t>
            </a:r>
            <a:endParaRPr lang="en-US" sz="3800" dirty="0"/>
          </a:p>
        </p:txBody>
      </p:sp>
      <p:sp>
        <p:nvSpPr>
          <p:cNvPr id="8" name="Stat 2 label"/>
          <p:cNvSpPr txBox="1"/>
          <p:nvPr/>
        </p:nvSpPr>
        <p:spPr>
          <a:xfrm>
            <a:off x="2770632" y="4937760"/>
            <a:ext cx="1965960" cy="822960"/>
          </a:xfrm>
          <a:prstGeom prst="rect">
            <a:avLst/>
          </a:prstGeom>
          <a:noFill/>
          <a:ln/>
        </p:spPr>
        <p:txBody>
          <a:bodyPr wrap="square" lIns="0" tIns="0" rIns="0" bIns="0" rtlCol="0" anchor="t"/>
          <a:lstStyle/>
          <a:p>
            <a:pPr indent="0" marL="0">
              <a:buNone/>
            </a:pPr>
            <a:r>
              <a:rPr lang="en-US" sz="1300" dirty="0">
                <a:solidFill>
                  <a:srgbClr val="D6E0DA"/>
                </a:solidFill>
              </a:rPr>
              <a:t>regions still below 65%, home to 52% of users</a:t>
            </a:r>
            <a:endParaRPr lang="en-US" sz="1300" dirty="0"/>
          </a:p>
        </p:txBody>
      </p:sp>
      <p:sp>
        <p:nvSpPr>
          <p:cNvPr id="9" name="Stat 3 number"/>
          <p:cNvSpPr txBox="1"/>
          <p:nvPr/>
        </p:nvSpPr>
        <p:spPr>
          <a:xfrm>
            <a:off x="4992624" y="4160520"/>
            <a:ext cx="2057400" cy="685800"/>
          </a:xfrm>
          <a:prstGeom prst="rect">
            <a:avLst/>
          </a:prstGeom>
          <a:noFill/>
          <a:ln/>
        </p:spPr>
        <p:txBody>
          <a:bodyPr wrap="square" lIns="0" tIns="0" rIns="0" bIns="0" rtlCol="0" anchor="b"/>
          <a:lstStyle/>
          <a:p>
            <a:pPr indent="0" marL="0">
              <a:buNone/>
            </a:pPr>
            <a:r>
              <a:rPr lang="en-US" sz="3800" b="1" dirty="0">
                <a:solidFill>
                  <a:srgbClr val="F28B87"/>
                </a:solidFill>
                <a:latin typeface="+mj-lt" pitchFamily="34" charset="0"/>
                <a:ea typeface="+mj-lt" pitchFamily="34" charset="-122"/>
                <a:cs typeface="+mj-lt" pitchFamily="34" charset="-120"/>
              </a:rPr>
              <a:t>84%</a:t>
            </a:r>
            <a:endParaRPr lang="en-US" sz="3800" dirty="0"/>
          </a:p>
        </p:txBody>
      </p:sp>
      <p:sp>
        <p:nvSpPr>
          <p:cNvPr id="10" name="Stat 3 label"/>
          <p:cNvSpPr txBox="1"/>
          <p:nvPr/>
        </p:nvSpPr>
        <p:spPr>
          <a:xfrm>
            <a:off x="4992624" y="4937760"/>
            <a:ext cx="1965960" cy="822960"/>
          </a:xfrm>
          <a:prstGeom prst="rect">
            <a:avLst/>
          </a:prstGeom>
          <a:noFill/>
          <a:ln/>
        </p:spPr>
        <p:txBody>
          <a:bodyPr wrap="square" lIns="0" tIns="0" rIns="0" bIns="0" rtlCol="0" anchor="t"/>
          <a:lstStyle/>
          <a:p>
            <a:pPr indent="0" marL="0">
              <a:buNone/>
            </a:pPr>
            <a:r>
              <a:rPr lang="en-US" sz="1300" dirty="0">
                <a:solidFill>
                  <a:srgbClr val="D6E0DA"/>
                </a:solidFill>
              </a:rPr>
              <a:t>of the remaining gap sits in four regions</a:t>
            </a:r>
            <a:endParaRPr lang="en-US" sz="1300" dirty="0"/>
          </a:p>
        </p:txBody>
      </p:sp>
      <p:sp>
        <p:nvSpPr>
          <p:cNvPr id="11" name="Map Eastern Province"/>
          <p:cNvSpPr/>
          <p:nvPr/>
        </p:nvSpPr>
        <p:spPr>
          <a:xfrm>
            <a:off x="9573631" y="1795196"/>
            <a:ext cx="2084969" cy="2558994"/>
          </a:xfrm>
          <a:custGeom>
            <a:avLst/>
            <a:gdLst/>
            <a:ahLst/>
            <a:cxnLst/>
            <a:rect l="l" t="t" r="r" b="b"/>
            <a:pathLst>
              <a:path w="2084969" h="2558994">
                <a:moveTo>
                  <a:pt x="0" y="304907"/>
                </a:moveTo>
                <a:lnTo>
                  <a:pt x="12756" y="314371"/>
                </a:lnTo>
                <a:lnTo>
                  <a:pt x="52258" y="399547"/>
                </a:lnTo>
                <a:lnTo>
                  <a:pt x="106985" y="430408"/>
                </a:lnTo>
                <a:lnTo>
                  <a:pt x="139492" y="436169"/>
                </a:lnTo>
                <a:lnTo>
                  <a:pt x="186400" y="480609"/>
                </a:lnTo>
                <a:lnTo>
                  <a:pt x="244008" y="486781"/>
                </a:lnTo>
                <a:lnTo>
                  <a:pt x="313959" y="532044"/>
                </a:lnTo>
                <a:lnTo>
                  <a:pt x="361279" y="527929"/>
                </a:lnTo>
                <a:lnTo>
                  <a:pt x="406131" y="576072"/>
                </a:lnTo>
                <a:lnTo>
                  <a:pt x="478140" y="605287"/>
                </a:lnTo>
                <a:lnTo>
                  <a:pt x="486781" y="647258"/>
                </a:lnTo>
                <a:lnTo>
                  <a:pt x="491307" y="922127"/>
                </a:lnTo>
                <a:lnTo>
                  <a:pt x="615986" y="1029934"/>
                </a:lnTo>
                <a:lnTo>
                  <a:pt x="645612" y="1089188"/>
                </a:lnTo>
                <a:lnTo>
                  <a:pt x="649727" y="1157905"/>
                </a:lnTo>
                <a:lnTo>
                  <a:pt x="494187" y="2418679"/>
                </a:lnTo>
                <a:lnTo>
                  <a:pt x="485135" y="2558994"/>
                </a:lnTo>
                <a:lnTo>
                  <a:pt x="511470" y="2487808"/>
                </a:lnTo>
                <a:lnTo>
                  <a:pt x="625038" y="2334738"/>
                </a:lnTo>
                <a:lnTo>
                  <a:pt x="807324" y="2238863"/>
                </a:lnTo>
                <a:lnTo>
                  <a:pt x="1132393" y="2203064"/>
                </a:lnTo>
                <a:lnTo>
                  <a:pt x="1369817" y="2156978"/>
                </a:lnTo>
                <a:lnTo>
                  <a:pt x="1954941" y="1943420"/>
                </a:lnTo>
                <a:lnTo>
                  <a:pt x="2084969" y="1516304"/>
                </a:lnTo>
                <a:lnTo>
                  <a:pt x="1995678" y="1364879"/>
                </a:lnTo>
                <a:lnTo>
                  <a:pt x="1981688" y="1381338"/>
                </a:lnTo>
                <a:lnTo>
                  <a:pt x="1482974" y="1315502"/>
                </a:lnTo>
                <a:lnTo>
                  <a:pt x="1289578" y="1062030"/>
                </a:lnTo>
                <a:lnTo>
                  <a:pt x="1289578" y="1034872"/>
                </a:lnTo>
                <a:lnTo>
                  <a:pt x="1260775" y="1019647"/>
                </a:lnTo>
                <a:lnTo>
                  <a:pt x="1229502" y="1028289"/>
                </a:lnTo>
                <a:lnTo>
                  <a:pt x="1237732" y="997428"/>
                </a:lnTo>
                <a:lnTo>
                  <a:pt x="1273119" y="966567"/>
                </a:lnTo>
                <a:lnTo>
                  <a:pt x="1252957" y="955457"/>
                </a:lnTo>
                <a:lnTo>
                  <a:pt x="1235263" y="980968"/>
                </a:lnTo>
                <a:lnTo>
                  <a:pt x="1193703" y="988786"/>
                </a:lnTo>
                <a:lnTo>
                  <a:pt x="1160785" y="972327"/>
                </a:lnTo>
                <a:lnTo>
                  <a:pt x="1137742" y="930356"/>
                </a:lnTo>
                <a:lnTo>
                  <a:pt x="1129513" y="935294"/>
                </a:lnTo>
                <a:lnTo>
                  <a:pt x="1121694" y="902787"/>
                </a:lnTo>
                <a:lnTo>
                  <a:pt x="1093714" y="861639"/>
                </a:lnTo>
                <a:lnTo>
                  <a:pt x="1089188" y="866165"/>
                </a:lnTo>
                <a:lnTo>
                  <a:pt x="1075609" y="789630"/>
                </a:lnTo>
                <a:lnTo>
                  <a:pt x="1053800" y="766176"/>
                </a:lnTo>
                <a:lnTo>
                  <a:pt x="1057504" y="787573"/>
                </a:lnTo>
                <a:lnTo>
                  <a:pt x="1020470" y="729966"/>
                </a:lnTo>
                <a:lnTo>
                  <a:pt x="1009772" y="727497"/>
                </a:lnTo>
                <a:lnTo>
                  <a:pt x="1006069" y="717210"/>
                </a:lnTo>
                <a:lnTo>
                  <a:pt x="1025408" y="729554"/>
                </a:lnTo>
                <a:lnTo>
                  <a:pt x="1031169" y="744779"/>
                </a:lnTo>
                <a:lnTo>
                  <a:pt x="1031169" y="735315"/>
                </a:lnTo>
                <a:lnTo>
                  <a:pt x="1000719" y="687172"/>
                </a:lnTo>
                <a:lnTo>
                  <a:pt x="1000308" y="665363"/>
                </a:lnTo>
                <a:lnTo>
                  <a:pt x="985906" y="657134"/>
                </a:lnTo>
                <a:lnTo>
                  <a:pt x="979734" y="664540"/>
                </a:lnTo>
                <a:lnTo>
                  <a:pt x="985906" y="618866"/>
                </a:lnTo>
                <a:lnTo>
                  <a:pt x="1005246" y="655488"/>
                </a:lnTo>
                <a:lnTo>
                  <a:pt x="1012652" y="623804"/>
                </a:lnTo>
                <a:lnTo>
                  <a:pt x="1015533" y="629976"/>
                </a:lnTo>
                <a:lnTo>
                  <a:pt x="1022528" y="622569"/>
                </a:lnTo>
                <a:lnTo>
                  <a:pt x="1025820" y="582656"/>
                </a:lnTo>
                <a:lnTo>
                  <a:pt x="1012652" y="570723"/>
                </a:lnTo>
                <a:lnTo>
                  <a:pt x="1022528" y="555087"/>
                </a:lnTo>
                <a:lnTo>
                  <a:pt x="1016767" y="549737"/>
                </a:lnTo>
                <a:lnTo>
                  <a:pt x="1011418" y="571957"/>
                </a:lnTo>
                <a:lnTo>
                  <a:pt x="1005657" y="555909"/>
                </a:lnTo>
                <a:lnTo>
                  <a:pt x="994136" y="562493"/>
                </a:lnTo>
                <a:lnTo>
                  <a:pt x="983849" y="540273"/>
                </a:lnTo>
                <a:lnTo>
                  <a:pt x="996193" y="546857"/>
                </a:lnTo>
                <a:lnTo>
                  <a:pt x="996605" y="537804"/>
                </a:lnTo>
                <a:lnTo>
                  <a:pt x="983849" y="540273"/>
                </a:lnTo>
                <a:lnTo>
                  <a:pt x="976854" y="520934"/>
                </a:lnTo>
                <a:lnTo>
                  <a:pt x="980145" y="502829"/>
                </a:lnTo>
                <a:lnTo>
                  <a:pt x="986729" y="518876"/>
                </a:lnTo>
                <a:lnTo>
                  <a:pt x="1004011" y="516819"/>
                </a:lnTo>
                <a:lnTo>
                  <a:pt x="970681" y="479786"/>
                </a:lnTo>
                <a:lnTo>
                  <a:pt x="915543" y="452628"/>
                </a:lnTo>
                <a:lnTo>
                  <a:pt x="920892" y="441930"/>
                </a:lnTo>
                <a:lnTo>
                  <a:pt x="904433" y="436580"/>
                </a:lnTo>
                <a:lnTo>
                  <a:pt x="924184" y="429585"/>
                </a:lnTo>
                <a:lnTo>
                  <a:pt x="898261" y="428762"/>
                </a:lnTo>
                <a:lnTo>
                  <a:pt x="906902" y="388026"/>
                </a:lnTo>
                <a:lnTo>
                  <a:pt x="892500" y="413537"/>
                </a:lnTo>
                <a:lnTo>
                  <a:pt x="879744" y="383499"/>
                </a:lnTo>
                <a:lnTo>
                  <a:pt x="887562" y="376916"/>
                </a:lnTo>
                <a:lnTo>
                  <a:pt x="894558" y="388437"/>
                </a:lnTo>
                <a:lnTo>
                  <a:pt x="921304" y="384322"/>
                </a:lnTo>
                <a:lnTo>
                  <a:pt x="879333" y="374858"/>
                </a:lnTo>
                <a:lnTo>
                  <a:pt x="873161" y="388437"/>
                </a:lnTo>
                <a:lnTo>
                  <a:pt x="878921" y="384734"/>
                </a:lnTo>
                <a:lnTo>
                  <a:pt x="874806" y="398313"/>
                </a:lnTo>
                <a:lnTo>
                  <a:pt x="888385" y="406542"/>
                </a:lnTo>
                <a:lnTo>
                  <a:pt x="880979" y="413949"/>
                </a:lnTo>
                <a:lnTo>
                  <a:pt x="886328" y="423001"/>
                </a:lnTo>
                <a:lnTo>
                  <a:pt x="868634" y="417652"/>
                </a:lnTo>
                <a:lnTo>
                  <a:pt x="870692" y="431231"/>
                </a:lnTo>
                <a:lnTo>
                  <a:pt x="855878" y="423001"/>
                </a:lnTo>
                <a:lnTo>
                  <a:pt x="864931" y="406954"/>
                </a:lnTo>
                <a:lnTo>
                  <a:pt x="852998" y="418475"/>
                </a:lnTo>
                <a:lnTo>
                  <a:pt x="846826" y="409834"/>
                </a:lnTo>
                <a:lnTo>
                  <a:pt x="846414" y="378973"/>
                </a:lnTo>
                <a:lnTo>
                  <a:pt x="826663" y="382265"/>
                </a:lnTo>
                <a:lnTo>
                  <a:pt x="833658" y="361279"/>
                </a:lnTo>
                <a:lnTo>
                  <a:pt x="824194" y="368275"/>
                </a:lnTo>
                <a:lnTo>
                  <a:pt x="808558" y="361691"/>
                </a:lnTo>
                <a:lnTo>
                  <a:pt x="841888" y="350169"/>
                </a:lnTo>
                <a:lnTo>
                  <a:pt x="845180" y="357576"/>
                </a:lnTo>
                <a:lnTo>
                  <a:pt x="834070" y="336179"/>
                </a:lnTo>
                <a:lnTo>
                  <a:pt x="792099" y="328773"/>
                </a:lnTo>
                <a:lnTo>
                  <a:pt x="778520" y="315605"/>
                </a:lnTo>
                <a:lnTo>
                  <a:pt x="765764" y="327950"/>
                </a:lnTo>
                <a:lnTo>
                  <a:pt x="767822" y="315194"/>
                </a:lnTo>
                <a:lnTo>
                  <a:pt x="755066" y="319720"/>
                </a:lnTo>
                <a:lnTo>
                  <a:pt x="761238" y="304907"/>
                </a:lnTo>
                <a:lnTo>
                  <a:pt x="754654" y="307787"/>
                </a:lnTo>
                <a:lnTo>
                  <a:pt x="748482" y="289682"/>
                </a:lnTo>
                <a:lnTo>
                  <a:pt x="742310" y="296266"/>
                </a:lnTo>
                <a:lnTo>
                  <a:pt x="747659" y="273634"/>
                </a:lnTo>
                <a:lnTo>
                  <a:pt x="746425" y="288036"/>
                </a:lnTo>
                <a:lnTo>
                  <a:pt x="753420" y="274869"/>
                </a:lnTo>
                <a:lnTo>
                  <a:pt x="759181" y="279395"/>
                </a:lnTo>
                <a:lnTo>
                  <a:pt x="753831" y="294208"/>
                </a:lnTo>
                <a:lnTo>
                  <a:pt x="762884" y="273634"/>
                </a:lnTo>
                <a:lnTo>
                  <a:pt x="735315" y="245242"/>
                </a:lnTo>
                <a:lnTo>
                  <a:pt x="743956" y="234955"/>
                </a:lnTo>
                <a:lnTo>
                  <a:pt x="710626" y="216850"/>
                </a:lnTo>
                <a:lnTo>
                  <a:pt x="713506" y="193396"/>
                </a:lnTo>
                <a:lnTo>
                  <a:pt x="689640" y="164181"/>
                </a:lnTo>
                <a:lnTo>
                  <a:pt x="694990" y="147721"/>
                </a:lnTo>
                <a:lnTo>
                  <a:pt x="680588" y="153071"/>
                </a:lnTo>
                <a:lnTo>
                  <a:pt x="692521" y="145664"/>
                </a:lnTo>
                <a:lnTo>
                  <a:pt x="687172" y="129205"/>
                </a:lnTo>
                <a:lnTo>
                  <a:pt x="673181" y="120975"/>
                </a:lnTo>
                <a:lnTo>
                  <a:pt x="531632" y="123033"/>
                </a:lnTo>
                <a:lnTo>
                  <a:pt x="512293" y="95052"/>
                </a:lnTo>
                <a:lnTo>
                  <a:pt x="508589" y="56373"/>
                </a:lnTo>
                <a:lnTo>
                  <a:pt x="485135" y="21397"/>
                </a:lnTo>
                <a:lnTo>
                  <a:pt x="309021" y="0"/>
                </a:lnTo>
                <a:lnTo>
                  <a:pt x="282275" y="8230"/>
                </a:lnTo>
                <a:lnTo>
                  <a:pt x="209032" y="1646"/>
                </a:lnTo>
                <a:lnTo>
                  <a:pt x="200391" y="16459"/>
                </a:lnTo>
                <a:lnTo>
                  <a:pt x="141549" y="48555"/>
                </a:lnTo>
                <a:lnTo>
                  <a:pt x="131262" y="67483"/>
                </a:lnTo>
                <a:lnTo>
                  <a:pt x="32918" y="67894"/>
                </a:lnTo>
                <a:lnTo>
                  <a:pt x="13990" y="96698"/>
                </a:lnTo>
                <a:lnTo>
                  <a:pt x="55550" y="143607"/>
                </a:lnTo>
                <a:lnTo>
                  <a:pt x="72832" y="192573"/>
                </a:lnTo>
                <a:lnTo>
                  <a:pt x="46497" y="205740"/>
                </a:lnTo>
                <a:lnTo>
                  <a:pt x="31684" y="261290"/>
                </a:lnTo>
                <a:close/>
              </a:path>
            </a:pathLst>
          </a:custGeom>
          <a:solidFill>
            <a:srgbClr val="2E6450"/>
          </a:solidFill>
          <a:ln w="12700">
            <a:solidFill>
              <a:srgbClr val="0E3B2E"/>
            </a:solidFill>
            <a:prstDash val="solid"/>
          </a:ln>
        </p:spPr>
      </p:sp>
      <p:sp>
        <p:nvSpPr>
          <p:cNvPr id="12" name="Map Najran"/>
          <p:cNvSpPr/>
          <p:nvPr/>
        </p:nvSpPr>
        <p:spPr>
          <a:xfrm>
            <a:off x="9308226" y="3838605"/>
            <a:ext cx="804855" cy="551383"/>
          </a:xfrm>
          <a:custGeom>
            <a:avLst/>
            <a:gdLst/>
            <a:ahLst/>
            <a:cxnLst/>
            <a:rect l="l" t="t" r="r" b="b"/>
            <a:pathLst>
              <a:path w="804855" h="551383">
                <a:moveTo>
                  <a:pt x="804855" y="0"/>
                </a:moveTo>
                <a:lnTo>
                  <a:pt x="654665" y="29627"/>
                </a:lnTo>
                <a:lnTo>
                  <a:pt x="321366" y="59253"/>
                </a:lnTo>
                <a:lnTo>
                  <a:pt x="253060" y="51024"/>
                </a:lnTo>
                <a:lnTo>
                  <a:pt x="175290" y="4115"/>
                </a:lnTo>
                <a:lnTo>
                  <a:pt x="174879" y="39914"/>
                </a:lnTo>
                <a:lnTo>
                  <a:pt x="142784" y="68717"/>
                </a:lnTo>
                <a:lnTo>
                  <a:pt x="148544" y="140726"/>
                </a:lnTo>
                <a:lnTo>
                  <a:pt x="125913" y="161300"/>
                </a:lnTo>
                <a:lnTo>
                  <a:pt x="90114" y="173233"/>
                </a:lnTo>
                <a:lnTo>
                  <a:pt x="72832" y="206151"/>
                </a:lnTo>
                <a:lnTo>
                  <a:pt x="9053" y="271165"/>
                </a:lnTo>
                <a:lnTo>
                  <a:pt x="9053" y="310256"/>
                </a:lnTo>
                <a:lnTo>
                  <a:pt x="3292" y="385557"/>
                </a:lnTo>
                <a:lnTo>
                  <a:pt x="10287" y="420944"/>
                </a:lnTo>
                <a:lnTo>
                  <a:pt x="0" y="449336"/>
                </a:lnTo>
                <a:lnTo>
                  <a:pt x="12756" y="462092"/>
                </a:lnTo>
                <a:lnTo>
                  <a:pt x="67894" y="469910"/>
                </a:lnTo>
                <a:lnTo>
                  <a:pt x="76535" y="454685"/>
                </a:lnTo>
                <a:lnTo>
                  <a:pt x="95875" y="462092"/>
                </a:lnTo>
                <a:lnTo>
                  <a:pt x="101224" y="453039"/>
                </a:lnTo>
                <a:lnTo>
                  <a:pt x="145664" y="448102"/>
                </a:lnTo>
                <a:lnTo>
                  <a:pt x="311902" y="447690"/>
                </a:lnTo>
                <a:lnTo>
                  <a:pt x="347701" y="469499"/>
                </a:lnTo>
                <a:lnTo>
                  <a:pt x="483900" y="487192"/>
                </a:lnTo>
                <a:lnTo>
                  <a:pt x="536158" y="490896"/>
                </a:lnTo>
                <a:lnTo>
                  <a:pt x="611048" y="480197"/>
                </a:lnTo>
                <a:lnTo>
                  <a:pt x="659602" y="550972"/>
                </a:lnTo>
                <a:lnTo>
                  <a:pt x="695401" y="551383"/>
                </a:lnTo>
                <a:lnTo>
                  <a:pt x="750540" y="515584"/>
                </a:lnTo>
                <a:close/>
              </a:path>
            </a:pathLst>
          </a:custGeom>
          <a:solidFill>
            <a:srgbClr val="E15759"/>
          </a:solidFill>
          <a:ln w="12700">
            <a:solidFill>
              <a:srgbClr val="0E3B2E"/>
            </a:solidFill>
            <a:prstDash val="solid"/>
          </a:ln>
        </p:spPr>
      </p:sp>
      <p:sp>
        <p:nvSpPr>
          <p:cNvPr id="13" name="Map Northern Borders"/>
          <p:cNvSpPr/>
          <p:nvPr/>
        </p:nvSpPr>
        <p:spPr>
          <a:xfrm>
            <a:off x="8191058" y="1143000"/>
            <a:ext cx="1591605" cy="988375"/>
          </a:xfrm>
          <a:custGeom>
            <a:avLst/>
            <a:gdLst/>
            <a:ahLst/>
            <a:cxnLst/>
            <a:rect l="l" t="t" r="r" b="b"/>
            <a:pathLst>
              <a:path w="1591605" h="988375">
                <a:moveTo>
                  <a:pt x="1591605" y="653842"/>
                </a:moveTo>
                <a:lnTo>
                  <a:pt x="1332372" y="631210"/>
                </a:lnTo>
                <a:lnTo>
                  <a:pt x="818022" y="222611"/>
                </a:lnTo>
                <a:lnTo>
                  <a:pt x="692109" y="166649"/>
                </a:lnTo>
                <a:lnTo>
                  <a:pt x="491719" y="44028"/>
                </a:lnTo>
                <a:lnTo>
                  <a:pt x="255529" y="0"/>
                </a:lnTo>
                <a:lnTo>
                  <a:pt x="217261" y="32918"/>
                </a:lnTo>
                <a:lnTo>
                  <a:pt x="14402" y="87234"/>
                </a:lnTo>
                <a:lnTo>
                  <a:pt x="13579" y="166238"/>
                </a:lnTo>
                <a:lnTo>
                  <a:pt x="0" y="202037"/>
                </a:lnTo>
                <a:lnTo>
                  <a:pt x="39914" y="211912"/>
                </a:lnTo>
                <a:lnTo>
                  <a:pt x="35799" y="224257"/>
                </a:lnTo>
                <a:lnTo>
                  <a:pt x="51435" y="227548"/>
                </a:lnTo>
                <a:lnTo>
                  <a:pt x="58842" y="276515"/>
                </a:lnTo>
                <a:lnTo>
                  <a:pt x="130028" y="260467"/>
                </a:lnTo>
                <a:lnTo>
                  <a:pt x="164181" y="261290"/>
                </a:lnTo>
                <a:lnTo>
                  <a:pt x="175702" y="271577"/>
                </a:lnTo>
                <a:lnTo>
                  <a:pt x="212324" y="253472"/>
                </a:lnTo>
                <a:lnTo>
                  <a:pt x="256764" y="253060"/>
                </a:lnTo>
                <a:lnTo>
                  <a:pt x="297089" y="269519"/>
                </a:lnTo>
                <a:lnTo>
                  <a:pt x="342763" y="264582"/>
                </a:lnTo>
                <a:lnTo>
                  <a:pt x="363337" y="277749"/>
                </a:lnTo>
                <a:lnTo>
                  <a:pt x="385557" y="269931"/>
                </a:lnTo>
                <a:lnTo>
                  <a:pt x="429585" y="303261"/>
                </a:lnTo>
                <a:lnTo>
                  <a:pt x="450159" y="300380"/>
                </a:lnTo>
                <a:lnTo>
                  <a:pt x="469499" y="283921"/>
                </a:lnTo>
                <a:lnTo>
                  <a:pt x="545622" y="302438"/>
                </a:lnTo>
                <a:lnTo>
                  <a:pt x="608579" y="297500"/>
                </a:lnTo>
                <a:lnTo>
                  <a:pt x="625861" y="304084"/>
                </a:lnTo>
                <a:lnTo>
                  <a:pt x="628330" y="350992"/>
                </a:lnTo>
                <a:lnTo>
                  <a:pt x="644789" y="336591"/>
                </a:lnTo>
                <a:lnTo>
                  <a:pt x="687995" y="334533"/>
                </a:lnTo>
                <a:lnTo>
                  <a:pt x="729966" y="348935"/>
                </a:lnTo>
                <a:lnTo>
                  <a:pt x="717210" y="380619"/>
                </a:lnTo>
                <a:lnTo>
                  <a:pt x="751362" y="391317"/>
                </a:lnTo>
                <a:lnTo>
                  <a:pt x="797037" y="441107"/>
                </a:lnTo>
                <a:lnTo>
                  <a:pt x="760415" y="455097"/>
                </a:lnTo>
                <a:lnTo>
                  <a:pt x="752597" y="479374"/>
                </a:lnTo>
                <a:lnTo>
                  <a:pt x="722147" y="477317"/>
                </a:lnTo>
                <a:lnTo>
                  <a:pt x="704454" y="498714"/>
                </a:lnTo>
                <a:lnTo>
                  <a:pt x="683468" y="504886"/>
                </a:lnTo>
                <a:lnTo>
                  <a:pt x="688818" y="560024"/>
                </a:lnTo>
                <a:lnTo>
                  <a:pt x="706100" y="556321"/>
                </a:lnTo>
                <a:lnTo>
                  <a:pt x="704865" y="578952"/>
                </a:lnTo>
                <a:lnTo>
                  <a:pt x="721736" y="608990"/>
                </a:lnTo>
                <a:lnTo>
                  <a:pt x="725028" y="643555"/>
                </a:lnTo>
                <a:lnTo>
                  <a:pt x="687583" y="650961"/>
                </a:lnTo>
                <a:lnTo>
                  <a:pt x="674416" y="700750"/>
                </a:lnTo>
                <a:lnTo>
                  <a:pt x="783458" y="715152"/>
                </a:lnTo>
                <a:lnTo>
                  <a:pt x="810616" y="699105"/>
                </a:lnTo>
                <a:lnTo>
                  <a:pt x="826252" y="711449"/>
                </a:lnTo>
                <a:lnTo>
                  <a:pt x="893735" y="725028"/>
                </a:lnTo>
                <a:lnTo>
                  <a:pt x="914309" y="753831"/>
                </a:lnTo>
                <a:lnTo>
                  <a:pt x="955045" y="766176"/>
                </a:lnTo>
                <a:lnTo>
                  <a:pt x="952988" y="790453"/>
                </a:lnTo>
                <a:lnTo>
                  <a:pt x="962452" y="804443"/>
                </a:lnTo>
                <a:lnTo>
                  <a:pt x="975619" y="800329"/>
                </a:lnTo>
                <a:lnTo>
                  <a:pt x="1015533" y="817199"/>
                </a:lnTo>
                <a:lnTo>
                  <a:pt x="1048040" y="795391"/>
                </a:lnTo>
                <a:lnTo>
                  <a:pt x="1081781" y="794568"/>
                </a:lnTo>
                <a:lnTo>
                  <a:pt x="1087130" y="810204"/>
                </a:lnTo>
                <a:lnTo>
                  <a:pt x="1090422" y="792510"/>
                </a:lnTo>
                <a:lnTo>
                  <a:pt x="1162431" y="794156"/>
                </a:lnTo>
                <a:lnTo>
                  <a:pt x="1174775" y="813084"/>
                </a:lnTo>
                <a:lnTo>
                  <a:pt x="1173952" y="897026"/>
                </a:lnTo>
                <a:lnTo>
                  <a:pt x="1186708" y="909371"/>
                </a:lnTo>
                <a:lnTo>
                  <a:pt x="1207694" y="894558"/>
                </a:lnTo>
                <a:lnTo>
                  <a:pt x="1246784" y="903610"/>
                </a:lnTo>
                <a:lnTo>
                  <a:pt x="1295339" y="939820"/>
                </a:lnTo>
                <a:lnTo>
                  <a:pt x="1333195" y="988375"/>
                </a:lnTo>
                <a:lnTo>
                  <a:pt x="1373109" y="971504"/>
                </a:lnTo>
                <a:lnTo>
                  <a:pt x="1414257" y="913486"/>
                </a:lnTo>
                <a:lnTo>
                  <a:pt x="1429070" y="857936"/>
                </a:lnTo>
                <a:lnTo>
                  <a:pt x="1455405" y="844768"/>
                </a:lnTo>
                <a:lnTo>
                  <a:pt x="1438123" y="795802"/>
                </a:lnTo>
                <a:lnTo>
                  <a:pt x="1396563" y="748894"/>
                </a:lnTo>
                <a:lnTo>
                  <a:pt x="1415491" y="720090"/>
                </a:lnTo>
                <a:lnTo>
                  <a:pt x="1513835" y="719679"/>
                </a:lnTo>
                <a:lnTo>
                  <a:pt x="1524122" y="700750"/>
                </a:lnTo>
                <a:lnTo>
                  <a:pt x="1582964" y="668655"/>
                </a:lnTo>
                <a:close/>
              </a:path>
            </a:pathLst>
          </a:custGeom>
          <a:solidFill>
            <a:srgbClr val="E15759"/>
          </a:solidFill>
          <a:ln w="12700">
            <a:solidFill>
              <a:srgbClr val="0E3B2E"/>
            </a:solidFill>
            <a:prstDash val="solid"/>
          </a:ln>
        </p:spPr>
      </p:sp>
      <p:sp>
        <p:nvSpPr>
          <p:cNvPr id="14" name="Map Hail"/>
          <p:cNvSpPr/>
          <p:nvPr/>
        </p:nvSpPr>
        <p:spPr>
          <a:xfrm>
            <a:off x="8481151" y="1841282"/>
            <a:ext cx="887562" cy="767410"/>
          </a:xfrm>
          <a:custGeom>
            <a:avLst/>
            <a:gdLst/>
            <a:ahLst/>
            <a:cxnLst/>
            <a:rect l="l" t="t" r="r" b="b"/>
            <a:pathLst>
              <a:path w="887562" h="767410">
                <a:moveTo>
                  <a:pt x="384322" y="2469"/>
                </a:moveTo>
                <a:lnTo>
                  <a:pt x="224668" y="0"/>
                </a:lnTo>
                <a:lnTo>
                  <a:pt x="80239" y="72420"/>
                </a:lnTo>
                <a:lnTo>
                  <a:pt x="14813" y="148956"/>
                </a:lnTo>
                <a:lnTo>
                  <a:pt x="0" y="188869"/>
                </a:lnTo>
                <a:lnTo>
                  <a:pt x="88468" y="239070"/>
                </a:lnTo>
                <a:lnTo>
                  <a:pt x="123855" y="345643"/>
                </a:lnTo>
                <a:lnTo>
                  <a:pt x="118506" y="376093"/>
                </a:lnTo>
                <a:lnTo>
                  <a:pt x="91349" y="353461"/>
                </a:lnTo>
                <a:lnTo>
                  <a:pt x="76124" y="356753"/>
                </a:lnTo>
                <a:lnTo>
                  <a:pt x="23866" y="432465"/>
                </a:lnTo>
                <a:lnTo>
                  <a:pt x="23043" y="450159"/>
                </a:lnTo>
                <a:lnTo>
                  <a:pt x="54727" y="460035"/>
                </a:lnTo>
                <a:lnTo>
                  <a:pt x="98755" y="531221"/>
                </a:lnTo>
                <a:lnTo>
                  <a:pt x="99167" y="559613"/>
                </a:lnTo>
                <a:lnTo>
                  <a:pt x="113568" y="583890"/>
                </a:lnTo>
                <a:lnTo>
                  <a:pt x="115626" y="734492"/>
                </a:lnTo>
                <a:lnTo>
                  <a:pt x="123855" y="747659"/>
                </a:lnTo>
                <a:lnTo>
                  <a:pt x="156362" y="759592"/>
                </a:lnTo>
                <a:lnTo>
                  <a:pt x="209855" y="767410"/>
                </a:lnTo>
                <a:lnTo>
                  <a:pt x="218084" y="737372"/>
                </a:lnTo>
                <a:lnTo>
                  <a:pt x="260467" y="740253"/>
                </a:lnTo>
                <a:lnTo>
                  <a:pt x="293385" y="705277"/>
                </a:lnTo>
                <a:lnTo>
                  <a:pt x="328773" y="708157"/>
                </a:lnTo>
                <a:lnTo>
                  <a:pt x="362514" y="727085"/>
                </a:lnTo>
                <a:lnTo>
                  <a:pt x="405719" y="672358"/>
                </a:lnTo>
                <a:lnTo>
                  <a:pt x="448513" y="674827"/>
                </a:lnTo>
                <a:lnTo>
                  <a:pt x="475671" y="641086"/>
                </a:lnTo>
                <a:lnTo>
                  <a:pt x="477317" y="622981"/>
                </a:lnTo>
                <a:lnTo>
                  <a:pt x="494187" y="627918"/>
                </a:lnTo>
                <a:lnTo>
                  <a:pt x="498714" y="598703"/>
                </a:lnTo>
                <a:lnTo>
                  <a:pt x="528752" y="577306"/>
                </a:lnTo>
                <a:lnTo>
                  <a:pt x="542742" y="582656"/>
                </a:lnTo>
                <a:lnTo>
                  <a:pt x="548503" y="575661"/>
                </a:lnTo>
                <a:lnTo>
                  <a:pt x="543154" y="542331"/>
                </a:lnTo>
                <a:lnTo>
                  <a:pt x="565785" y="515996"/>
                </a:lnTo>
                <a:lnTo>
                  <a:pt x="577306" y="514350"/>
                </a:lnTo>
                <a:lnTo>
                  <a:pt x="581421" y="525871"/>
                </a:lnTo>
                <a:lnTo>
                  <a:pt x="590474" y="505709"/>
                </a:lnTo>
                <a:lnTo>
                  <a:pt x="632033" y="485135"/>
                </a:lnTo>
                <a:lnTo>
                  <a:pt x="650550" y="456331"/>
                </a:lnTo>
                <a:lnTo>
                  <a:pt x="650138" y="440284"/>
                </a:lnTo>
                <a:lnTo>
                  <a:pt x="694578" y="419710"/>
                </a:lnTo>
                <a:lnTo>
                  <a:pt x="708569" y="428351"/>
                </a:lnTo>
                <a:lnTo>
                  <a:pt x="729143" y="411069"/>
                </a:lnTo>
                <a:lnTo>
                  <a:pt x="748482" y="376916"/>
                </a:lnTo>
                <a:lnTo>
                  <a:pt x="748071" y="357576"/>
                </a:lnTo>
                <a:lnTo>
                  <a:pt x="772348" y="348935"/>
                </a:lnTo>
                <a:lnTo>
                  <a:pt x="758358" y="335768"/>
                </a:lnTo>
                <a:lnTo>
                  <a:pt x="762472" y="313959"/>
                </a:lnTo>
                <a:lnTo>
                  <a:pt x="780989" y="310256"/>
                </a:lnTo>
                <a:lnTo>
                  <a:pt x="787573" y="296677"/>
                </a:lnTo>
                <a:lnTo>
                  <a:pt x="846003" y="292151"/>
                </a:lnTo>
                <a:lnTo>
                  <a:pt x="849295" y="200391"/>
                </a:lnTo>
                <a:lnTo>
                  <a:pt x="887562" y="165415"/>
                </a:lnTo>
                <a:lnTo>
                  <a:pt x="878510" y="133731"/>
                </a:lnTo>
                <a:lnTo>
                  <a:pt x="884271" y="112334"/>
                </a:lnTo>
                <a:lnTo>
                  <a:pt x="872338" y="95875"/>
                </a:lnTo>
                <a:lnTo>
                  <a:pt x="850941" y="99990"/>
                </a:lnTo>
                <a:lnTo>
                  <a:pt x="835716" y="90526"/>
                </a:lnTo>
                <a:lnTo>
                  <a:pt x="816788" y="99578"/>
                </a:lnTo>
                <a:lnTo>
                  <a:pt x="800329" y="94229"/>
                </a:lnTo>
                <a:lnTo>
                  <a:pt x="797037" y="111923"/>
                </a:lnTo>
                <a:lnTo>
                  <a:pt x="791688" y="96286"/>
                </a:lnTo>
                <a:lnTo>
                  <a:pt x="757946" y="97109"/>
                </a:lnTo>
                <a:lnTo>
                  <a:pt x="725439" y="118918"/>
                </a:lnTo>
                <a:lnTo>
                  <a:pt x="685526" y="102047"/>
                </a:lnTo>
                <a:lnTo>
                  <a:pt x="672358" y="106162"/>
                </a:lnTo>
                <a:lnTo>
                  <a:pt x="662894" y="92172"/>
                </a:lnTo>
                <a:lnTo>
                  <a:pt x="664952" y="67894"/>
                </a:lnTo>
                <a:lnTo>
                  <a:pt x="624215" y="55550"/>
                </a:lnTo>
                <a:lnTo>
                  <a:pt x="603641" y="26746"/>
                </a:lnTo>
                <a:lnTo>
                  <a:pt x="536158" y="13167"/>
                </a:lnTo>
                <a:lnTo>
                  <a:pt x="520522" y="823"/>
                </a:lnTo>
                <a:lnTo>
                  <a:pt x="493365" y="16871"/>
                </a:lnTo>
                <a:close/>
              </a:path>
            </a:pathLst>
          </a:custGeom>
          <a:solidFill>
            <a:srgbClr val="F2B5B1"/>
          </a:solidFill>
          <a:ln w="12700">
            <a:solidFill>
              <a:srgbClr val="0E3B2E"/>
            </a:solidFill>
            <a:prstDash val="solid"/>
          </a:ln>
        </p:spPr>
      </p:sp>
      <p:sp>
        <p:nvSpPr>
          <p:cNvPr id="15" name="Map Riyadh"/>
          <p:cNvSpPr/>
          <p:nvPr/>
        </p:nvSpPr>
        <p:spPr>
          <a:xfrm>
            <a:off x="8987683" y="2100102"/>
            <a:ext cx="1235674" cy="1797756"/>
          </a:xfrm>
          <a:custGeom>
            <a:avLst/>
            <a:gdLst/>
            <a:ahLst/>
            <a:cxnLst/>
            <a:rect l="l" t="t" r="r" b="b"/>
            <a:pathLst>
              <a:path w="1235674" h="1797756">
                <a:moveTo>
                  <a:pt x="585948" y="0"/>
                </a:moveTo>
                <a:lnTo>
                  <a:pt x="569488" y="19751"/>
                </a:lnTo>
                <a:lnTo>
                  <a:pt x="535747" y="31272"/>
                </a:lnTo>
                <a:lnTo>
                  <a:pt x="565785" y="79827"/>
                </a:lnTo>
                <a:lnTo>
                  <a:pt x="569488" y="158420"/>
                </a:lnTo>
                <a:lnTo>
                  <a:pt x="532867" y="134142"/>
                </a:lnTo>
                <a:lnTo>
                  <a:pt x="485135" y="143195"/>
                </a:lnTo>
                <a:lnTo>
                  <a:pt x="474848" y="157185"/>
                </a:lnTo>
                <a:lnTo>
                  <a:pt x="471145" y="225903"/>
                </a:lnTo>
                <a:lnTo>
                  <a:pt x="493776" y="342351"/>
                </a:lnTo>
                <a:lnTo>
                  <a:pt x="520522" y="400782"/>
                </a:lnTo>
                <a:lnTo>
                  <a:pt x="549737" y="420944"/>
                </a:lnTo>
                <a:lnTo>
                  <a:pt x="534924" y="462504"/>
                </a:lnTo>
                <a:lnTo>
                  <a:pt x="483900" y="440284"/>
                </a:lnTo>
                <a:lnTo>
                  <a:pt x="467853" y="457154"/>
                </a:lnTo>
                <a:lnTo>
                  <a:pt x="405719" y="474848"/>
                </a:lnTo>
                <a:lnTo>
                  <a:pt x="389260" y="498714"/>
                </a:lnTo>
                <a:lnTo>
                  <a:pt x="343174" y="504063"/>
                </a:lnTo>
                <a:lnTo>
                  <a:pt x="334122" y="531221"/>
                </a:lnTo>
                <a:lnTo>
                  <a:pt x="288447" y="526694"/>
                </a:lnTo>
                <a:lnTo>
                  <a:pt x="251414" y="567431"/>
                </a:lnTo>
                <a:lnTo>
                  <a:pt x="224257" y="573603"/>
                </a:lnTo>
                <a:lnTo>
                  <a:pt x="220142" y="592120"/>
                </a:lnTo>
                <a:lnTo>
                  <a:pt x="234955" y="584302"/>
                </a:lnTo>
                <a:lnTo>
                  <a:pt x="242362" y="590885"/>
                </a:lnTo>
                <a:lnTo>
                  <a:pt x="222199" y="604464"/>
                </a:lnTo>
                <a:lnTo>
                  <a:pt x="230840" y="615574"/>
                </a:lnTo>
                <a:lnTo>
                  <a:pt x="218084" y="624215"/>
                </a:lnTo>
                <a:lnTo>
                  <a:pt x="240716" y="628330"/>
                </a:lnTo>
                <a:lnTo>
                  <a:pt x="213147" y="674004"/>
                </a:lnTo>
                <a:lnTo>
                  <a:pt x="181051" y="667421"/>
                </a:lnTo>
                <a:lnTo>
                  <a:pt x="158008" y="689229"/>
                </a:lnTo>
                <a:lnTo>
                  <a:pt x="114803" y="689229"/>
                </a:lnTo>
                <a:lnTo>
                  <a:pt x="89291" y="634914"/>
                </a:lnTo>
                <a:lnTo>
                  <a:pt x="30038" y="633268"/>
                </a:lnTo>
                <a:lnTo>
                  <a:pt x="4526" y="695401"/>
                </a:lnTo>
                <a:lnTo>
                  <a:pt x="0" y="829132"/>
                </a:lnTo>
                <a:lnTo>
                  <a:pt x="25100" y="852587"/>
                </a:lnTo>
                <a:lnTo>
                  <a:pt x="74478" y="999485"/>
                </a:lnTo>
                <a:lnTo>
                  <a:pt x="95052" y="1013475"/>
                </a:lnTo>
                <a:lnTo>
                  <a:pt x="196276" y="1024585"/>
                </a:lnTo>
                <a:lnTo>
                  <a:pt x="203271" y="1093302"/>
                </a:lnTo>
                <a:lnTo>
                  <a:pt x="292562" y="1100298"/>
                </a:lnTo>
                <a:lnTo>
                  <a:pt x="299146" y="1220861"/>
                </a:lnTo>
                <a:lnTo>
                  <a:pt x="282275" y="1254191"/>
                </a:lnTo>
                <a:lnTo>
                  <a:pt x="276103" y="1347597"/>
                </a:lnTo>
                <a:lnTo>
                  <a:pt x="330007" y="1429893"/>
                </a:lnTo>
                <a:lnTo>
                  <a:pt x="404485" y="1513423"/>
                </a:lnTo>
                <a:lnTo>
                  <a:pt x="407365" y="1532352"/>
                </a:lnTo>
                <a:lnTo>
                  <a:pt x="388437" y="1566504"/>
                </a:lnTo>
                <a:lnTo>
                  <a:pt x="381442" y="1617116"/>
                </a:lnTo>
                <a:lnTo>
                  <a:pt x="419298" y="1671432"/>
                </a:lnTo>
                <a:lnTo>
                  <a:pt x="495833" y="1742618"/>
                </a:lnTo>
                <a:lnTo>
                  <a:pt x="573603" y="1789527"/>
                </a:lnTo>
                <a:lnTo>
                  <a:pt x="641909" y="1797756"/>
                </a:lnTo>
                <a:lnTo>
                  <a:pt x="975208" y="1768130"/>
                </a:lnTo>
                <a:lnTo>
                  <a:pt x="1125398" y="1738503"/>
                </a:lnTo>
                <a:lnTo>
                  <a:pt x="1235674" y="852998"/>
                </a:lnTo>
                <a:lnTo>
                  <a:pt x="1227856" y="769879"/>
                </a:lnTo>
                <a:lnTo>
                  <a:pt x="1201933" y="725028"/>
                </a:lnTo>
                <a:lnTo>
                  <a:pt x="1077255" y="617220"/>
                </a:lnTo>
                <a:lnTo>
                  <a:pt x="1072728" y="342351"/>
                </a:lnTo>
                <a:lnTo>
                  <a:pt x="1064087" y="300380"/>
                </a:lnTo>
                <a:lnTo>
                  <a:pt x="992078" y="271165"/>
                </a:lnTo>
                <a:lnTo>
                  <a:pt x="947227" y="223022"/>
                </a:lnTo>
                <a:lnTo>
                  <a:pt x="899907" y="227137"/>
                </a:lnTo>
                <a:lnTo>
                  <a:pt x="829955" y="181874"/>
                </a:lnTo>
                <a:lnTo>
                  <a:pt x="772348" y="175702"/>
                </a:lnTo>
                <a:lnTo>
                  <a:pt x="725439" y="131262"/>
                </a:lnTo>
                <a:lnTo>
                  <a:pt x="692932" y="125501"/>
                </a:lnTo>
                <a:lnTo>
                  <a:pt x="638205" y="94640"/>
                </a:lnTo>
                <a:lnTo>
                  <a:pt x="598703" y="9464"/>
                </a:lnTo>
                <a:close/>
              </a:path>
            </a:pathLst>
          </a:custGeom>
          <a:solidFill>
            <a:srgbClr val="2E6450"/>
          </a:solidFill>
          <a:ln w="12700">
            <a:solidFill>
              <a:srgbClr val="0E3B2E"/>
            </a:solidFill>
            <a:prstDash val="solid"/>
          </a:ln>
        </p:spPr>
      </p:sp>
      <p:sp>
        <p:nvSpPr>
          <p:cNvPr id="16" name="Map Asir"/>
          <p:cNvSpPr/>
          <p:nvPr/>
        </p:nvSpPr>
        <p:spPr>
          <a:xfrm>
            <a:off x="8874938" y="3529995"/>
            <a:ext cx="608579" cy="757946"/>
          </a:xfrm>
          <a:custGeom>
            <a:avLst/>
            <a:gdLst/>
            <a:ahLst/>
            <a:cxnLst/>
            <a:rect l="l" t="t" r="r" b="b"/>
            <a:pathLst>
              <a:path w="608579" h="757946">
                <a:moveTo>
                  <a:pt x="608579" y="312725"/>
                </a:moveTo>
                <a:lnTo>
                  <a:pt x="532044" y="241539"/>
                </a:lnTo>
                <a:lnTo>
                  <a:pt x="494187" y="187223"/>
                </a:lnTo>
                <a:lnTo>
                  <a:pt x="519288" y="88880"/>
                </a:lnTo>
                <a:lnTo>
                  <a:pt x="442752" y="0"/>
                </a:lnTo>
                <a:lnTo>
                  <a:pt x="387614" y="30450"/>
                </a:lnTo>
                <a:lnTo>
                  <a:pt x="357988" y="23043"/>
                </a:lnTo>
                <a:lnTo>
                  <a:pt x="301615" y="34976"/>
                </a:lnTo>
                <a:lnTo>
                  <a:pt x="171176" y="135377"/>
                </a:lnTo>
                <a:lnTo>
                  <a:pt x="150190" y="127970"/>
                </a:lnTo>
                <a:lnTo>
                  <a:pt x="123855" y="74889"/>
                </a:lnTo>
                <a:lnTo>
                  <a:pt x="111511" y="112334"/>
                </a:lnTo>
                <a:lnTo>
                  <a:pt x="125090" y="137846"/>
                </a:lnTo>
                <a:lnTo>
                  <a:pt x="86411" y="169530"/>
                </a:lnTo>
                <a:lnTo>
                  <a:pt x="82707" y="200802"/>
                </a:lnTo>
                <a:lnTo>
                  <a:pt x="58842" y="251826"/>
                </a:lnTo>
                <a:lnTo>
                  <a:pt x="80239" y="248122"/>
                </a:lnTo>
                <a:lnTo>
                  <a:pt x="90526" y="259232"/>
                </a:lnTo>
                <a:lnTo>
                  <a:pt x="83942" y="304495"/>
                </a:lnTo>
                <a:lnTo>
                  <a:pt x="96698" y="340705"/>
                </a:lnTo>
                <a:lnTo>
                  <a:pt x="81062" y="373212"/>
                </a:lnTo>
                <a:lnTo>
                  <a:pt x="41559" y="372801"/>
                </a:lnTo>
                <a:lnTo>
                  <a:pt x="15225" y="390906"/>
                </a:lnTo>
                <a:lnTo>
                  <a:pt x="0" y="380208"/>
                </a:lnTo>
                <a:lnTo>
                  <a:pt x="2469" y="461269"/>
                </a:lnTo>
                <a:lnTo>
                  <a:pt x="64602" y="476494"/>
                </a:lnTo>
                <a:lnTo>
                  <a:pt x="81473" y="530809"/>
                </a:lnTo>
                <a:lnTo>
                  <a:pt x="72832" y="568665"/>
                </a:lnTo>
                <a:lnTo>
                  <a:pt x="105339" y="571957"/>
                </a:lnTo>
                <a:lnTo>
                  <a:pt x="102047" y="623804"/>
                </a:lnTo>
                <a:lnTo>
                  <a:pt x="134965" y="625450"/>
                </a:lnTo>
                <a:lnTo>
                  <a:pt x="150190" y="654253"/>
                </a:lnTo>
                <a:lnTo>
                  <a:pt x="197099" y="656722"/>
                </a:lnTo>
                <a:lnTo>
                  <a:pt x="213147" y="685937"/>
                </a:lnTo>
                <a:lnTo>
                  <a:pt x="244419" y="708980"/>
                </a:lnTo>
                <a:lnTo>
                  <a:pt x="267873" y="651373"/>
                </a:lnTo>
                <a:lnTo>
                  <a:pt x="296677" y="633268"/>
                </a:lnTo>
                <a:lnTo>
                  <a:pt x="301203" y="666186"/>
                </a:lnTo>
                <a:lnTo>
                  <a:pt x="321777" y="676885"/>
                </a:lnTo>
                <a:lnTo>
                  <a:pt x="336591" y="704454"/>
                </a:lnTo>
                <a:lnTo>
                  <a:pt x="357165" y="711449"/>
                </a:lnTo>
                <a:lnTo>
                  <a:pt x="375270" y="735315"/>
                </a:lnTo>
                <a:lnTo>
                  <a:pt x="406954" y="732846"/>
                </a:lnTo>
                <a:lnTo>
                  <a:pt x="433288" y="757946"/>
                </a:lnTo>
                <a:lnTo>
                  <a:pt x="443987" y="725028"/>
                </a:lnTo>
                <a:lnTo>
                  <a:pt x="436992" y="589651"/>
                </a:lnTo>
                <a:lnTo>
                  <a:pt x="506120" y="514761"/>
                </a:lnTo>
                <a:lnTo>
                  <a:pt x="523403" y="481843"/>
                </a:lnTo>
                <a:lnTo>
                  <a:pt x="579775" y="453451"/>
                </a:lnTo>
                <a:lnTo>
                  <a:pt x="586359" y="427939"/>
                </a:lnTo>
                <a:lnTo>
                  <a:pt x="576072" y="377327"/>
                </a:lnTo>
                <a:lnTo>
                  <a:pt x="608167" y="348524"/>
                </a:lnTo>
                <a:close/>
              </a:path>
            </a:pathLst>
          </a:custGeom>
          <a:solidFill>
            <a:srgbClr val="F2B5B1"/>
          </a:solidFill>
          <a:ln w="12700">
            <a:solidFill>
              <a:srgbClr val="0E3B2E"/>
            </a:solidFill>
            <a:prstDash val="solid"/>
          </a:ln>
        </p:spPr>
      </p:sp>
      <p:sp>
        <p:nvSpPr>
          <p:cNvPr id="17" name="Map Makkah"/>
          <p:cNvSpPr/>
          <p:nvPr/>
        </p:nvSpPr>
        <p:spPr>
          <a:xfrm>
            <a:off x="8342071" y="2895082"/>
            <a:ext cx="975619" cy="1250076"/>
          </a:xfrm>
          <a:custGeom>
            <a:avLst/>
            <a:gdLst/>
            <a:ahLst/>
            <a:cxnLst/>
            <a:rect l="l" t="t" r="r" b="b"/>
            <a:pathLst>
              <a:path w="975619" h="1250076">
                <a:moveTo>
                  <a:pt x="647670" y="0"/>
                </a:moveTo>
                <a:lnTo>
                  <a:pt x="600761" y="1234"/>
                </a:lnTo>
                <a:lnTo>
                  <a:pt x="604876" y="46909"/>
                </a:lnTo>
                <a:lnTo>
                  <a:pt x="595000" y="68306"/>
                </a:lnTo>
                <a:lnTo>
                  <a:pt x="507766" y="118095"/>
                </a:lnTo>
                <a:lnTo>
                  <a:pt x="543565" y="147310"/>
                </a:lnTo>
                <a:lnTo>
                  <a:pt x="542742" y="160889"/>
                </a:lnTo>
                <a:lnTo>
                  <a:pt x="496656" y="183932"/>
                </a:lnTo>
                <a:lnTo>
                  <a:pt x="414772" y="255529"/>
                </a:lnTo>
                <a:lnTo>
                  <a:pt x="389672" y="293797"/>
                </a:lnTo>
                <a:lnTo>
                  <a:pt x="341940" y="281452"/>
                </a:lnTo>
                <a:lnTo>
                  <a:pt x="302438" y="311490"/>
                </a:lnTo>
                <a:lnTo>
                  <a:pt x="275692" y="308199"/>
                </a:lnTo>
                <a:lnTo>
                  <a:pt x="274046" y="263347"/>
                </a:lnTo>
                <a:lnTo>
                  <a:pt x="236601" y="241539"/>
                </a:lnTo>
                <a:lnTo>
                  <a:pt x="251003" y="196687"/>
                </a:lnTo>
                <a:lnTo>
                  <a:pt x="243596" y="170353"/>
                </a:lnTo>
                <a:lnTo>
                  <a:pt x="157597" y="190515"/>
                </a:lnTo>
                <a:lnTo>
                  <a:pt x="151013" y="165415"/>
                </a:lnTo>
                <a:lnTo>
                  <a:pt x="105750" y="168295"/>
                </a:lnTo>
                <a:lnTo>
                  <a:pt x="51024" y="106985"/>
                </a:lnTo>
                <a:lnTo>
                  <a:pt x="0" y="112746"/>
                </a:lnTo>
                <a:lnTo>
                  <a:pt x="3703" y="139080"/>
                </a:lnTo>
                <a:lnTo>
                  <a:pt x="24277" y="165826"/>
                </a:lnTo>
                <a:lnTo>
                  <a:pt x="25923" y="200802"/>
                </a:lnTo>
                <a:lnTo>
                  <a:pt x="49378" y="211912"/>
                </a:lnTo>
                <a:lnTo>
                  <a:pt x="59665" y="232075"/>
                </a:lnTo>
                <a:lnTo>
                  <a:pt x="49789" y="234544"/>
                </a:lnTo>
                <a:lnTo>
                  <a:pt x="35799" y="216027"/>
                </a:lnTo>
                <a:lnTo>
                  <a:pt x="67483" y="253883"/>
                </a:lnTo>
                <a:lnTo>
                  <a:pt x="62956" y="260467"/>
                </a:lnTo>
                <a:lnTo>
                  <a:pt x="84765" y="304084"/>
                </a:lnTo>
                <a:lnTo>
                  <a:pt x="80239" y="331653"/>
                </a:lnTo>
                <a:lnTo>
                  <a:pt x="84765" y="339471"/>
                </a:lnTo>
                <a:lnTo>
                  <a:pt x="92994" y="329595"/>
                </a:lnTo>
                <a:lnTo>
                  <a:pt x="73243" y="372801"/>
                </a:lnTo>
                <a:lnTo>
                  <a:pt x="75712" y="402839"/>
                </a:lnTo>
                <a:lnTo>
                  <a:pt x="67894" y="403250"/>
                </a:lnTo>
                <a:lnTo>
                  <a:pt x="66660" y="419298"/>
                </a:lnTo>
                <a:lnTo>
                  <a:pt x="58430" y="419298"/>
                </a:lnTo>
                <a:lnTo>
                  <a:pt x="63368" y="408188"/>
                </a:lnTo>
                <a:lnTo>
                  <a:pt x="51435" y="413537"/>
                </a:lnTo>
                <a:lnTo>
                  <a:pt x="81473" y="478140"/>
                </a:lnTo>
                <a:lnTo>
                  <a:pt x="98755" y="463326"/>
                </a:lnTo>
                <a:lnTo>
                  <a:pt x="81885" y="479374"/>
                </a:lnTo>
                <a:lnTo>
                  <a:pt x="102047" y="542331"/>
                </a:lnTo>
                <a:lnTo>
                  <a:pt x="84353" y="560847"/>
                </a:lnTo>
                <a:lnTo>
                  <a:pt x="116449" y="624215"/>
                </a:lnTo>
                <a:lnTo>
                  <a:pt x="125090" y="645612"/>
                </a:lnTo>
                <a:lnTo>
                  <a:pt x="154305" y="667421"/>
                </a:lnTo>
                <a:lnTo>
                  <a:pt x="147721" y="668655"/>
                </a:lnTo>
                <a:lnTo>
                  <a:pt x="154305" y="684703"/>
                </a:lnTo>
                <a:lnTo>
                  <a:pt x="153071" y="675650"/>
                </a:lnTo>
                <a:lnTo>
                  <a:pt x="162123" y="680176"/>
                </a:lnTo>
                <a:lnTo>
                  <a:pt x="169118" y="706511"/>
                </a:lnTo>
                <a:lnTo>
                  <a:pt x="207797" y="759592"/>
                </a:lnTo>
                <a:lnTo>
                  <a:pt x="250180" y="787984"/>
                </a:lnTo>
                <a:lnTo>
                  <a:pt x="241539" y="778109"/>
                </a:lnTo>
                <a:lnTo>
                  <a:pt x="281864" y="785104"/>
                </a:lnTo>
                <a:lnTo>
                  <a:pt x="316017" y="822137"/>
                </a:lnTo>
                <a:lnTo>
                  <a:pt x="365394" y="850529"/>
                </a:lnTo>
                <a:lnTo>
                  <a:pt x="364983" y="864108"/>
                </a:lnTo>
                <a:lnTo>
                  <a:pt x="386791" y="894146"/>
                </a:lnTo>
                <a:lnTo>
                  <a:pt x="393786" y="896203"/>
                </a:lnTo>
                <a:lnTo>
                  <a:pt x="388437" y="887151"/>
                </a:lnTo>
                <a:lnTo>
                  <a:pt x="407777" y="890854"/>
                </a:lnTo>
                <a:lnTo>
                  <a:pt x="418475" y="914309"/>
                </a:lnTo>
                <a:lnTo>
                  <a:pt x="411891" y="926653"/>
                </a:lnTo>
                <a:lnTo>
                  <a:pt x="448102" y="950930"/>
                </a:lnTo>
                <a:lnTo>
                  <a:pt x="446044" y="982203"/>
                </a:lnTo>
                <a:lnTo>
                  <a:pt x="464149" y="1000719"/>
                </a:lnTo>
                <a:lnTo>
                  <a:pt x="469499" y="1031169"/>
                </a:lnTo>
                <a:lnTo>
                  <a:pt x="486781" y="1038576"/>
                </a:lnTo>
                <a:lnTo>
                  <a:pt x="480609" y="1066556"/>
                </a:lnTo>
                <a:lnTo>
                  <a:pt x="502829" y="1089599"/>
                </a:lnTo>
                <a:lnTo>
                  <a:pt x="495833" y="1119637"/>
                </a:lnTo>
                <a:lnTo>
                  <a:pt x="505297" y="1139800"/>
                </a:lnTo>
                <a:lnTo>
                  <a:pt x="525460" y="1146795"/>
                </a:lnTo>
                <a:lnTo>
                  <a:pt x="540685" y="1167369"/>
                </a:lnTo>
                <a:lnTo>
                  <a:pt x="550972" y="1220450"/>
                </a:lnTo>
                <a:lnTo>
                  <a:pt x="558378" y="1219627"/>
                </a:lnTo>
                <a:lnTo>
                  <a:pt x="569488" y="1250076"/>
                </a:lnTo>
                <a:lnTo>
                  <a:pt x="579775" y="1227856"/>
                </a:lnTo>
                <a:lnTo>
                  <a:pt x="599938" y="1215512"/>
                </a:lnTo>
                <a:lnTo>
                  <a:pt x="614340" y="1165723"/>
                </a:lnTo>
                <a:lnTo>
                  <a:pt x="597469" y="1111407"/>
                </a:lnTo>
                <a:lnTo>
                  <a:pt x="535335" y="1096183"/>
                </a:lnTo>
                <a:lnTo>
                  <a:pt x="531221" y="1024174"/>
                </a:lnTo>
                <a:lnTo>
                  <a:pt x="532867" y="1015121"/>
                </a:lnTo>
                <a:lnTo>
                  <a:pt x="548091" y="1025820"/>
                </a:lnTo>
                <a:lnTo>
                  <a:pt x="574426" y="1007715"/>
                </a:lnTo>
                <a:lnTo>
                  <a:pt x="618043" y="1005246"/>
                </a:lnTo>
                <a:lnTo>
                  <a:pt x="629564" y="969858"/>
                </a:lnTo>
                <a:lnTo>
                  <a:pt x="617220" y="943935"/>
                </a:lnTo>
                <a:lnTo>
                  <a:pt x="623392" y="894146"/>
                </a:lnTo>
                <a:lnTo>
                  <a:pt x="604464" y="882213"/>
                </a:lnTo>
                <a:lnTo>
                  <a:pt x="552206" y="893323"/>
                </a:lnTo>
                <a:lnTo>
                  <a:pt x="524226" y="972327"/>
                </a:lnTo>
                <a:lnTo>
                  <a:pt x="497068" y="978911"/>
                </a:lnTo>
                <a:lnTo>
                  <a:pt x="448102" y="933237"/>
                </a:lnTo>
                <a:lnTo>
                  <a:pt x="446456" y="852998"/>
                </a:lnTo>
                <a:lnTo>
                  <a:pt x="415183" y="825429"/>
                </a:lnTo>
                <a:lnTo>
                  <a:pt x="437815" y="801563"/>
                </a:lnTo>
                <a:lnTo>
                  <a:pt x="481843" y="790453"/>
                </a:lnTo>
                <a:lnTo>
                  <a:pt x="504886" y="742721"/>
                </a:lnTo>
                <a:lnTo>
                  <a:pt x="499125" y="702396"/>
                </a:lnTo>
                <a:lnTo>
                  <a:pt x="510647" y="681822"/>
                </a:lnTo>
                <a:lnTo>
                  <a:pt x="531632" y="683468"/>
                </a:lnTo>
                <a:lnTo>
                  <a:pt x="556732" y="722559"/>
                </a:lnTo>
                <a:lnTo>
                  <a:pt x="645612" y="698693"/>
                </a:lnTo>
                <a:lnTo>
                  <a:pt x="683057" y="762884"/>
                </a:lnTo>
                <a:lnTo>
                  <a:pt x="704042" y="770291"/>
                </a:lnTo>
                <a:lnTo>
                  <a:pt x="834481" y="669889"/>
                </a:lnTo>
                <a:lnTo>
                  <a:pt x="890854" y="657957"/>
                </a:lnTo>
                <a:lnTo>
                  <a:pt x="920481" y="665363"/>
                </a:lnTo>
                <a:lnTo>
                  <a:pt x="975619" y="634914"/>
                </a:lnTo>
                <a:lnTo>
                  <a:pt x="920892" y="548503"/>
                </a:lnTo>
                <a:lnTo>
                  <a:pt x="927887" y="459212"/>
                </a:lnTo>
                <a:lnTo>
                  <a:pt x="944758" y="425882"/>
                </a:lnTo>
                <a:lnTo>
                  <a:pt x="938174" y="305318"/>
                </a:lnTo>
                <a:lnTo>
                  <a:pt x="848883" y="298323"/>
                </a:lnTo>
                <a:lnTo>
                  <a:pt x="841888" y="285156"/>
                </a:lnTo>
                <a:lnTo>
                  <a:pt x="848060" y="237835"/>
                </a:lnTo>
                <a:lnTo>
                  <a:pt x="837773" y="226725"/>
                </a:lnTo>
                <a:lnTo>
                  <a:pt x="740664" y="218496"/>
                </a:lnTo>
                <a:lnTo>
                  <a:pt x="723382" y="209032"/>
                </a:lnTo>
                <a:lnTo>
                  <a:pt x="670712" y="57607"/>
                </a:lnTo>
                <a:lnTo>
                  <a:pt x="647258" y="38679"/>
                </a:lnTo>
                <a:close/>
              </a:path>
            </a:pathLst>
          </a:custGeom>
          <a:solidFill>
            <a:srgbClr val="2E6450"/>
          </a:solidFill>
          <a:ln w="12700">
            <a:solidFill>
              <a:srgbClr val="0E3B2E"/>
            </a:solidFill>
            <a:prstDash val="solid"/>
          </a:ln>
        </p:spPr>
      </p:sp>
      <p:sp>
        <p:nvSpPr>
          <p:cNvPr id="18" name="Map Tabuk"/>
          <p:cNvSpPr/>
          <p:nvPr/>
        </p:nvSpPr>
        <p:spPr>
          <a:xfrm>
            <a:off x="7543800" y="1603035"/>
            <a:ext cx="1060795" cy="1164077"/>
          </a:xfrm>
          <a:custGeom>
            <a:avLst/>
            <a:gdLst/>
            <a:ahLst/>
            <a:cxnLst/>
            <a:rect l="l" t="t" r="r" b="b"/>
            <a:pathLst>
              <a:path w="1060795" h="1164077">
                <a:moveTo>
                  <a:pt x="1017590" y="310667"/>
                </a:moveTo>
                <a:lnTo>
                  <a:pt x="1003600" y="295443"/>
                </a:lnTo>
                <a:lnTo>
                  <a:pt x="924596" y="266639"/>
                </a:lnTo>
                <a:lnTo>
                  <a:pt x="781401" y="163358"/>
                </a:lnTo>
                <a:lnTo>
                  <a:pt x="763707" y="159243"/>
                </a:lnTo>
                <a:lnTo>
                  <a:pt x="711860" y="174056"/>
                </a:lnTo>
                <a:lnTo>
                  <a:pt x="717210" y="144841"/>
                </a:lnTo>
                <a:lnTo>
                  <a:pt x="746013" y="105750"/>
                </a:lnTo>
                <a:lnTo>
                  <a:pt x="653019" y="64602"/>
                </a:lnTo>
                <a:lnTo>
                  <a:pt x="571134" y="0"/>
                </a:lnTo>
                <a:lnTo>
                  <a:pt x="425059" y="27981"/>
                </a:lnTo>
                <a:lnTo>
                  <a:pt x="376504" y="106985"/>
                </a:lnTo>
                <a:lnTo>
                  <a:pt x="292562" y="174468"/>
                </a:lnTo>
                <a:lnTo>
                  <a:pt x="74889" y="137434"/>
                </a:lnTo>
                <a:lnTo>
                  <a:pt x="39091" y="285567"/>
                </a:lnTo>
                <a:lnTo>
                  <a:pt x="45263" y="315605"/>
                </a:lnTo>
                <a:lnTo>
                  <a:pt x="16459" y="392140"/>
                </a:lnTo>
                <a:lnTo>
                  <a:pt x="0" y="408600"/>
                </a:lnTo>
                <a:lnTo>
                  <a:pt x="6995" y="406542"/>
                </a:lnTo>
                <a:lnTo>
                  <a:pt x="9876" y="421767"/>
                </a:lnTo>
                <a:lnTo>
                  <a:pt x="21397" y="398724"/>
                </a:lnTo>
                <a:lnTo>
                  <a:pt x="35387" y="405308"/>
                </a:lnTo>
                <a:lnTo>
                  <a:pt x="32095" y="414360"/>
                </a:lnTo>
                <a:lnTo>
                  <a:pt x="46909" y="403662"/>
                </a:lnTo>
                <a:lnTo>
                  <a:pt x="43205" y="411891"/>
                </a:lnTo>
                <a:lnTo>
                  <a:pt x="53492" y="402839"/>
                </a:lnTo>
                <a:lnTo>
                  <a:pt x="53492" y="411891"/>
                </a:lnTo>
                <a:lnTo>
                  <a:pt x="89703" y="408188"/>
                </a:lnTo>
                <a:lnTo>
                  <a:pt x="85588" y="401193"/>
                </a:lnTo>
                <a:lnTo>
                  <a:pt x="126324" y="417241"/>
                </a:lnTo>
                <a:lnTo>
                  <a:pt x="115214" y="426705"/>
                </a:lnTo>
                <a:lnTo>
                  <a:pt x="167061" y="475259"/>
                </a:lnTo>
                <a:lnTo>
                  <a:pt x="198745" y="548091"/>
                </a:lnTo>
                <a:lnTo>
                  <a:pt x="240716" y="592531"/>
                </a:lnTo>
                <a:lnTo>
                  <a:pt x="239070" y="616397"/>
                </a:lnTo>
                <a:lnTo>
                  <a:pt x="285979" y="662071"/>
                </a:lnTo>
                <a:lnTo>
                  <a:pt x="297500" y="695813"/>
                </a:lnTo>
                <a:lnTo>
                  <a:pt x="324658" y="722147"/>
                </a:lnTo>
                <a:lnTo>
                  <a:pt x="374858" y="829132"/>
                </a:lnTo>
                <a:lnTo>
                  <a:pt x="416418" y="848472"/>
                </a:lnTo>
                <a:lnTo>
                  <a:pt x="404073" y="885916"/>
                </a:lnTo>
                <a:lnTo>
                  <a:pt x="423824" y="910194"/>
                </a:lnTo>
                <a:lnTo>
                  <a:pt x="434523" y="916366"/>
                </a:lnTo>
                <a:lnTo>
                  <a:pt x="438226" y="907313"/>
                </a:lnTo>
                <a:lnTo>
                  <a:pt x="461269" y="929533"/>
                </a:lnTo>
                <a:lnTo>
                  <a:pt x="495010" y="1000719"/>
                </a:lnTo>
                <a:lnTo>
                  <a:pt x="522168" y="1031169"/>
                </a:lnTo>
                <a:lnTo>
                  <a:pt x="525048" y="1096183"/>
                </a:lnTo>
                <a:lnTo>
                  <a:pt x="516819" y="1107293"/>
                </a:lnTo>
                <a:lnTo>
                  <a:pt x="503652" y="1105235"/>
                </a:lnTo>
                <a:lnTo>
                  <a:pt x="518053" y="1111819"/>
                </a:lnTo>
                <a:lnTo>
                  <a:pt x="516407" y="1130336"/>
                </a:lnTo>
                <a:lnTo>
                  <a:pt x="539039" y="1145560"/>
                </a:lnTo>
                <a:lnTo>
                  <a:pt x="546034" y="1164077"/>
                </a:lnTo>
                <a:lnTo>
                  <a:pt x="558790" y="1159962"/>
                </a:lnTo>
                <a:lnTo>
                  <a:pt x="571134" y="1132393"/>
                </a:lnTo>
                <a:lnTo>
                  <a:pt x="623804" y="1143914"/>
                </a:lnTo>
                <a:lnTo>
                  <a:pt x="639028" y="1128278"/>
                </a:lnTo>
                <a:lnTo>
                  <a:pt x="630387" y="1118403"/>
                </a:lnTo>
                <a:lnTo>
                  <a:pt x="675650" y="1117991"/>
                </a:lnTo>
                <a:lnTo>
                  <a:pt x="677296" y="1095771"/>
                </a:lnTo>
                <a:lnTo>
                  <a:pt x="662483" y="1097006"/>
                </a:lnTo>
                <a:lnTo>
                  <a:pt x="644378" y="1069437"/>
                </a:lnTo>
                <a:lnTo>
                  <a:pt x="641497" y="1030757"/>
                </a:lnTo>
                <a:lnTo>
                  <a:pt x="627096" y="1014710"/>
                </a:lnTo>
                <a:lnTo>
                  <a:pt x="614751" y="955868"/>
                </a:lnTo>
                <a:lnTo>
                  <a:pt x="637794" y="920892"/>
                </a:lnTo>
                <a:lnTo>
                  <a:pt x="579364" y="887562"/>
                </a:lnTo>
                <a:lnTo>
                  <a:pt x="574838" y="851764"/>
                </a:lnTo>
                <a:lnTo>
                  <a:pt x="536570" y="805678"/>
                </a:lnTo>
                <a:lnTo>
                  <a:pt x="547268" y="783869"/>
                </a:lnTo>
                <a:lnTo>
                  <a:pt x="513527" y="783458"/>
                </a:lnTo>
                <a:lnTo>
                  <a:pt x="518053" y="759181"/>
                </a:lnTo>
                <a:lnTo>
                  <a:pt x="495422" y="733257"/>
                </a:lnTo>
                <a:lnTo>
                  <a:pt x="500771" y="697870"/>
                </a:lnTo>
                <a:lnTo>
                  <a:pt x="460035" y="674827"/>
                </a:lnTo>
                <a:lnTo>
                  <a:pt x="464561" y="630799"/>
                </a:lnTo>
                <a:lnTo>
                  <a:pt x="426293" y="618454"/>
                </a:lnTo>
                <a:lnTo>
                  <a:pt x="424647" y="581833"/>
                </a:lnTo>
                <a:lnTo>
                  <a:pt x="468676" y="544388"/>
                </a:lnTo>
                <a:lnTo>
                  <a:pt x="526283" y="547268"/>
                </a:lnTo>
                <a:lnTo>
                  <a:pt x="534924" y="562493"/>
                </a:lnTo>
                <a:lnTo>
                  <a:pt x="604464" y="528752"/>
                </a:lnTo>
                <a:lnTo>
                  <a:pt x="628741" y="550972"/>
                </a:lnTo>
                <a:lnTo>
                  <a:pt x="653430" y="555087"/>
                </a:lnTo>
                <a:lnTo>
                  <a:pt x="651373" y="607756"/>
                </a:lnTo>
                <a:lnTo>
                  <a:pt x="692109" y="676473"/>
                </a:lnTo>
                <a:lnTo>
                  <a:pt x="740664" y="685114"/>
                </a:lnTo>
                <a:lnTo>
                  <a:pt x="795391" y="673181"/>
                </a:lnTo>
                <a:lnTo>
                  <a:pt x="937351" y="682234"/>
                </a:lnTo>
                <a:lnTo>
                  <a:pt x="974385" y="657957"/>
                </a:lnTo>
                <a:lnTo>
                  <a:pt x="1016767" y="591297"/>
                </a:lnTo>
                <a:lnTo>
                  <a:pt x="1054212" y="613928"/>
                </a:lnTo>
                <a:lnTo>
                  <a:pt x="1060795" y="604464"/>
                </a:lnTo>
                <a:lnTo>
                  <a:pt x="1025820" y="477317"/>
                </a:lnTo>
                <a:lnTo>
                  <a:pt x="935294" y="422178"/>
                </a:lnTo>
                <a:lnTo>
                  <a:pt x="952165" y="387203"/>
                </a:lnTo>
                <a:close/>
              </a:path>
            </a:pathLst>
          </a:custGeom>
          <a:solidFill>
            <a:srgbClr val="F2B5B1"/>
          </a:solidFill>
          <a:ln w="12700">
            <a:solidFill>
              <a:srgbClr val="0E3B2E"/>
            </a:solidFill>
            <a:prstDash val="solid"/>
          </a:ln>
        </p:spPr>
      </p:sp>
      <p:sp>
        <p:nvSpPr>
          <p:cNvPr id="19" name="Map Madinah"/>
          <p:cNvSpPr/>
          <p:nvPr/>
        </p:nvSpPr>
        <p:spPr>
          <a:xfrm>
            <a:off x="7968447" y="2131375"/>
            <a:ext cx="1050920" cy="1075609"/>
          </a:xfrm>
          <a:custGeom>
            <a:avLst/>
            <a:gdLst/>
            <a:ahLst/>
            <a:cxnLst/>
            <a:rect l="l" t="t" r="r" b="b"/>
            <a:pathLst>
              <a:path w="1050920" h="1075609">
                <a:moveTo>
                  <a:pt x="536570" y="142372"/>
                </a:moveTo>
                <a:lnTo>
                  <a:pt x="505709" y="154716"/>
                </a:lnTo>
                <a:lnTo>
                  <a:pt x="370743" y="144841"/>
                </a:lnTo>
                <a:lnTo>
                  <a:pt x="316017" y="156774"/>
                </a:lnTo>
                <a:lnTo>
                  <a:pt x="267462" y="148133"/>
                </a:lnTo>
                <a:lnTo>
                  <a:pt x="226725" y="79416"/>
                </a:lnTo>
                <a:lnTo>
                  <a:pt x="228783" y="26746"/>
                </a:lnTo>
                <a:lnTo>
                  <a:pt x="204094" y="22631"/>
                </a:lnTo>
                <a:lnTo>
                  <a:pt x="177348" y="0"/>
                </a:lnTo>
                <a:lnTo>
                  <a:pt x="149779" y="21397"/>
                </a:lnTo>
                <a:lnTo>
                  <a:pt x="110277" y="34153"/>
                </a:lnTo>
                <a:lnTo>
                  <a:pt x="101636" y="18928"/>
                </a:lnTo>
                <a:lnTo>
                  <a:pt x="44028" y="16048"/>
                </a:lnTo>
                <a:lnTo>
                  <a:pt x="0" y="53492"/>
                </a:lnTo>
                <a:lnTo>
                  <a:pt x="1646" y="90114"/>
                </a:lnTo>
                <a:lnTo>
                  <a:pt x="39914" y="102459"/>
                </a:lnTo>
                <a:lnTo>
                  <a:pt x="35387" y="146487"/>
                </a:lnTo>
                <a:lnTo>
                  <a:pt x="76124" y="169530"/>
                </a:lnTo>
                <a:lnTo>
                  <a:pt x="70775" y="204917"/>
                </a:lnTo>
                <a:lnTo>
                  <a:pt x="93406" y="230840"/>
                </a:lnTo>
                <a:lnTo>
                  <a:pt x="88880" y="255118"/>
                </a:lnTo>
                <a:lnTo>
                  <a:pt x="122621" y="255529"/>
                </a:lnTo>
                <a:lnTo>
                  <a:pt x="111923" y="277338"/>
                </a:lnTo>
                <a:lnTo>
                  <a:pt x="150190" y="323423"/>
                </a:lnTo>
                <a:lnTo>
                  <a:pt x="154716" y="359222"/>
                </a:lnTo>
                <a:lnTo>
                  <a:pt x="213147" y="392552"/>
                </a:lnTo>
                <a:lnTo>
                  <a:pt x="190104" y="423413"/>
                </a:lnTo>
                <a:lnTo>
                  <a:pt x="201625" y="483078"/>
                </a:lnTo>
                <a:lnTo>
                  <a:pt x="216850" y="502417"/>
                </a:lnTo>
                <a:lnTo>
                  <a:pt x="219730" y="541096"/>
                </a:lnTo>
                <a:lnTo>
                  <a:pt x="237835" y="568665"/>
                </a:lnTo>
                <a:lnTo>
                  <a:pt x="253472" y="569488"/>
                </a:lnTo>
                <a:lnTo>
                  <a:pt x="249768" y="590474"/>
                </a:lnTo>
                <a:lnTo>
                  <a:pt x="227960" y="583479"/>
                </a:lnTo>
                <a:lnTo>
                  <a:pt x="204506" y="590885"/>
                </a:lnTo>
                <a:lnTo>
                  <a:pt x="214381" y="599938"/>
                </a:lnTo>
                <a:lnTo>
                  <a:pt x="202037" y="615163"/>
                </a:lnTo>
                <a:lnTo>
                  <a:pt x="145252" y="604876"/>
                </a:lnTo>
                <a:lnTo>
                  <a:pt x="123855" y="638617"/>
                </a:lnTo>
                <a:lnTo>
                  <a:pt x="138669" y="659602"/>
                </a:lnTo>
                <a:lnTo>
                  <a:pt x="132085" y="674004"/>
                </a:lnTo>
                <a:lnTo>
                  <a:pt x="160889" y="700339"/>
                </a:lnTo>
                <a:lnTo>
                  <a:pt x="183520" y="688818"/>
                </a:lnTo>
                <a:lnTo>
                  <a:pt x="217261" y="720501"/>
                </a:lnTo>
                <a:lnTo>
                  <a:pt x="230017" y="721736"/>
                </a:lnTo>
                <a:lnTo>
                  <a:pt x="226314" y="710626"/>
                </a:lnTo>
                <a:lnTo>
                  <a:pt x="234132" y="708157"/>
                </a:lnTo>
                <a:lnTo>
                  <a:pt x="230840" y="717621"/>
                </a:lnTo>
                <a:lnTo>
                  <a:pt x="241950" y="719267"/>
                </a:lnTo>
                <a:lnTo>
                  <a:pt x="230840" y="722147"/>
                </a:lnTo>
                <a:lnTo>
                  <a:pt x="262936" y="740664"/>
                </a:lnTo>
                <a:lnTo>
                  <a:pt x="334122" y="799917"/>
                </a:lnTo>
                <a:lnTo>
                  <a:pt x="349758" y="851352"/>
                </a:lnTo>
                <a:lnTo>
                  <a:pt x="360045" y="852998"/>
                </a:lnTo>
                <a:lnTo>
                  <a:pt x="352227" y="846003"/>
                </a:lnTo>
                <a:lnTo>
                  <a:pt x="361691" y="844357"/>
                </a:lnTo>
                <a:lnTo>
                  <a:pt x="371566" y="876452"/>
                </a:lnTo>
                <a:lnTo>
                  <a:pt x="424647" y="870692"/>
                </a:lnTo>
                <a:lnTo>
                  <a:pt x="479374" y="932002"/>
                </a:lnTo>
                <a:lnTo>
                  <a:pt x="524637" y="929122"/>
                </a:lnTo>
                <a:lnTo>
                  <a:pt x="531221" y="954222"/>
                </a:lnTo>
                <a:lnTo>
                  <a:pt x="617220" y="934060"/>
                </a:lnTo>
                <a:lnTo>
                  <a:pt x="624627" y="960394"/>
                </a:lnTo>
                <a:lnTo>
                  <a:pt x="610225" y="1005246"/>
                </a:lnTo>
                <a:lnTo>
                  <a:pt x="644378" y="1022939"/>
                </a:lnTo>
                <a:lnTo>
                  <a:pt x="645612" y="1067379"/>
                </a:lnTo>
                <a:lnTo>
                  <a:pt x="671535" y="1075609"/>
                </a:lnTo>
                <a:lnTo>
                  <a:pt x="715564" y="1045159"/>
                </a:lnTo>
                <a:lnTo>
                  <a:pt x="763295" y="1057504"/>
                </a:lnTo>
                <a:lnTo>
                  <a:pt x="788396" y="1019236"/>
                </a:lnTo>
                <a:lnTo>
                  <a:pt x="870280" y="947638"/>
                </a:lnTo>
                <a:lnTo>
                  <a:pt x="916366" y="924596"/>
                </a:lnTo>
                <a:lnTo>
                  <a:pt x="917189" y="911017"/>
                </a:lnTo>
                <a:lnTo>
                  <a:pt x="881390" y="881802"/>
                </a:lnTo>
                <a:lnTo>
                  <a:pt x="968624" y="832013"/>
                </a:lnTo>
                <a:lnTo>
                  <a:pt x="978499" y="810616"/>
                </a:lnTo>
                <a:lnTo>
                  <a:pt x="974385" y="764941"/>
                </a:lnTo>
                <a:lnTo>
                  <a:pt x="1021293" y="763707"/>
                </a:lnTo>
                <a:lnTo>
                  <a:pt x="1023762" y="664129"/>
                </a:lnTo>
                <a:lnTo>
                  <a:pt x="1041867" y="636971"/>
                </a:lnTo>
                <a:lnTo>
                  <a:pt x="1050920" y="571134"/>
                </a:lnTo>
                <a:lnTo>
                  <a:pt x="965744" y="501183"/>
                </a:lnTo>
                <a:lnTo>
                  <a:pt x="952165" y="478963"/>
                </a:lnTo>
                <a:lnTo>
                  <a:pt x="913486" y="462915"/>
                </a:lnTo>
                <a:lnTo>
                  <a:pt x="905667" y="441930"/>
                </a:lnTo>
                <a:lnTo>
                  <a:pt x="862874" y="434934"/>
                </a:lnTo>
                <a:lnTo>
                  <a:pt x="841477" y="418064"/>
                </a:lnTo>
                <a:lnTo>
                  <a:pt x="795802" y="419298"/>
                </a:lnTo>
                <a:lnTo>
                  <a:pt x="773171" y="450159"/>
                </a:lnTo>
                <a:lnTo>
                  <a:pt x="732846" y="446044"/>
                </a:lnTo>
                <a:lnTo>
                  <a:pt x="722559" y="477317"/>
                </a:lnTo>
                <a:lnTo>
                  <a:pt x="636560" y="457566"/>
                </a:lnTo>
                <a:lnTo>
                  <a:pt x="625861" y="427116"/>
                </a:lnTo>
                <a:lnTo>
                  <a:pt x="626273" y="293797"/>
                </a:lnTo>
                <a:lnTo>
                  <a:pt x="611871" y="269519"/>
                </a:lnTo>
                <a:lnTo>
                  <a:pt x="611459" y="241127"/>
                </a:lnTo>
                <a:lnTo>
                  <a:pt x="567431" y="169941"/>
                </a:lnTo>
                <a:lnTo>
                  <a:pt x="537804" y="164181"/>
                </a:lnTo>
                <a:close/>
              </a:path>
            </a:pathLst>
          </a:custGeom>
          <a:solidFill>
            <a:srgbClr val="2E6450"/>
          </a:solidFill>
          <a:ln w="12700">
            <a:solidFill>
              <a:srgbClr val="0E3B2E"/>
            </a:solidFill>
            <a:prstDash val="solid"/>
          </a:ln>
        </p:spPr>
      </p:sp>
      <p:sp>
        <p:nvSpPr>
          <p:cNvPr id="20" name="Map Qassim"/>
          <p:cNvSpPr/>
          <p:nvPr/>
        </p:nvSpPr>
        <p:spPr>
          <a:xfrm>
            <a:off x="8843665" y="2006697"/>
            <a:ext cx="713506" cy="782635"/>
          </a:xfrm>
          <a:custGeom>
            <a:avLst/>
            <a:gdLst/>
            <a:ahLst/>
            <a:cxnLst/>
            <a:rect l="l" t="t" r="r" b="b"/>
            <a:pathLst>
              <a:path w="713506" h="782635">
                <a:moveTo>
                  <a:pt x="525048" y="0"/>
                </a:moveTo>
                <a:lnTo>
                  <a:pt x="486781" y="34976"/>
                </a:lnTo>
                <a:lnTo>
                  <a:pt x="483489" y="126736"/>
                </a:lnTo>
                <a:lnTo>
                  <a:pt x="425059" y="131262"/>
                </a:lnTo>
                <a:lnTo>
                  <a:pt x="418475" y="144841"/>
                </a:lnTo>
                <a:lnTo>
                  <a:pt x="399959" y="148544"/>
                </a:lnTo>
                <a:lnTo>
                  <a:pt x="395844" y="170353"/>
                </a:lnTo>
                <a:lnTo>
                  <a:pt x="409834" y="183520"/>
                </a:lnTo>
                <a:lnTo>
                  <a:pt x="385557" y="192161"/>
                </a:lnTo>
                <a:lnTo>
                  <a:pt x="385968" y="211501"/>
                </a:lnTo>
                <a:lnTo>
                  <a:pt x="366629" y="245654"/>
                </a:lnTo>
                <a:lnTo>
                  <a:pt x="346055" y="262936"/>
                </a:lnTo>
                <a:lnTo>
                  <a:pt x="332064" y="254295"/>
                </a:lnTo>
                <a:lnTo>
                  <a:pt x="287625" y="274869"/>
                </a:lnTo>
                <a:lnTo>
                  <a:pt x="288036" y="290916"/>
                </a:lnTo>
                <a:lnTo>
                  <a:pt x="269519" y="319720"/>
                </a:lnTo>
                <a:lnTo>
                  <a:pt x="227960" y="340294"/>
                </a:lnTo>
                <a:lnTo>
                  <a:pt x="218907" y="360456"/>
                </a:lnTo>
                <a:lnTo>
                  <a:pt x="214793" y="348935"/>
                </a:lnTo>
                <a:lnTo>
                  <a:pt x="203271" y="350581"/>
                </a:lnTo>
                <a:lnTo>
                  <a:pt x="180640" y="376916"/>
                </a:lnTo>
                <a:lnTo>
                  <a:pt x="188046" y="399547"/>
                </a:lnTo>
                <a:lnTo>
                  <a:pt x="180228" y="417241"/>
                </a:lnTo>
                <a:lnTo>
                  <a:pt x="162535" y="411891"/>
                </a:lnTo>
                <a:lnTo>
                  <a:pt x="138669" y="429997"/>
                </a:lnTo>
                <a:lnTo>
                  <a:pt x="133731" y="460446"/>
                </a:lnTo>
                <a:lnTo>
                  <a:pt x="114803" y="457566"/>
                </a:lnTo>
                <a:lnTo>
                  <a:pt x="113157" y="475671"/>
                </a:lnTo>
                <a:lnTo>
                  <a:pt x="85999" y="509412"/>
                </a:lnTo>
                <a:lnTo>
                  <a:pt x="39091" y="509824"/>
                </a:lnTo>
                <a:lnTo>
                  <a:pt x="0" y="561670"/>
                </a:lnTo>
                <a:lnTo>
                  <a:pt x="30450" y="566608"/>
                </a:lnTo>
                <a:lnTo>
                  <a:pt x="38268" y="587593"/>
                </a:lnTo>
                <a:lnTo>
                  <a:pt x="69952" y="598292"/>
                </a:lnTo>
                <a:lnTo>
                  <a:pt x="125090" y="648904"/>
                </a:lnTo>
                <a:lnTo>
                  <a:pt x="175702" y="695813"/>
                </a:lnTo>
                <a:lnTo>
                  <a:pt x="174056" y="726674"/>
                </a:lnTo>
                <a:lnTo>
                  <a:pt x="233309" y="728320"/>
                </a:lnTo>
                <a:lnTo>
                  <a:pt x="258821" y="782635"/>
                </a:lnTo>
                <a:lnTo>
                  <a:pt x="302026" y="782635"/>
                </a:lnTo>
                <a:lnTo>
                  <a:pt x="316428" y="763707"/>
                </a:lnTo>
                <a:lnTo>
                  <a:pt x="357165" y="767410"/>
                </a:lnTo>
                <a:lnTo>
                  <a:pt x="367452" y="758769"/>
                </a:lnTo>
                <a:lnTo>
                  <a:pt x="384734" y="721736"/>
                </a:lnTo>
                <a:lnTo>
                  <a:pt x="362102" y="717621"/>
                </a:lnTo>
                <a:lnTo>
                  <a:pt x="374858" y="708980"/>
                </a:lnTo>
                <a:lnTo>
                  <a:pt x="366217" y="697870"/>
                </a:lnTo>
                <a:lnTo>
                  <a:pt x="386791" y="680999"/>
                </a:lnTo>
                <a:lnTo>
                  <a:pt x="364160" y="685526"/>
                </a:lnTo>
                <a:lnTo>
                  <a:pt x="363748" y="676473"/>
                </a:lnTo>
                <a:lnTo>
                  <a:pt x="371566" y="661660"/>
                </a:lnTo>
                <a:lnTo>
                  <a:pt x="395432" y="660837"/>
                </a:lnTo>
                <a:lnTo>
                  <a:pt x="432465" y="620100"/>
                </a:lnTo>
                <a:lnTo>
                  <a:pt x="478140" y="624627"/>
                </a:lnTo>
                <a:lnTo>
                  <a:pt x="487192" y="597469"/>
                </a:lnTo>
                <a:lnTo>
                  <a:pt x="533278" y="592120"/>
                </a:lnTo>
                <a:lnTo>
                  <a:pt x="549737" y="568254"/>
                </a:lnTo>
                <a:lnTo>
                  <a:pt x="611871" y="550560"/>
                </a:lnTo>
                <a:lnTo>
                  <a:pt x="627918" y="533690"/>
                </a:lnTo>
                <a:lnTo>
                  <a:pt x="678942" y="555909"/>
                </a:lnTo>
                <a:lnTo>
                  <a:pt x="693755" y="514350"/>
                </a:lnTo>
                <a:lnTo>
                  <a:pt x="664540" y="494187"/>
                </a:lnTo>
                <a:lnTo>
                  <a:pt x="637794" y="435757"/>
                </a:lnTo>
                <a:lnTo>
                  <a:pt x="614751" y="296266"/>
                </a:lnTo>
                <a:lnTo>
                  <a:pt x="620100" y="245242"/>
                </a:lnTo>
                <a:lnTo>
                  <a:pt x="629153" y="236601"/>
                </a:lnTo>
                <a:lnTo>
                  <a:pt x="676885" y="227548"/>
                </a:lnTo>
                <a:lnTo>
                  <a:pt x="713506" y="251826"/>
                </a:lnTo>
                <a:lnTo>
                  <a:pt x="709803" y="173233"/>
                </a:lnTo>
                <a:lnTo>
                  <a:pt x="632445" y="67071"/>
                </a:lnTo>
                <a:lnTo>
                  <a:pt x="571134" y="30038"/>
                </a:lnTo>
                <a:lnTo>
                  <a:pt x="532044" y="44440"/>
                </a:lnTo>
                <a:lnTo>
                  <a:pt x="521345" y="33330"/>
                </a:lnTo>
                <a:close/>
              </a:path>
            </a:pathLst>
          </a:custGeom>
          <a:solidFill>
            <a:srgbClr val="2E6450"/>
          </a:solidFill>
          <a:ln w="12700">
            <a:solidFill>
              <a:srgbClr val="0E3B2E"/>
            </a:solidFill>
            <a:prstDash val="solid"/>
          </a:ln>
        </p:spPr>
      </p:sp>
      <p:sp>
        <p:nvSpPr>
          <p:cNvPr id="21" name="Map Al-Baha"/>
          <p:cNvSpPr/>
          <p:nvPr/>
        </p:nvSpPr>
        <p:spPr>
          <a:xfrm>
            <a:off x="8757255" y="3576904"/>
            <a:ext cx="241539" cy="297089"/>
          </a:xfrm>
          <a:custGeom>
            <a:avLst/>
            <a:gdLst/>
            <a:ahLst/>
            <a:cxnLst/>
            <a:rect l="l" t="t" r="r" b="b"/>
            <a:pathLst>
              <a:path w="241539" h="297089">
                <a:moveTo>
                  <a:pt x="241539" y="27981"/>
                </a:moveTo>
                <a:lnTo>
                  <a:pt x="221788" y="15636"/>
                </a:lnTo>
                <a:lnTo>
                  <a:pt x="141549" y="40737"/>
                </a:lnTo>
                <a:lnTo>
                  <a:pt x="116449" y="1646"/>
                </a:lnTo>
                <a:lnTo>
                  <a:pt x="95463" y="0"/>
                </a:lnTo>
                <a:lnTo>
                  <a:pt x="83942" y="20574"/>
                </a:lnTo>
                <a:lnTo>
                  <a:pt x="89703" y="60899"/>
                </a:lnTo>
                <a:lnTo>
                  <a:pt x="66660" y="108631"/>
                </a:lnTo>
                <a:lnTo>
                  <a:pt x="22631" y="119741"/>
                </a:lnTo>
                <a:lnTo>
                  <a:pt x="0" y="143607"/>
                </a:lnTo>
                <a:lnTo>
                  <a:pt x="4938" y="155951"/>
                </a:lnTo>
                <a:lnTo>
                  <a:pt x="29215" y="166649"/>
                </a:lnTo>
                <a:lnTo>
                  <a:pt x="29627" y="206974"/>
                </a:lnTo>
                <a:lnTo>
                  <a:pt x="35799" y="256352"/>
                </a:lnTo>
                <a:lnTo>
                  <a:pt x="81885" y="297089"/>
                </a:lnTo>
                <a:lnTo>
                  <a:pt x="109042" y="290505"/>
                </a:lnTo>
                <a:lnTo>
                  <a:pt x="134142" y="215616"/>
                </a:lnTo>
                <a:lnTo>
                  <a:pt x="176113" y="205740"/>
                </a:lnTo>
                <a:lnTo>
                  <a:pt x="200391" y="153894"/>
                </a:lnTo>
                <a:lnTo>
                  <a:pt x="204094" y="122621"/>
                </a:lnTo>
                <a:lnTo>
                  <a:pt x="241127" y="95463"/>
                </a:lnTo>
                <a:lnTo>
                  <a:pt x="229194" y="65425"/>
                </a:lnTo>
                <a:close/>
              </a:path>
            </a:pathLst>
          </a:custGeom>
          <a:solidFill>
            <a:srgbClr val="E15759"/>
          </a:solidFill>
          <a:ln w="12700">
            <a:solidFill>
              <a:srgbClr val="0E3B2E"/>
            </a:solidFill>
            <a:prstDash val="solid"/>
          </a:ln>
        </p:spPr>
      </p:sp>
      <p:sp>
        <p:nvSpPr>
          <p:cNvPr id="22" name="Map Jazan"/>
          <p:cNvSpPr/>
          <p:nvPr/>
        </p:nvSpPr>
        <p:spPr>
          <a:xfrm>
            <a:off x="8911560" y="4098661"/>
            <a:ext cx="341528" cy="408600"/>
          </a:xfrm>
          <a:custGeom>
            <a:avLst/>
            <a:gdLst/>
            <a:ahLst/>
            <a:cxnLst/>
            <a:rect l="l" t="t" r="r" b="b"/>
            <a:pathLst>
              <a:path w="341528" h="408600">
                <a:moveTo>
                  <a:pt x="32918" y="304084"/>
                </a:moveTo>
                <a:lnTo>
                  <a:pt x="36622" y="321777"/>
                </a:lnTo>
                <a:lnTo>
                  <a:pt x="55961" y="338648"/>
                </a:lnTo>
                <a:lnTo>
                  <a:pt x="76124" y="351404"/>
                </a:lnTo>
                <a:lnTo>
                  <a:pt x="100813" y="347701"/>
                </a:lnTo>
                <a:lnTo>
                  <a:pt x="95052" y="359222"/>
                </a:lnTo>
                <a:lnTo>
                  <a:pt x="111923" y="369921"/>
                </a:lnTo>
                <a:lnTo>
                  <a:pt x="118506" y="342351"/>
                </a:lnTo>
                <a:lnTo>
                  <a:pt x="112334" y="346466"/>
                </a:lnTo>
                <a:lnTo>
                  <a:pt x="116037" y="339882"/>
                </a:lnTo>
                <a:lnTo>
                  <a:pt x="106162" y="334945"/>
                </a:lnTo>
                <a:lnTo>
                  <a:pt x="97521" y="318897"/>
                </a:lnTo>
                <a:lnTo>
                  <a:pt x="87234" y="333710"/>
                </a:lnTo>
                <a:lnTo>
                  <a:pt x="94640" y="341528"/>
                </a:lnTo>
                <a:lnTo>
                  <a:pt x="62133" y="334122"/>
                </a:lnTo>
                <a:lnTo>
                  <a:pt x="52669" y="313959"/>
                </a:lnTo>
                <a:close/>
                <a:moveTo>
                  <a:pt x="36210" y="0"/>
                </a:moveTo>
                <a:lnTo>
                  <a:pt x="0" y="46909"/>
                </a:lnTo>
                <a:lnTo>
                  <a:pt x="10287" y="67071"/>
                </a:lnTo>
                <a:lnTo>
                  <a:pt x="16459" y="63368"/>
                </a:lnTo>
                <a:lnTo>
                  <a:pt x="36622" y="101636"/>
                </a:lnTo>
                <a:lnTo>
                  <a:pt x="59665" y="108219"/>
                </a:lnTo>
                <a:lnTo>
                  <a:pt x="141549" y="185166"/>
                </a:lnTo>
                <a:lnTo>
                  <a:pt x="153482" y="277338"/>
                </a:lnTo>
                <a:lnTo>
                  <a:pt x="151013" y="239893"/>
                </a:lnTo>
                <a:lnTo>
                  <a:pt x="178582" y="271577"/>
                </a:lnTo>
                <a:lnTo>
                  <a:pt x="189281" y="279806"/>
                </a:lnTo>
                <a:lnTo>
                  <a:pt x="183520" y="305318"/>
                </a:lnTo>
                <a:lnTo>
                  <a:pt x="212735" y="326304"/>
                </a:lnTo>
                <a:lnTo>
                  <a:pt x="224668" y="350169"/>
                </a:lnTo>
                <a:lnTo>
                  <a:pt x="227960" y="406131"/>
                </a:lnTo>
                <a:lnTo>
                  <a:pt x="265816" y="408600"/>
                </a:lnTo>
                <a:lnTo>
                  <a:pt x="266228" y="388026"/>
                </a:lnTo>
                <a:lnTo>
                  <a:pt x="298734" y="380619"/>
                </a:lnTo>
                <a:lnTo>
                  <a:pt x="304084" y="349347"/>
                </a:lnTo>
                <a:lnTo>
                  <a:pt x="321777" y="355107"/>
                </a:lnTo>
                <a:lnTo>
                  <a:pt x="317251" y="342351"/>
                </a:lnTo>
                <a:lnTo>
                  <a:pt x="327950" y="324246"/>
                </a:lnTo>
                <a:lnTo>
                  <a:pt x="302849" y="297912"/>
                </a:lnTo>
                <a:lnTo>
                  <a:pt x="313959" y="292151"/>
                </a:lnTo>
                <a:lnTo>
                  <a:pt x="311079" y="273634"/>
                </a:lnTo>
                <a:lnTo>
                  <a:pt x="324658" y="277338"/>
                </a:lnTo>
                <a:lnTo>
                  <a:pt x="320131" y="264170"/>
                </a:lnTo>
                <a:lnTo>
                  <a:pt x="307376" y="261701"/>
                </a:lnTo>
                <a:lnTo>
                  <a:pt x="315605" y="225080"/>
                </a:lnTo>
                <a:lnTo>
                  <a:pt x="341528" y="215616"/>
                </a:lnTo>
                <a:lnTo>
                  <a:pt x="320543" y="198333"/>
                </a:lnTo>
                <a:lnTo>
                  <a:pt x="323012" y="177759"/>
                </a:lnTo>
                <a:lnTo>
                  <a:pt x="338648" y="166649"/>
                </a:lnTo>
                <a:lnTo>
                  <a:pt x="264582" y="97521"/>
                </a:lnTo>
                <a:lnTo>
                  <a:pt x="260055" y="64602"/>
                </a:lnTo>
                <a:lnTo>
                  <a:pt x="231252" y="82707"/>
                </a:lnTo>
                <a:lnTo>
                  <a:pt x="214793" y="135377"/>
                </a:lnTo>
                <a:lnTo>
                  <a:pt x="203683" y="139903"/>
                </a:lnTo>
                <a:lnTo>
                  <a:pt x="160477" y="88057"/>
                </a:lnTo>
                <a:lnTo>
                  <a:pt x="113568" y="85588"/>
                </a:lnTo>
                <a:lnTo>
                  <a:pt x="98344" y="56784"/>
                </a:lnTo>
                <a:lnTo>
                  <a:pt x="65425" y="55138"/>
                </a:lnTo>
                <a:lnTo>
                  <a:pt x="68717" y="3292"/>
                </a:lnTo>
                <a:close/>
              </a:path>
            </a:pathLst>
          </a:custGeom>
          <a:solidFill>
            <a:srgbClr val="E15759"/>
          </a:solidFill>
          <a:ln w="12700">
            <a:solidFill>
              <a:srgbClr val="0E3B2E"/>
            </a:solidFill>
            <a:prstDash val="solid"/>
          </a:ln>
        </p:spPr>
      </p:sp>
      <p:sp>
        <p:nvSpPr>
          <p:cNvPr id="23" name="Map Al-Jouf"/>
          <p:cNvSpPr/>
          <p:nvPr/>
        </p:nvSpPr>
        <p:spPr>
          <a:xfrm>
            <a:off x="8017413" y="1230234"/>
            <a:ext cx="970681" cy="683468"/>
          </a:xfrm>
          <a:custGeom>
            <a:avLst/>
            <a:gdLst/>
            <a:ahLst/>
            <a:cxnLst/>
            <a:rect l="l" t="t" r="r" b="b"/>
            <a:pathLst>
              <a:path w="970681" h="683468">
                <a:moveTo>
                  <a:pt x="188046" y="0"/>
                </a:moveTo>
                <a:lnTo>
                  <a:pt x="0" y="52669"/>
                </a:lnTo>
                <a:lnTo>
                  <a:pt x="194219" y="265816"/>
                </a:lnTo>
                <a:lnTo>
                  <a:pt x="129616" y="301615"/>
                </a:lnTo>
                <a:lnTo>
                  <a:pt x="97521" y="372801"/>
                </a:lnTo>
                <a:lnTo>
                  <a:pt x="179405" y="437403"/>
                </a:lnTo>
                <a:lnTo>
                  <a:pt x="272400" y="478551"/>
                </a:lnTo>
                <a:lnTo>
                  <a:pt x="243596" y="517642"/>
                </a:lnTo>
                <a:lnTo>
                  <a:pt x="238247" y="546857"/>
                </a:lnTo>
                <a:lnTo>
                  <a:pt x="290093" y="532044"/>
                </a:lnTo>
                <a:lnTo>
                  <a:pt x="307787" y="536158"/>
                </a:lnTo>
                <a:lnTo>
                  <a:pt x="450982" y="639440"/>
                </a:lnTo>
                <a:lnTo>
                  <a:pt x="529986" y="668244"/>
                </a:lnTo>
                <a:lnTo>
                  <a:pt x="543977" y="683468"/>
                </a:lnTo>
                <a:lnTo>
                  <a:pt x="689640" y="610636"/>
                </a:lnTo>
                <a:lnTo>
                  <a:pt x="848060" y="613517"/>
                </a:lnTo>
                <a:lnTo>
                  <a:pt x="861228" y="563728"/>
                </a:lnTo>
                <a:lnTo>
                  <a:pt x="898672" y="556321"/>
                </a:lnTo>
                <a:lnTo>
                  <a:pt x="879744" y="469087"/>
                </a:lnTo>
                <a:lnTo>
                  <a:pt x="862462" y="472791"/>
                </a:lnTo>
                <a:lnTo>
                  <a:pt x="858347" y="414772"/>
                </a:lnTo>
                <a:lnTo>
                  <a:pt x="878098" y="411480"/>
                </a:lnTo>
                <a:lnTo>
                  <a:pt x="895792" y="390083"/>
                </a:lnTo>
                <a:lnTo>
                  <a:pt x="926241" y="392140"/>
                </a:lnTo>
                <a:lnTo>
                  <a:pt x="934060" y="367863"/>
                </a:lnTo>
                <a:lnTo>
                  <a:pt x="970681" y="353873"/>
                </a:lnTo>
                <a:lnTo>
                  <a:pt x="915954" y="300792"/>
                </a:lnTo>
                <a:lnTo>
                  <a:pt x="890854" y="293385"/>
                </a:lnTo>
                <a:lnTo>
                  <a:pt x="903610" y="261701"/>
                </a:lnTo>
                <a:lnTo>
                  <a:pt x="863697" y="247299"/>
                </a:lnTo>
                <a:lnTo>
                  <a:pt x="818434" y="249357"/>
                </a:lnTo>
                <a:lnTo>
                  <a:pt x="801975" y="263759"/>
                </a:lnTo>
                <a:lnTo>
                  <a:pt x="799506" y="216850"/>
                </a:lnTo>
                <a:lnTo>
                  <a:pt x="782223" y="210266"/>
                </a:lnTo>
                <a:lnTo>
                  <a:pt x="719267" y="215204"/>
                </a:lnTo>
                <a:lnTo>
                  <a:pt x="643143" y="196687"/>
                </a:lnTo>
                <a:lnTo>
                  <a:pt x="623804" y="213147"/>
                </a:lnTo>
                <a:lnTo>
                  <a:pt x="603230" y="216027"/>
                </a:lnTo>
                <a:lnTo>
                  <a:pt x="559201" y="182697"/>
                </a:lnTo>
                <a:lnTo>
                  <a:pt x="536981" y="190515"/>
                </a:lnTo>
                <a:lnTo>
                  <a:pt x="516407" y="177348"/>
                </a:lnTo>
                <a:lnTo>
                  <a:pt x="470733" y="182286"/>
                </a:lnTo>
                <a:lnTo>
                  <a:pt x="430408" y="165826"/>
                </a:lnTo>
                <a:lnTo>
                  <a:pt x="385968" y="166238"/>
                </a:lnTo>
                <a:lnTo>
                  <a:pt x="349347" y="184343"/>
                </a:lnTo>
                <a:lnTo>
                  <a:pt x="337825" y="174056"/>
                </a:lnTo>
                <a:lnTo>
                  <a:pt x="303672" y="173233"/>
                </a:lnTo>
                <a:lnTo>
                  <a:pt x="232486" y="189281"/>
                </a:lnTo>
                <a:lnTo>
                  <a:pt x="225080" y="140315"/>
                </a:lnTo>
                <a:lnTo>
                  <a:pt x="209443" y="137023"/>
                </a:lnTo>
                <a:lnTo>
                  <a:pt x="213558" y="124678"/>
                </a:lnTo>
                <a:lnTo>
                  <a:pt x="173233" y="113568"/>
                </a:lnTo>
                <a:lnTo>
                  <a:pt x="187223" y="79004"/>
                </a:lnTo>
                <a:close/>
              </a:path>
            </a:pathLst>
          </a:custGeom>
          <a:solidFill>
            <a:srgbClr val="F2B5B1"/>
          </a:solidFill>
          <a:ln w="12700">
            <a:solidFill>
              <a:srgbClr val="0E3B2E"/>
            </a:solidFill>
            <a:prstDash val="solid"/>
          </a:ln>
        </p:spPr>
      </p:sp>
      <p:sp>
        <p:nvSpPr>
          <p:cNvPr id="24" name="Label Northern Borders"/>
          <p:cNvSpPr txBox="1"/>
          <p:nvPr/>
        </p:nvSpPr>
        <p:spPr>
          <a:xfrm>
            <a:off x="8183651" y="850392"/>
            <a:ext cx="1645920" cy="237744"/>
          </a:xfrm>
          <a:prstGeom prst="rect">
            <a:avLst/>
          </a:prstGeom>
          <a:noFill/>
          <a:ln/>
        </p:spPr>
        <p:txBody>
          <a:bodyPr wrap="square" lIns="0" tIns="0" rIns="0" bIns="0" rtlCol="0" anchor="ctr"/>
          <a:lstStyle/>
          <a:p>
            <a:pPr algn="ctr" indent="0" marL="0">
              <a:buNone/>
            </a:pPr>
            <a:r>
              <a:rPr lang="en-US" sz="1100" b="1" dirty="0">
                <a:solidFill>
                  <a:schemeClr val="bg1"/>
                </a:solidFill>
              </a:rPr>
              <a:t>Northern Borders</a:t>
            </a:r>
            <a:endParaRPr lang="en-US" sz="1100" dirty="0"/>
          </a:p>
        </p:txBody>
      </p:sp>
      <p:sp>
        <p:nvSpPr>
          <p:cNvPr id="25" name="Label Najran"/>
          <p:cNvSpPr txBox="1"/>
          <p:nvPr/>
        </p:nvSpPr>
        <p:spPr>
          <a:xfrm>
            <a:off x="10244023" y="3985961"/>
            <a:ext cx="822960" cy="237744"/>
          </a:xfrm>
          <a:prstGeom prst="rect">
            <a:avLst/>
          </a:prstGeom>
          <a:noFill/>
          <a:ln/>
        </p:spPr>
        <p:txBody>
          <a:bodyPr wrap="square" lIns="0" tIns="0" rIns="0" bIns="0" rtlCol="0" anchor="ctr"/>
          <a:lstStyle/>
          <a:p>
            <a:pPr algn="l" indent="0" marL="0">
              <a:buNone/>
            </a:pPr>
            <a:r>
              <a:rPr lang="en-US" sz="1100" b="1" dirty="0">
                <a:solidFill>
                  <a:schemeClr val="bg1"/>
                </a:solidFill>
              </a:rPr>
              <a:t>Najran</a:t>
            </a:r>
            <a:endParaRPr lang="en-US" sz="1100" dirty="0"/>
          </a:p>
        </p:txBody>
      </p:sp>
      <p:sp>
        <p:nvSpPr>
          <p:cNvPr id="26" name="Leader Najran"/>
          <p:cNvSpPr/>
          <p:nvPr/>
        </p:nvSpPr>
        <p:spPr>
          <a:xfrm>
            <a:off x="9786823" y="4104833"/>
            <a:ext cx="429768" cy="0"/>
          </a:xfrm>
          <a:prstGeom prst="line">
            <a:avLst/>
          </a:prstGeom>
          <a:noFill/>
          <a:ln w="9525">
            <a:solidFill>
              <a:schemeClr val="bg1"/>
            </a:solidFill>
            <a:prstDash val="solid"/>
          </a:ln>
        </p:spPr>
      </p:sp>
      <p:sp>
        <p:nvSpPr>
          <p:cNvPr id="27" name="Label Al-Baha"/>
          <p:cNvSpPr txBox="1"/>
          <p:nvPr/>
        </p:nvSpPr>
        <p:spPr>
          <a:xfrm>
            <a:off x="7315200" y="3597524"/>
            <a:ext cx="822960" cy="237744"/>
          </a:xfrm>
          <a:prstGeom prst="rect">
            <a:avLst/>
          </a:prstGeom>
          <a:noFill/>
          <a:ln/>
        </p:spPr>
        <p:txBody>
          <a:bodyPr wrap="square" lIns="0" tIns="0" rIns="0" bIns="0" rtlCol="0" anchor="ctr"/>
          <a:lstStyle/>
          <a:p>
            <a:pPr algn="r" indent="0" marL="0">
              <a:buNone/>
            </a:pPr>
            <a:r>
              <a:rPr lang="en-US" sz="1100" b="1" dirty="0">
                <a:solidFill>
                  <a:schemeClr val="bg1"/>
                </a:solidFill>
              </a:rPr>
              <a:t>Al-Baha</a:t>
            </a:r>
            <a:endParaRPr lang="en-US" sz="1100" dirty="0"/>
          </a:p>
        </p:txBody>
      </p:sp>
      <p:sp>
        <p:nvSpPr>
          <p:cNvPr id="28" name="Leader Al-Baha"/>
          <p:cNvSpPr/>
          <p:nvPr/>
        </p:nvSpPr>
        <p:spPr>
          <a:xfrm>
            <a:off x="8165592" y="3716396"/>
            <a:ext cx="712638" cy="0"/>
          </a:xfrm>
          <a:prstGeom prst="line">
            <a:avLst/>
          </a:prstGeom>
          <a:noFill/>
          <a:ln w="9525">
            <a:solidFill>
              <a:schemeClr val="bg1"/>
            </a:solidFill>
            <a:prstDash val="solid"/>
          </a:ln>
        </p:spPr>
      </p:sp>
      <p:sp>
        <p:nvSpPr>
          <p:cNvPr id="29" name="Label Jazan"/>
          <p:cNvSpPr txBox="1"/>
          <p:nvPr/>
        </p:nvSpPr>
        <p:spPr>
          <a:xfrm>
            <a:off x="7635240" y="4498574"/>
            <a:ext cx="822960" cy="237744"/>
          </a:xfrm>
          <a:prstGeom prst="rect">
            <a:avLst/>
          </a:prstGeom>
          <a:noFill/>
          <a:ln/>
        </p:spPr>
        <p:txBody>
          <a:bodyPr wrap="square" lIns="0" tIns="0" rIns="0" bIns="0" rtlCol="0" anchor="ctr"/>
          <a:lstStyle/>
          <a:p>
            <a:pPr algn="r" indent="0" marL="0">
              <a:buNone/>
            </a:pPr>
            <a:r>
              <a:rPr lang="en-US" sz="1100" b="1" dirty="0">
                <a:solidFill>
                  <a:schemeClr val="bg1"/>
                </a:solidFill>
              </a:rPr>
              <a:t>Jazan</a:t>
            </a:r>
            <a:endParaRPr lang="en-US" sz="1100" dirty="0"/>
          </a:p>
        </p:txBody>
      </p:sp>
      <p:sp>
        <p:nvSpPr>
          <p:cNvPr id="30" name="Leader Jazan"/>
          <p:cNvSpPr/>
          <p:nvPr/>
        </p:nvSpPr>
        <p:spPr>
          <a:xfrm flipH="1">
            <a:off x="8476488" y="4343126"/>
            <a:ext cx="595092" cy="274320"/>
          </a:xfrm>
          <a:prstGeom prst="line">
            <a:avLst/>
          </a:prstGeom>
          <a:noFill/>
          <a:ln w="9525">
            <a:solidFill>
              <a:schemeClr val="bg1"/>
            </a:solidFill>
            <a:prstDash val="solid"/>
          </a:ln>
        </p:spPr>
      </p:sp>
      <p:sp>
        <p:nvSpPr>
          <p:cNvPr id="31" name="Legend swatch 1"/>
          <p:cNvSpPr/>
          <p:nvPr/>
        </p:nvSpPr>
        <p:spPr>
          <a:xfrm>
            <a:off x="7543800" y="4781626"/>
            <a:ext cx="146304" cy="146304"/>
          </a:xfrm>
          <a:prstGeom prst="rect">
            <a:avLst/>
          </a:prstGeom>
          <a:solidFill>
            <a:srgbClr val="E15759"/>
          </a:solidFill>
          <a:ln/>
        </p:spPr>
      </p:sp>
      <p:sp>
        <p:nvSpPr>
          <p:cNvPr id="32" name="Legend 1"/>
          <p:cNvSpPr txBox="1"/>
          <p:nvPr/>
        </p:nvSpPr>
        <p:spPr>
          <a:xfrm>
            <a:off x="7744968" y="4735906"/>
            <a:ext cx="1234440" cy="237744"/>
          </a:xfrm>
          <a:prstGeom prst="rect">
            <a:avLst/>
          </a:prstGeom>
          <a:noFill/>
          <a:ln/>
        </p:spPr>
        <p:txBody>
          <a:bodyPr wrap="square" lIns="0" tIns="0" rIns="0" bIns="0" rtlCol="0" anchor="ctr"/>
          <a:lstStyle/>
          <a:p>
            <a:pPr indent="0" marL="0">
              <a:buNone/>
            </a:pPr>
            <a:r>
              <a:rPr lang="en-US" sz="1100" dirty="0">
                <a:solidFill>
                  <a:srgbClr val="D6E0DA"/>
                </a:solidFill>
              </a:rPr>
              <a:t>Priority four</a:t>
            </a:r>
            <a:endParaRPr lang="en-US" sz="1100" dirty="0"/>
          </a:p>
        </p:txBody>
      </p:sp>
      <p:sp>
        <p:nvSpPr>
          <p:cNvPr id="33" name="Legend swatch 2"/>
          <p:cNvSpPr/>
          <p:nvPr/>
        </p:nvSpPr>
        <p:spPr>
          <a:xfrm>
            <a:off x="8961120" y="4781626"/>
            <a:ext cx="146304" cy="146304"/>
          </a:xfrm>
          <a:prstGeom prst="rect">
            <a:avLst/>
          </a:prstGeom>
          <a:solidFill>
            <a:srgbClr val="F2B5B1"/>
          </a:solidFill>
          <a:ln/>
        </p:spPr>
      </p:sp>
      <p:sp>
        <p:nvSpPr>
          <p:cNvPr id="34" name="Legend 2"/>
          <p:cNvSpPr txBox="1"/>
          <p:nvPr/>
        </p:nvSpPr>
        <p:spPr>
          <a:xfrm>
            <a:off x="9162288" y="4735906"/>
            <a:ext cx="1691640" cy="237744"/>
          </a:xfrm>
          <a:prstGeom prst="rect">
            <a:avLst/>
          </a:prstGeom>
          <a:noFill/>
          <a:ln/>
        </p:spPr>
        <p:txBody>
          <a:bodyPr wrap="square" lIns="0" tIns="0" rIns="0" bIns="0" rtlCol="0" anchor="ctr"/>
          <a:lstStyle/>
          <a:p>
            <a:pPr indent="0" marL="0">
              <a:buNone/>
            </a:pPr>
            <a:r>
              <a:rPr lang="en-US" sz="1100" dirty="0">
                <a:solidFill>
                  <a:srgbClr val="D6E0DA"/>
                </a:solidFill>
              </a:rPr>
              <a:t>Other regions below 65%</a:t>
            </a:r>
            <a:endParaRPr lang="en-US" sz="11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6E0DA"/>
                </a:solidFill>
              </a:defRPr>
            </a:lvl1pPr>
          </a:lstStyle>
          <a:p>
            <a:pPr algn="r"/>
            <a:fld id="{F7021451-1387-4CA6-816F-3879F97B5CBC}" type="slidenum">
              <a:rPr b="0" lang="en-US"/>
              <a:t>1</a:t>
            </a:fld>
            <a:endParaRPr lang="en-US"/>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t"/>
          <a:lstStyle/>
          <a:p>
            <a:pPr indent="0" marL="0">
              <a:buNone/>
            </a:pPr>
            <a:r>
              <a:rPr lang="en-US" sz="1300" b="1" dirty="0">
                <a:solidFill>
                  <a:schemeClr val="accent3"/>
                </a:solidFill>
              </a:rPr>
              <a:t>Situation</a:t>
            </a:r>
            <a:pPr indent="0" marL="0">
              <a:buNone/>
            </a:pPr>
            <a:r>
              <a:rPr lang="en-US" sz="1300" dirty="0">
                <a:solidFill>
                  <a:schemeClr val="accent6"/>
                </a:solidFill>
              </a:rPr>
              <a:t>   Q1 · Is Tayseer on track nationally?</a:t>
            </a:r>
            <a:endParaRPr lang="en-US" sz="1300" dirty="0"/>
          </a:p>
        </p:txBody>
      </p:sp>
      <p:sp>
        <p:nvSpPr>
          <p:cNvPr id="3" name="Text 0"/>
          <p:cNvSpPr/>
          <p:nvPr>
            <p:ph idx="101" type="title" hasCustomPrompt="1"/>
          </p:nvPr>
        </p:nvSpPr>
        <p:spPr>
          <a:xfrm>
            <a:off x="548640" y="749808"/>
            <a:ext cx="11094415" cy="960120"/>
          </a:xfrm>
          <a:prstGeom prst="rect">
            <a:avLst/>
          </a:prstGeom>
          <a:noFill/>
          <a:ln/>
        </p:spPr>
        <p:txBody>
          <a:bodyPr wrap="square" lIns="0" tIns="0" rIns="0" bIns="0" rtlCol="0" anchor="t"/>
          <a:lstStyle/>
          <a:p>
            <a:pPr algn="l" indent="0" marL="0">
              <a:buNone/>
            </a:pPr>
            <a:r>
              <a:rPr lang="en-US" sz="2800" b="1" dirty="0">
                <a:solidFill>
                  <a:schemeClr val="tx1"/>
                </a:solidFill>
              </a:rPr>
              <a:t>Nationally, Tayseer crossed the 65% target in August 2025 and is still climbing</a:t>
            </a:r>
            <a:endParaRPr lang="en-US" sz="2800" dirty="0"/>
          </a:p>
        </p:txBody>
      </p:sp>
      <p:sp>
        <p:nvSpPr>
          <p:cNvPr id="4" name="Text 0"/>
          <p:cNvSpPr/>
          <p:nvPr>
            <p:ph idx="102" type="body" hasCustomPrompt="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chemeClr val="accent6"/>
                </a:solidFill>
              </a:rPr>
              <a:t>Evidence: Tableau KPI + national trend · adoption weighted by unique users · Jan 2022 to Dec 2025</a:t>
            </a:r>
            <a:endParaRPr lang="en-US" sz="1100" dirty="0"/>
          </a:p>
        </p:txBody>
      </p:sp>
      <p:graphicFrame>
        <p:nvGraphicFramePr>
          <p:cNvPr id="5" name="National trend chart" descr=""/>
          <p:cNvGraphicFramePr/>
          <p:nvPr/>
        </p:nvGraphicFramePr>
        <p:xfrm>
          <a:off x="548640" y="1874520"/>
          <a:ext cx="7863840" cy="4297680"/>
        </p:xfrm>
        <a:graphic xmlns:a="http://schemas.openxmlformats.org/drawingml/2006/main">
          <a:graphicData uri="http://schemas.openxmlformats.org/drawingml/2006/chart">
            <c:chart xmlns:c="http://schemas.openxmlformats.org/drawingml/2006/chart" r:id="rId1"/>
          </a:graphicData>
        </a:graphic>
      </p:graphicFrame>
      <p:sp>
        <p:nvSpPr>
          <p:cNvPr id="6" name="Target label"/>
          <p:cNvSpPr txBox="1"/>
          <p:nvPr/>
        </p:nvSpPr>
        <p:spPr>
          <a:xfrm>
            <a:off x="1269187" y="2644445"/>
            <a:ext cx="1463040" cy="274320"/>
          </a:xfrm>
          <a:prstGeom prst="rect">
            <a:avLst/>
          </a:prstGeom>
          <a:noFill/>
          <a:ln/>
        </p:spPr>
        <p:txBody>
          <a:bodyPr wrap="square" lIns="0" tIns="0" rIns="0" bIns="0" rtlCol="0" anchor="ctr"/>
          <a:lstStyle/>
          <a:p>
            <a:pPr indent="0" marL="0">
              <a:buNone/>
            </a:pPr>
            <a:r>
              <a:rPr lang="en-US" sz="1300" b="1" dirty="0">
                <a:solidFill>
                  <a:srgbClr val="B83A37"/>
                </a:solidFill>
              </a:rPr>
              <a:t>65% target</a:t>
            </a:r>
            <a:endParaRPr lang="en-US" sz="1300" dirty="0"/>
          </a:p>
        </p:txBody>
      </p:sp>
      <p:sp>
        <p:nvSpPr>
          <p:cNvPr id="7" name="Crossing marker"/>
          <p:cNvSpPr/>
          <p:nvPr/>
        </p:nvSpPr>
        <p:spPr>
          <a:xfrm>
            <a:off x="7233476" y="2884383"/>
            <a:ext cx="146304" cy="146304"/>
          </a:xfrm>
          <a:prstGeom prst="ellipse">
            <a:avLst/>
          </a:prstGeom>
          <a:solidFill>
            <a:srgbClr val="B83A37"/>
          </a:solidFill>
          <a:ln/>
        </p:spPr>
      </p:sp>
      <p:sp>
        <p:nvSpPr>
          <p:cNvPr id="8" name="Crossing label"/>
          <p:cNvSpPr txBox="1"/>
          <p:nvPr/>
        </p:nvSpPr>
        <p:spPr>
          <a:xfrm>
            <a:off x="4517708" y="2306117"/>
            <a:ext cx="2651760" cy="274320"/>
          </a:xfrm>
          <a:prstGeom prst="rect">
            <a:avLst/>
          </a:prstGeom>
          <a:noFill/>
          <a:ln/>
        </p:spPr>
        <p:txBody>
          <a:bodyPr wrap="square" lIns="0" tIns="0" rIns="0" bIns="0" rtlCol="0" anchor="ctr"/>
          <a:lstStyle/>
          <a:p>
            <a:pPr algn="r" indent="0" marL="0">
              <a:buNone/>
            </a:pPr>
            <a:r>
              <a:rPr lang="en-US" sz="1300" b="1" dirty="0">
                <a:solidFill>
                  <a:srgbClr val="B83A37"/>
                </a:solidFill>
              </a:rPr>
              <a:t>Crossed 65% in Aug 2025</a:t>
            </a:r>
            <a:endParaRPr lang="en-US" sz="1300" dirty="0"/>
          </a:p>
        </p:txBody>
      </p:sp>
      <p:sp>
        <p:nvSpPr>
          <p:cNvPr id="9" name="End label"/>
          <p:cNvSpPr txBox="1"/>
          <p:nvPr/>
        </p:nvSpPr>
        <p:spPr>
          <a:xfrm>
            <a:off x="7943355" y="2628461"/>
            <a:ext cx="685800" cy="310896"/>
          </a:xfrm>
          <a:prstGeom prst="rect">
            <a:avLst/>
          </a:prstGeom>
          <a:noFill/>
          <a:ln/>
        </p:spPr>
        <p:txBody>
          <a:bodyPr wrap="square" lIns="0" tIns="0" rIns="0" bIns="0" rtlCol="0" anchor="ctr"/>
          <a:lstStyle/>
          <a:p>
            <a:pPr indent="0" marL="0">
              <a:buNone/>
            </a:pPr>
            <a:r>
              <a:rPr lang="en-US" sz="1400" b="1" dirty="0">
                <a:solidFill>
                  <a:schemeClr val="accent3"/>
                </a:solidFill>
              </a:rPr>
              <a:t>66.2%</a:t>
            </a:r>
            <a:endParaRPr lang="en-US" sz="1400" dirty="0"/>
          </a:p>
        </p:txBody>
      </p:sp>
      <p:sp>
        <p:nvSpPr>
          <p:cNvPr id="10" name="Stat Dec 2025 number"/>
          <p:cNvSpPr txBox="1"/>
          <p:nvPr/>
        </p:nvSpPr>
        <p:spPr>
          <a:xfrm>
            <a:off x="8778240" y="2011680"/>
            <a:ext cx="2864815" cy="566928"/>
          </a:xfrm>
          <a:prstGeom prst="rect">
            <a:avLst/>
          </a:prstGeom>
          <a:noFill/>
          <a:ln/>
        </p:spPr>
        <p:txBody>
          <a:bodyPr wrap="square" lIns="0" tIns="0" rIns="0" bIns="0" rtlCol="0" anchor="b"/>
          <a:lstStyle/>
          <a:p>
            <a:pPr indent="0" marL="0">
              <a:buNone/>
            </a:pPr>
            <a:r>
              <a:rPr lang="en-US" sz="3000" b="1" dirty="0">
                <a:solidFill>
                  <a:schemeClr val="tx1"/>
                </a:solidFill>
                <a:latin typeface="+mj-lt" pitchFamily="34" charset="0"/>
                <a:ea typeface="+mj-lt" pitchFamily="34" charset="-122"/>
                <a:cs typeface="+mj-lt" pitchFamily="34" charset="-120"/>
              </a:rPr>
              <a:t>66.2%</a:t>
            </a:r>
            <a:endParaRPr lang="en-US" sz="3000" dirty="0"/>
          </a:p>
        </p:txBody>
      </p:sp>
      <p:sp>
        <p:nvSpPr>
          <p:cNvPr id="11" name="Stat Dec 2025 label"/>
          <p:cNvSpPr txBox="1"/>
          <p:nvPr/>
        </p:nvSpPr>
        <p:spPr>
          <a:xfrm>
            <a:off x="8778240" y="2633472"/>
            <a:ext cx="2864815" cy="502920"/>
          </a:xfrm>
          <a:prstGeom prst="rect">
            <a:avLst/>
          </a:prstGeom>
          <a:noFill/>
          <a:ln/>
        </p:spPr>
        <p:txBody>
          <a:bodyPr wrap="square" lIns="0" tIns="0" rIns="0" bIns="0" rtlCol="0" anchor="t"/>
          <a:lstStyle/>
          <a:p>
            <a:pPr indent="0" marL="0">
              <a:buNone/>
            </a:pPr>
            <a:r>
              <a:rPr lang="en-US" sz="1300" dirty="0">
                <a:solidFill>
                  <a:schemeClr val="tx2"/>
                </a:solidFill>
              </a:rPr>
              <a:t>national adoption in Dec 2025</a:t>
            </a:r>
            <a:endParaRPr lang="en-US" sz="1300" dirty="0"/>
          </a:p>
        </p:txBody>
      </p:sp>
      <p:sp>
        <p:nvSpPr>
          <p:cNvPr id="12" name="Rule 1"/>
          <p:cNvSpPr/>
          <p:nvPr/>
        </p:nvSpPr>
        <p:spPr>
          <a:xfrm>
            <a:off x="8778240" y="3337560"/>
            <a:ext cx="2864815" cy="0"/>
          </a:xfrm>
          <a:prstGeom prst="line">
            <a:avLst/>
          </a:prstGeom>
          <a:noFill/>
          <a:ln w="9525">
            <a:solidFill>
              <a:srgbClr val="D5DAD6"/>
            </a:solidFill>
            <a:prstDash val="solid"/>
          </a:ln>
        </p:spPr>
      </p:sp>
      <p:sp>
        <p:nvSpPr>
          <p:cNvPr id="13" name="Stat YoY number"/>
          <p:cNvSpPr txBox="1"/>
          <p:nvPr/>
        </p:nvSpPr>
        <p:spPr>
          <a:xfrm>
            <a:off x="8778240" y="3474720"/>
            <a:ext cx="2864815" cy="566928"/>
          </a:xfrm>
          <a:prstGeom prst="rect">
            <a:avLst/>
          </a:prstGeom>
          <a:noFill/>
          <a:ln/>
        </p:spPr>
        <p:txBody>
          <a:bodyPr wrap="square" lIns="0" tIns="0" rIns="0" bIns="0" rtlCol="0" anchor="b"/>
          <a:lstStyle/>
          <a:p>
            <a:pPr indent="0" marL="0">
              <a:buNone/>
            </a:pPr>
            <a:r>
              <a:rPr lang="en-US" sz="3000" b="1" dirty="0">
                <a:solidFill>
                  <a:schemeClr val="tx1"/>
                </a:solidFill>
                <a:latin typeface="+mj-lt" pitchFamily="34" charset="0"/>
                <a:ea typeface="+mj-lt" pitchFamily="34" charset="-122"/>
                <a:cs typeface="+mj-lt" pitchFamily="34" charset="-120"/>
              </a:rPr>
              <a:t>+2.9 pts</a:t>
            </a:r>
            <a:endParaRPr lang="en-US" sz="3000" dirty="0"/>
          </a:p>
        </p:txBody>
      </p:sp>
      <p:sp>
        <p:nvSpPr>
          <p:cNvPr id="14" name="Stat YoY label"/>
          <p:cNvSpPr txBox="1"/>
          <p:nvPr/>
        </p:nvSpPr>
        <p:spPr>
          <a:xfrm>
            <a:off x="8778240" y="4096512"/>
            <a:ext cx="2864815" cy="502920"/>
          </a:xfrm>
          <a:prstGeom prst="rect">
            <a:avLst/>
          </a:prstGeom>
          <a:noFill/>
          <a:ln/>
        </p:spPr>
        <p:txBody>
          <a:bodyPr wrap="square" lIns="0" tIns="0" rIns="0" bIns="0" rtlCol="0" anchor="t"/>
          <a:lstStyle/>
          <a:p>
            <a:pPr indent="0" marL="0">
              <a:buNone/>
            </a:pPr>
            <a:r>
              <a:rPr lang="en-US" sz="1300" dirty="0">
                <a:solidFill>
                  <a:schemeClr val="tx2"/>
                </a:solidFill>
              </a:rPr>
              <a:t>in twelve months (Dec 2024: 63.3%)</a:t>
            </a:r>
            <a:endParaRPr lang="en-US" sz="1300" dirty="0"/>
          </a:p>
        </p:txBody>
      </p:sp>
      <p:sp>
        <p:nvSpPr>
          <p:cNvPr id="15" name="Rule 2"/>
          <p:cNvSpPr/>
          <p:nvPr/>
        </p:nvSpPr>
        <p:spPr>
          <a:xfrm>
            <a:off x="8778240" y="4800600"/>
            <a:ext cx="2864815" cy="0"/>
          </a:xfrm>
          <a:prstGeom prst="line">
            <a:avLst/>
          </a:prstGeom>
          <a:noFill/>
          <a:ln w="9525">
            <a:solidFill>
              <a:srgbClr val="D5DAD6"/>
            </a:solidFill>
            <a:prstDash val="solid"/>
          </a:ln>
        </p:spPr>
      </p:sp>
      <p:sp>
        <p:nvSpPr>
          <p:cNvPr id="16" name="Stat annual number"/>
          <p:cNvSpPr txBox="1"/>
          <p:nvPr/>
        </p:nvSpPr>
        <p:spPr>
          <a:xfrm>
            <a:off x="8778240" y="4937760"/>
            <a:ext cx="2864815" cy="566928"/>
          </a:xfrm>
          <a:prstGeom prst="rect">
            <a:avLst/>
          </a:prstGeom>
          <a:noFill/>
          <a:ln/>
        </p:spPr>
        <p:txBody>
          <a:bodyPr wrap="square" lIns="0" tIns="0" rIns="0" bIns="0" rtlCol="0" anchor="b"/>
          <a:lstStyle/>
          <a:p>
            <a:pPr indent="0" marL="0">
              <a:buNone/>
            </a:pPr>
            <a:r>
              <a:rPr lang="en-US" sz="3000" b="1" dirty="0">
                <a:solidFill>
                  <a:schemeClr val="tx1"/>
                </a:solidFill>
                <a:latin typeface="+mj-lt" pitchFamily="34" charset="0"/>
                <a:ea typeface="+mj-lt" pitchFamily="34" charset="-122"/>
                <a:cs typeface="+mj-lt" pitchFamily="34" charset="-120"/>
              </a:rPr>
              <a:t>+9.4 pts</a:t>
            </a:r>
            <a:endParaRPr lang="en-US" sz="3000" dirty="0"/>
          </a:p>
        </p:txBody>
      </p:sp>
      <p:sp>
        <p:nvSpPr>
          <p:cNvPr id="17" name="Stat annual label"/>
          <p:cNvSpPr txBox="1"/>
          <p:nvPr/>
        </p:nvSpPr>
        <p:spPr>
          <a:xfrm>
            <a:off x="8778240" y="5559552"/>
            <a:ext cx="2864815" cy="502920"/>
          </a:xfrm>
          <a:prstGeom prst="rect">
            <a:avLst/>
          </a:prstGeom>
          <a:noFill/>
          <a:ln/>
        </p:spPr>
        <p:txBody>
          <a:bodyPr wrap="square" lIns="0" tIns="0" rIns="0" bIns="0" rtlCol="0" anchor="t"/>
          <a:lstStyle/>
          <a:p>
            <a:pPr indent="0" marL="0">
              <a:buNone/>
            </a:pPr>
            <a:r>
              <a:rPr lang="en-US" sz="1300" dirty="0">
                <a:solidFill>
                  <a:schemeClr val="tx2"/>
                </a:solidFill>
              </a:rPr>
              <a:t>annual average since 2022, up every year (55.4% to 64.8%)</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t"/>
          <a:lstStyle/>
          <a:p>
            <a:pPr indent="0" marL="0">
              <a:buNone/>
            </a:pPr>
            <a:r>
              <a:rPr lang="en-US" sz="1300" b="1" dirty="0">
                <a:solidFill>
                  <a:schemeClr val="accent3"/>
                </a:solidFill>
              </a:rPr>
              <a:t>Complication</a:t>
            </a:r>
            <a:pPr indent="0" marL="0">
              <a:buNone/>
            </a:pPr>
            <a:r>
              <a:rPr lang="en-US" sz="1300" dirty="0">
                <a:solidFill>
                  <a:schemeClr val="accent6"/>
                </a:solidFill>
              </a:rPr>
              <a:t>   Q2 · Which regions are below 65%?</a:t>
            </a:r>
            <a:endParaRPr lang="en-US" sz="1300" dirty="0"/>
          </a:p>
        </p:txBody>
      </p:sp>
      <p:sp>
        <p:nvSpPr>
          <p:cNvPr id="3" name="Text 0"/>
          <p:cNvSpPr/>
          <p:nvPr>
            <p:ph idx="101" type="title" hasCustomPrompt="1"/>
          </p:nvPr>
        </p:nvSpPr>
        <p:spPr>
          <a:xfrm>
            <a:off x="548640" y="749808"/>
            <a:ext cx="11094415" cy="960120"/>
          </a:xfrm>
          <a:prstGeom prst="rect">
            <a:avLst/>
          </a:prstGeom>
          <a:noFill/>
          <a:ln/>
        </p:spPr>
        <p:txBody>
          <a:bodyPr wrap="square" lIns="0" tIns="0" rIns="0" bIns="0" rtlCol="0" anchor="t"/>
          <a:lstStyle/>
          <a:p>
            <a:pPr algn="l" indent="0" marL="0">
              <a:buNone/>
            </a:pPr>
            <a:r>
              <a:rPr lang="en-US" sz="2800" b="1" dirty="0">
                <a:solidFill>
                  <a:schemeClr val="tx1"/>
                </a:solidFill>
              </a:rPr>
              <a:t>But 8 of 13 regions, home to 52% of users, are still below 65%</a:t>
            </a:r>
            <a:endParaRPr lang="en-US" sz="2800" dirty="0"/>
          </a:p>
        </p:txBody>
      </p:sp>
      <p:sp>
        <p:nvSpPr>
          <p:cNvPr id="4" name="Text 0"/>
          <p:cNvSpPr/>
          <p:nvPr>
            <p:ph idx="102" type="body" hasCustomPrompt="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chemeClr val="accent6"/>
                </a:solidFill>
              </a:rPr>
              <a:t>Evidence: Tableau Regional Adoption bar + 65% reference line · Dec 2025 · map: geoBoundaries (OpenStreetMap, ODbL)</a:t>
            </a:r>
            <a:endParaRPr lang="en-US" sz="1100" dirty="0"/>
          </a:p>
        </p:txBody>
      </p:sp>
      <p:graphicFrame>
        <p:nvGraphicFramePr>
          <p:cNvPr id="5" name="Regional adoption chart" descr=""/>
          <p:cNvGraphicFramePr/>
          <p:nvPr/>
        </p:nvGraphicFramePr>
        <p:xfrm>
          <a:off x="548640" y="1828800"/>
          <a:ext cx="6949440" cy="4069080"/>
        </p:xfrm>
        <a:graphic xmlns:a="http://schemas.openxmlformats.org/drawingml/2006/main">
          <a:graphicData uri="http://schemas.openxmlformats.org/drawingml/2006/chart">
            <c:chart xmlns:c="http://schemas.openxmlformats.org/drawingml/2006/chart" r:id="rId1"/>
          </a:graphicData>
        </a:graphic>
      </p:graphicFrame>
      <p:sp>
        <p:nvSpPr>
          <p:cNvPr id="6" name="65% line"/>
          <p:cNvSpPr/>
          <p:nvPr/>
        </p:nvSpPr>
        <p:spPr>
          <a:xfrm>
            <a:off x="6082132" y="1869491"/>
            <a:ext cx="0" cy="3947008"/>
          </a:xfrm>
          <a:prstGeom prst="line">
            <a:avLst/>
          </a:prstGeom>
          <a:noFill/>
          <a:ln w="25400">
            <a:solidFill>
              <a:schemeClr val="tx1"/>
            </a:solidFill>
            <a:prstDash val="dash"/>
          </a:ln>
        </p:spPr>
      </p:sp>
      <p:sp>
        <p:nvSpPr>
          <p:cNvPr id="7" name="65% label"/>
          <p:cNvSpPr txBox="1"/>
          <p:nvPr/>
        </p:nvSpPr>
        <p:spPr>
          <a:xfrm>
            <a:off x="5350612" y="5971032"/>
            <a:ext cx="1463040" cy="274320"/>
          </a:xfrm>
          <a:prstGeom prst="rect">
            <a:avLst/>
          </a:prstGeom>
          <a:noFill/>
          <a:ln/>
        </p:spPr>
        <p:txBody>
          <a:bodyPr wrap="square" lIns="0" tIns="0" rIns="0" bIns="0" rtlCol="0" anchor="ctr"/>
          <a:lstStyle/>
          <a:p>
            <a:pPr algn="ctr" indent="0" marL="0">
              <a:buNone/>
            </a:pPr>
            <a:r>
              <a:rPr lang="en-US" sz="1300" b="1" dirty="0">
                <a:solidFill>
                  <a:schemeClr val="tx1"/>
                </a:solidFill>
              </a:rPr>
              <a:t>65% target</a:t>
            </a:r>
            <a:endParaRPr lang="en-US" sz="1300" dirty="0"/>
          </a:p>
        </p:txBody>
      </p:sp>
      <p:sp>
        <p:nvSpPr>
          <p:cNvPr id="8" name="Legend below swatch"/>
          <p:cNvSpPr/>
          <p:nvPr/>
        </p:nvSpPr>
        <p:spPr>
          <a:xfrm>
            <a:off x="2355494" y="6035040"/>
            <a:ext cx="164592" cy="164592"/>
          </a:xfrm>
          <a:prstGeom prst="rect">
            <a:avLst/>
          </a:prstGeom>
          <a:solidFill>
            <a:schemeClr val="accent1"/>
          </a:solidFill>
          <a:ln/>
        </p:spPr>
      </p:sp>
      <p:sp>
        <p:nvSpPr>
          <p:cNvPr id="9" name="Legend below"/>
          <p:cNvSpPr txBox="1"/>
          <p:nvPr/>
        </p:nvSpPr>
        <p:spPr>
          <a:xfrm>
            <a:off x="2584094" y="5971032"/>
            <a:ext cx="1188720" cy="274320"/>
          </a:xfrm>
          <a:prstGeom prst="rect">
            <a:avLst/>
          </a:prstGeom>
          <a:noFill/>
          <a:ln/>
        </p:spPr>
        <p:txBody>
          <a:bodyPr wrap="square" lIns="0" tIns="0" rIns="0" bIns="0" rtlCol="0" anchor="ctr"/>
          <a:lstStyle/>
          <a:p>
            <a:pPr indent="0" marL="0">
              <a:buNone/>
            </a:pPr>
            <a:r>
              <a:rPr lang="en-US" sz="1300" dirty="0">
                <a:solidFill>
                  <a:schemeClr val="tx2"/>
                </a:solidFill>
              </a:rPr>
              <a:t>Below 65%</a:t>
            </a:r>
            <a:endParaRPr lang="en-US" sz="1300" dirty="0"/>
          </a:p>
        </p:txBody>
      </p:sp>
      <p:sp>
        <p:nvSpPr>
          <p:cNvPr id="10" name="Legend above swatch"/>
          <p:cNvSpPr/>
          <p:nvPr/>
        </p:nvSpPr>
        <p:spPr>
          <a:xfrm>
            <a:off x="3727094" y="6035040"/>
            <a:ext cx="164592" cy="164592"/>
          </a:xfrm>
          <a:prstGeom prst="rect">
            <a:avLst/>
          </a:prstGeom>
          <a:solidFill>
            <a:schemeClr val="accent2"/>
          </a:solidFill>
          <a:ln/>
        </p:spPr>
      </p:sp>
      <p:sp>
        <p:nvSpPr>
          <p:cNvPr id="11" name="Legend above"/>
          <p:cNvSpPr txBox="1"/>
          <p:nvPr/>
        </p:nvSpPr>
        <p:spPr>
          <a:xfrm>
            <a:off x="3955694" y="5971032"/>
            <a:ext cx="1554480" cy="274320"/>
          </a:xfrm>
          <a:prstGeom prst="rect">
            <a:avLst/>
          </a:prstGeom>
          <a:noFill/>
          <a:ln/>
        </p:spPr>
        <p:txBody>
          <a:bodyPr wrap="square" lIns="0" tIns="0" rIns="0" bIns="0" rtlCol="0" anchor="ctr"/>
          <a:lstStyle/>
          <a:p>
            <a:pPr indent="0" marL="0">
              <a:buNone/>
            </a:pPr>
            <a:r>
              <a:rPr lang="en-US" sz="1300" dirty="0">
                <a:solidFill>
                  <a:schemeClr val="tx2"/>
                </a:solidFill>
              </a:rPr>
              <a:t>At or above 65%</a:t>
            </a:r>
            <a:endParaRPr lang="en-US" sz="1300" dirty="0"/>
          </a:p>
        </p:txBody>
      </p:sp>
      <p:sp>
        <p:nvSpPr>
          <p:cNvPr id="12" name="Map Eastern Province"/>
          <p:cNvSpPr/>
          <p:nvPr/>
        </p:nvSpPr>
        <p:spPr>
          <a:xfrm>
            <a:off x="9797626" y="2497506"/>
            <a:ext cx="1845429" cy="2264994"/>
          </a:xfrm>
          <a:custGeom>
            <a:avLst/>
            <a:gdLst/>
            <a:ahLst/>
            <a:cxnLst/>
            <a:rect l="l" t="t" r="r" b="b"/>
            <a:pathLst>
              <a:path w="1845429" h="2264994">
                <a:moveTo>
                  <a:pt x="0" y="269876"/>
                </a:moveTo>
                <a:lnTo>
                  <a:pt x="11290" y="278253"/>
                </a:lnTo>
                <a:lnTo>
                  <a:pt x="46254" y="353644"/>
                </a:lnTo>
                <a:lnTo>
                  <a:pt x="94693" y="380959"/>
                </a:lnTo>
                <a:lnTo>
                  <a:pt x="123466" y="386058"/>
                </a:lnTo>
                <a:lnTo>
                  <a:pt x="164985" y="425392"/>
                </a:lnTo>
                <a:lnTo>
                  <a:pt x="215974" y="430855"/>
                </a:lnTo>
                <a:lnTo>
                  <a:pt x="277889" y="470918"/>
                </a:lnTo>
                <a:lnTo>
                  <a:pt x="319772" y="467276"/>
                </a:lnTo>
                <a:lnTo>
                  <a:pt x="359471" y="509888"/>
                </a:lnTo>
                <a:lnTo>
                  <a:pt x="423207" y="535746"/>
                </a:lnTo>
                <a:lnTo>
                  <a:pt x="430855" y="572895"/>
                </a:lnTo>
                <a:lnTo>
                  <a:pt x="434861" y="816185"/>
                </a:lnTo>
                <a:lnTo>
                  <a:pt x="545216" y="911606"/>
                </a:lnTo>
                <a:lnTo>
                  <a:pt x="571438" y="964052"/>
                </a:lnTo>
                <a:lnTo>
                  <a:pt x="575081" y="1024874"/>
                </a:lnTo>
                <a:lnTo>
                  <a:pt x="437411" y="2140800"/>
                </a:lnTo>
                <a:lnTo>
                  <a:pt x="429398" y="2264994"/>
                </a:lnTo>
                <a:lnTo>
                  <a:pt x="452707" y="2201987"/>
                </a:lnTo>
                <a:lnTo>
                  <a:pt x="553228" y="2066502"/>
                </a:lnTo>
                <a:lnTo>
                  <a:pt x="714571" y="1981642"/>
                </a:lnTo>
                <a:lnTo>
                  <a:pt x="1002294" y="1949956"/>
                </a:lnTo>
                <a:lnTo>
                  <a:pt x="1212440" y="1909165"/>
                </a:lnTo>
                <a:lnTo>
                  <a:pt x="1730340" y="1720143"/>
                </a:lnTo>
                <a:lnTo>
                  <a:pt x="1845429" y="1342097"/>
                </a:lnTo>
                <a:lnTo>
                  <a:pt x="1766397" y="1208070"/>
                </a:lnTo>
                <a:lnTo>
                  <a:pt x="1754014" y="1222638"/>
                </a:lnTo>
                <a:lnTo>
                  <a:pt x="1312597" y="1164365"/>
                </a:lnTo>
                <a:lnTo>
                  <a:pt x="1141420" y="940014"/>
                </a:lnTo>
                <a:lnTo>
                  <a:pt x="1141420" y="915977"/>
                </a:lnTo>
                <a:lnTo>
                  <a:pt x="1115926" y="902501"/>
                </a:lnTo>
                <a:lnTo>
                  <a:pt x="1088246" y="910150"/>
                </a:lnTo>
                <a:lnTo>
                  <a:pt x="1095530" y="882834"/>
                </a:lnTo>
                <a:lnTo>
                  <a:pt x="1126852" y="855519"/>
                </a:lnTo>
                <a:lnTo>
                  <a:pt x="1109006" y="845685"/>
                </a:lnTo>
                <a:lnTo>
                  <a:pt x="1093345" y="868266"/>
                </a:lnTo>
                <a:lnTo>
                  <a:pt x="1056560" y="875186"/>
                </a:lnTo>
                <a:lnTo>
                  <a:pt x="1027424" y="860618"/>
                </a:lnTo>
                <a:lnTo>
                  <a:pt x="1007028" y="823469"/>
                </a:lnTo>
                <a:lnTo>
                  <a:pt x="999744" y="827839"/>
                </a:lnTo>
                <a:lnTo>
                  <a:pt x="992824" y="799067"/>
                </a:lnTo>
                <a:lnTo>
                  <a:pt x="968058" y="762646"/>
                </a:lnTo>
                <a:lnTo>
                  <a:pt x="964052" y="766653"/>
                </a:lnTo>
                <a:lnTo>
                  <a:pt x="952033" y="698910"/>
                </a:lnTo>
                <a:lnTo>
                  <a:pt x="932730" y="678151"/>
                </a:lnTo>
                <a:lnTo>
                  <a:pt x="936008" y="697089"/>
                </a:lnTo>
                <a:lnTo>
                  <a:pt x="903230" y="646101"/>
                </a:lnTo>
                <a:lnTo>
                  <a:pt x="893760" y="643915"/>
                </a:lnTo>
                <a:lnTo>
                  <a:pt x="890482" y="634810"/>
                </a:lnTo>
                <a:lnTo>
                  <a:pt x="907600" y="645736"/>
                </a:lnTo>
                <a:lnTo>
                  <a:pt x="912699" y="659212"/>
                </a:lnTo>
                <a:lnTo>
                  <a:pt x="912699" y="650835"/>
                </a:lnTo>
                <a:lnTo>
                  <a:pt x="885748" y="608223"/>
                </a:lnTo>
                <a:lnTo>
                  <a:pt x="885384" y="588920"/>
                </a:lnTo>
                <a:lnTo>
                  <a:pt x="872636" y="581636"/>
                </a:lnTo>
                <a:lnTo>
                  <a:pt x="867173" y="588192"/>
                </a:lnTo>
                <a:lnTo>
                  <a:pt x="872636" y="547765"/>
                </a:lnTo>
                <a:lnTo>
                  <a:pt x="889754" y="580179"/>
                </a:lnTo>
                <a:lnTo>
                  <a:pt x="896310" y="552136"/>
                </a:lnTo>
                <a:lnTo>
                  <a:pt x="898859" y="557599"/>
                </a:lnTo>
                <a:lnTo>
                  <a:pt x="905051" y="551043"/>
                </a:lnTo>
                <a:lnTo>
                  <a:pt x="907964" y="515715"/>
                </a:lnTo>
                <a:lnTo>
                  <a:pt x="896310" y="505153"/>
                </a:lnTo>
                <a:lnTo>
                  <a:pt x="905051" y="491313"/>
                </a:lnTo>
                <a:lnTo>
                  <a:pt x="899952" y="486579"/>
                </a:lnTo>
                <a:lnTo>
                  <a:pt x="895217" y="506246"/>
                </a:lnTo>
                <a:lnTo>
                  <a:pt x="890118" y="492042"/>
                </a:lnTo>
                <a:lnTo>
                  <a:pt x="879921" y="497869"/>
                </a:lnTo>
                <a:lnTo>
                  <a:pt x="870815" y="478202"/>
                </a:lnTo>
                <a:lnTo>
                  <a:pt x="881742" y="484029"/>
                </a:lnTo>
                <a:lnTo>
                  <a:pt x="882106" y="476017"/>
                </a:lnTo>
                <a:lnTo>
                  <a:pt x="870815" y="478202"/>
                </a:lnTo>
                <a:lnTo>
                  <a:pt x="864624" y="461084"/>
                </a:lnTo>
                <a:lnTo>
                  <a:pt x="867538" y="445059"/>
                </a:lnTo>
                <a:lnTo>
                  <a:pt x="873365" y="459263"/>
                </a:lnTo>
                <a:lnTo>
                  <a:pt x="888661" y="457442"/>
                </a:lnTo>
                <a:lnTo>
                  <a:pt x="859161" y="424664"/>
                </a:lnTo>
                <a:lnTo>
                  <a:pt x="810357" y="400626"/>
                </a:lnTo>
                <a:lnTo>
                  <a:pt x="815092" y="391157"/>
                </a:lnTo>
                <a:lnTo>
                  <a:pt x="800524" y="386422"/>
                </a:lnTo>
                <a:lnTo>
                  <a:pt x="818006" y="380231"/>
                </a:lnTo>
                <a:lnTo>
                  <a:pt x="795061" y="379502"/>
                </a:lnTo>
                <a:lnTo>
                  <a:pt x="802709" y="343446"/>
                </a:lnTo>
                <a:lnTo>
                  <a:pt x="789962" y="366027"/>
                </a:lnTo>
                <a:lnTo>
                  <a:pt x="778671" y="339440"/>
                </a:lnTo>
                <a:lnTo>
                  <a:pt x="785591" y="333612"/>
                </a:lnTo>
                <a:lnTo>
                  <a:pt x="791783" y="343810"/>
                </a:lnTo>
                <a:lnTo>
                  <a:pt x="815456" y="340168"/>
                </a:lnTo>
                <a:lnTo>
                  <a:pt x="778307" y="331791"/>
                </a:lnTo>
                <a:lnTo>
                  <a:pt x="772844" y="343810"/>
                </a:lnTo>
                <a:lnTo>
                  <a:pt x="777943" y="340532"/>
                </a:lnTo>
                <a:lnTo>
                  <a:pt x="774301" y="352551"/>
                </a:lnTo>
                <a:lnTo>
                  <a:pt x="786320" y="359835"/>
                </a:lnTo>
                <a:lnTo>
                  <a:pt x="779764" y="366391"/>
                </a:lnTo>
                <a:lnTo>
                  <a:pt x="784499" y="374403"/>
                </a:lnTo>
                <a:lnTo>
                  <a:pt x="768838" y="369669"/>
                </a:lnTo>
                <a:lnTo>
                  <a:pt x="770659" y="381687"/>
                </a:lnTo>
                <a:lnTo>
                  <a:pt x="757547" y="374403"/>
                </a:lnTo>
                <a:lnTo>
                  <a:pt x="765560" y="360199"/>
                </a:lnTo>
                <a:lnTo>
                  <a:pt x="754998" y="370397"/>
                </a:lnTo>
                <a:lnTo>
                  <a:pt x="749535" y="362749"/>
                </a:lnTo>
                <a:lnTo>
                  <a:pt x="749171" y="335433"/>
                </a:lnTo>
                <a:lnTo>
                  <a:pt x="731689" y="338347"/>
                </a:lnTo>
                <a:lnTo>
                  <a:pt x="737880" y="319772"/>
                </a:lnTo>
                <a:lnTo>
                  <a:pt x="729504" y="325964"/>
                </a:lnTo>
                <a:lnTo>
                  <a:pt x="715664" y="320137"/>
                </a:lnTo>
                <a:lnTo>
                  <a:pt x="745164" y="309939"/>
                </a:lnTo>
                <a:lnTo>
                  <a:pt x="748078" y="316495"/>
                </a:lnTo>
                <a:lnTo>
                  <a:pt x="738245" y="297556"/>
                </a:lnTo>
                <a:lnTo>
                  <a:pt x="701096" y="291000"/>
                </a:lnTo>
                <a:lnTo>
                  <a:pt x="689077" y="279346"/>
                </a:lnTo>
                <a:lnTo>
                  <a:pt x="677786" y="290272"/>
                </a:lnTo>
                <a:lnTo>
                  <a:pt x="679608" y="278981"/>
                </a:lnTo>
                <a:lnTo>
                  <a:pt x="668317" y="282988"/>
                </a:lnTo>
                <a:lnTo>
                  <a:pt x="673780" y="269876"/>
                </a:lnTo>
                <a:lnTo>
                  <a:pt x="667953" y="272426"/>
                </a:lnTo>
                <a:lnTo>
                  <a:pt x="662490" y="256401"/>
                </a:lnTo>
                <a:lnTo>
                  <a:pt x="657027" y="262228"/>
                </a:lnTo>
                <a:lnTo>
                  <a:pt x="661761" y="242197"/>
                </a:lnTo>
                <a:lnTo>
                  <a:pt x="660669" y="254944"/>
                </a:lnTo>
                <a:lnTo>
                  <a:pt x="666860" y="243289"/>
                </a:lnTo>
                <a:lnTo>
                  <a:pt x="671959" y="247296"/>
                </a:lnTo>
                <a:lnTo>
                  <a:pt x="667225" y="260407"/>
                </a:lnTo>
                <a:lnTo>
                  <a:pt x="675237" y="242197"/>
                </a:lnTo>
                <a:lnTo>
                  <a:pt x="650835" y="217066"/>
                </a:lnTo>
                <a:lnTo>
                  <a:pt x="658484" y="207961"/>
                </a:lnTo>
                <a:lnTo>
                  <a:pt x="628983" y="191936"/>
                </a:lnTo>
                <a:lnTo>
                  <a:pt x="631532" y="171177"/>
                </a:lnTo>
                <a:lnTo>
                  <a:pt x="610408" y="145318"/>
                </a:lnTo>
                <a:lnTo>
                  <a:pt x="615143" y="130750"/>
                </a:lnTo>
                <a:lnTo>
                  <a:pt x="602396" y="135484"/>
                </a:lnTo>
                <a:lnTo>
                  <a:pt x="612958" y="128929"/>
                </a:lnTo>
                <a:lnTo>
                  <a:pt x="608223" y="114361"/>
                </a:lnTo>
                <a:lnTo>
                  <a:pt x="595840" y="107076"/>
                </a:lnTo>
                <a:lnTo>
                  <a:pt x="470554" y="108897"/>
                </a:lnTo>
                <a:lnTo>
                  <a:pt x="453436" y="84131"/>
                </a:lnTo>
                <a:lnTo>
                  <a:pt x="450158" y="49896"/>
                </a:lnTo>
                <a:lnTo>
                  <a:pt x="429398" y="18939"/>
                </a:lnTo>
                <a:lnTo>
                  <a:pt x="273518" y="0"/>
                </a:lnTo>
                <a:lnTo>
                  <a:pt x="249845" y="7284"/>
                </a:lnTo>
                <a:lnTo>
                  <a:pt x="185016" y="1457"/>
                </a:lnTo>
                <a:lnTo>
                  <a:pt x="177368" y="14568"/>
                </a:lnTo>
                <a:lnTo>
                  <a:pt x="125287" y="42976"/>
                </a:lnTo>
                <a:lnTo>
                  <a:pt x="116182" y="59730"/>
                </a:lnTo>
                <a:lnTo>
                  <a:pt x="29136" y="60094"/>
                </a:lnTo>
                <a:lnTo>
                  <a:pt x="12383" y="85588"/>
                </a:lnTo>
                <a:lnTo>
                  <a:pt x="49168" y="127108"/>
                </a:lnTo>
                <a:lnTo>
                  <a:pt x="64464" y="170448"/>
                </a:lnTo>
                <a:lnTo>
                  <a:pt x="41155" y="182103"/>
                </a:lnTo>
                <a:lnTo>
                  <a:pt x="28044" y="231271"/>
                </a:lnTo>
                <a:close/>
              </a:path>
            </a:pathLst>
          </a:custGeom>
          <a:solidFill>
            <a:srgbClr val="BAB0AC"/>
          </a:solidFill>
          <a:ln w="12700">
            <a:solidFill>
              <a:srgbClr val="FFFFFF"/>
            </a:solidFill>
            <a:prstDash val="solid"/>
          </a:ln>
        </p:spPr>
      </p:sp>
      <p:sp>
        <p:nvSpPr>
          <p:cNvPr id="13" name="Map Najran"/>
          <p:cNvSpPr/>
          <p:nvPr/>
        </p:nvSpPr>
        <p:spPr>
          <a:xfrm>
            <a:off x="9562713" y="4306150"/>
            <a:ext cx="712386" cy="488035"/>
          </a:xfrm>
          <a:custGeom>
            <a:avLst/>
            <a:gdLst/>
            <a:ahLst/>
            <a:cxnLst/>
            <a:rect l="l" t="t" r="r" b="b"/>
            <a:pathLst>
              <a:path w="712386" h="488035">
                <a:moveTo>
                  <a:pt x="712386" y="0"/>
                </a:moveTo>
                <a:lnTo>
                  <a:pt x="579451" y="26223"/>
                </a:lnTo>
                <a:lnTo>
                  <a:pt x="284445" y="52446"/>
                </a:lnTo>
                <a:lnTo>
                  <a:pt x="223986" y="45161"/>
                </a:lnTo>
                <a:lnTo>
                  <a:pt x="155152" y="3642"/>
                </a:lnTo>
                <a:lnTo>
                  <a:pt x="154787" y="35328"/>
                </a:lnTo>
                <a:lnTo>
                  <a:pt x="126379" y="60822"/>
                </a:lnTo>
                <a:lnTo>
                  <a:pt x="131478" y="124558"/>
                </a:lnTo>
                <a:lnTo>
                  <a:pt x="111447" y="142769"/>
                </a:lnTo>
                <a:lnTo>
                  <a:pt x="79761" y="153331"/>
                </a:lnTo>
                <a:lnTo>
                  <a:pt x="64464" y="182467"/>
                </a:lnTo>
                <a:lnTo>
                  <a:pt x="8013" y="240011"/>
                </a:lnTo>
                <a:lnTo>
                  <a:pt x="8013" y="274611"/>
                </a:lnTo>
                <a:lnTo>
                  <a:pt x="2914" y="341261"/>
                </a:lnTo>
                <a:lnTo>
                  <a:pt x="9105" y="372582"/>
                </a:lnTo>
                <a:lnTo>
                  <a:pt x="0" y="397712"/>
                </a:lnTo>
                <a:lnTo>
                  <a:pt x="11290" y="409003"/>
                </a:lnTo>
                <a:lnTo>
                  <a:pt x="60094" y="415923"/>
                </a:lnTo>
                <a:lnTo>
                  <a:pt x="67742" y="402447"/>
                </a:lnTo>
                <a:lnTo>
                  <a:pt x="84860" y="409003"/>
                </a:lnTo>
                <a:lnTo>
                  <a:pt x="89595" y="400990"/>
                </a:lnTo>
                <a:lnTo>
                  <a:pt x="128929" y="396620"/>
                </a:lnTo>
                <a:lnTo>
                  <a:pt x="276068" y="396256"/>
                </a:lnTo>
                <a:lnTo>
                  <a:pt x="307754" y="415558"/>
                </a:lnTo>
                <a:lnTo>
                  <a:pt x="428306" y="431219"/>
                </a:lnTo>
                <a:lnTo>
                  <a:pt x="474560" y="434497"/>
                </a:lnTo>
                <a:lnTo>
                  <a:pt x="540845" y="425028"/>
                </a:lnTo>
                <a:lnTo>
                  <a:pt x="583821" y="487671"/>
                </a:lnTo>
                <a:lnTo>
                  <a:pt x="615507" y="488035"/>
                </a:lnTo>
                <a:lnTo>
                  <a:pt x="664311" y="456350"/>
                </a:lnTo>
                <a:close/>
              </a:path>
            </a:pathLst>
          </a:custGeom>
          <a:solidFill>
            <a:srgbClr val="E15759"/>
          </a:solidFill>
          <a:ln w="12700">
            <a:solidFill>
              <a:srgbClr val="FFFFFF"/>
            </a:solidFill>
            <a:prstDash val="solid"/>
          </a:ln>
        </p:spPr>
      </p:sp>
      <p:sp>
        <p:nvSpPr>
          <p:cNvPr id="14" name="Map Northern Borders"/>
          <p:cNvSpPr/>
          <p:nvPr/>
        </p:nvSpPr>
        <p:spPr>
          <a:xfrm>
            <a:off x="8573895" y="1920240"/>
            <a:ext cx="1408747" cy="874822"/>
          </a:xfrm>
          <a:custGeom>
            <a:avLst/>
            <a:gdLst/>
            <a:ahLst/>
            <a:cxnLst/>
            <a:rect l="l" t="t" r="r" b="b"/>
            <a:pathLst>
              <a:path w="1408747" h="874822">
                <a:moveTo>
                  <a:pt x="1408747" y="578723"/>
                </a:moveTo>
                <a:lnTo>
                  <a:pt x="1179297" y="558691"/>
                </a:lnTo>
                <a:lnTo>
                  <a:pt x="724041" y="197035"/>
                </a:lnTo>
                <a:lnTo>
                  <a:pt x="612594" y="147503"/>
                </a:lnTo>
                <a:lnTo>
                  <a:pt x="435226" y="38970"/>
                </a:lnTo>
                <a:lnTo>
                  <a:pt x="226172" y="0"/>
                </a:lnTo>
                <a:lnTo>
                  <a:pt x="192301" y="29136"/>
                </a:lnTo>
                <a:lnTo>
                  <a:pt x="12747" y="77212"/>
                </a:lnTo>
                <a:lnTo>
                  <a:pt x="12019" y="147139"/>
                </a:lnTo>
                <a:lnTo>
                  <a:pt x="0" y="178825"/>
                </a:lnTo>
                <a:lnTo>
                  <a:pt x="35328" y="187566"/>
                </a:lnTo>
                <a:lnTo>
                  <a:pt x="31686" y="198492"/>
                </a:lnTo>
                <a:lnTo>
                  <a:pt x="45526" y="201406"/>
                </a:lnTo>
                <a:lnTo>
                  <a:pt x="52081" y="244746"/>
                </a:lnTo>
                <a:lnTo>
                  <a:pt x="115089" y="230542"/>
                </a:lnTo>
                <a:lnTo>
                  <a:pt x="145318" y="231271"/>
                </a:lnTo>
                <a:lnTo>
                  <a:pt x="155516" y="240376"/>
                </a:lnTo>
                <a:lnTo>
                  <a:pt x="187930" y="224351"/>
                </a:lnTo>
                <a:lnTo>
                  <a:pt x="227264" y="223986"/>
                </a:lnTo>
                <a:lnTo>
                  <a:pt x="262956" y="238555"/>
                </a:lnTo>
                <a:lnTo>
                  <a:pt x="303383" y="234184"/>
                </a:lnTo>
                <a:lnTo>
                  <a:pt x="321593" y="245839"/>
                </a:lnTo>
                <a:lnTo>
                  <a:pt x="341261" y="238919"/>
                </a:lnTo>
                <a:lnTo>
                  <a:pt x="380231" y="268419"/>
                </a:lnTo>
                <a:lnTo>
                  <a:pt x="398441" y="265870"/>
                </a:lnTo>
                <a:lnTo>
                  <a:pt x="415558" y="251302"/>
                </a:lnTo>
                <a:lnTo>
                  <a:pt x="482937" y="267691"/>
                </a:lnTo>
                <a:lnTo>
                  <a:pt x="538660" y="263321"/>
                </a:lnTo>
                <a:lnTo>
                  <a:pt x="553957" y="269148"/>
                </a:lnTo>
                <a:lnTo>
                  <a:pt x="556142" y="310667"/>
                </a:lnTo>
                <a:lnTo>
                  <a:pt x="570710" y="297920"/>
                </a:lnTo>
                <a:lnTo>
                  <a:pt x="608952" y="296099"/>
                </a:lnTo>
                <a:lnTo>
                  <a:pt x="646101" y="308846"/>
                </a:lnTo>
                <a:lnTo>
                  <a:pt x="634810" y="336890"/>
                </a:lnTo>
                <a:lnTo>
                  <a:pt x="665039" y="346359"/>
                </a:lnTo>
                <a:lnTo>
                  <a:pt x="705466" y="390428"/>
                </a:lnTo>
                <a:lnTo>
                  <a:pt x="673052" y="402811"/>
                </a:lnTo>
                <a:lnTo>
                  <a:pt x="666132" y="424299"/>
                </a:lnTo>
                <a:lnTo>
                  <a:pt x="639181" y="422478"/>
                </a:lnTo>
                <a:lnTo>
                  <a:pt x="623520" y="441417"/>
                </a:lnTo>
                <a:lnTo>
                  <a:pt x="604945" y="446880"/>
                </a:lnTo>
                <a:lnTo>
                  <a:pt x="609680" y="495684"/>
                </a:lnTo>
                <a:lnTo>
                  <a:pt x="624977" y="492406"/>
                </a:lnTo>
                <a:lnTo>
                  <a:pt x="623884" y="512437"/>
                </a:lnTo>
                <a:lnTo>
                  <a:pt x="638816" y="539024"/>
                </a:lnTo>
                <a:lnTo>
                  <a:pt x="641730" y="569617"/>
                </a:lnTo>
                <a:lnTo>
                  <a:pt x="608587" y="576173"/>
                </a:lnTo>
                <a:lnTo>
                  <a:pt x="596933" y="620242"/>
                </a:lnTo>
                <a:lnTo>
                  <a:pt x="693447" y="632989"/>
                </a:lnTo>
                <a:lnTo>
                  <a:pt x="717485" y="618785"/>
                </a:lnTo>
                <a:lnTo>
                  <a:pt x="731325" y="629711"/>
                </a:lnTo>
                <a:lnTo>
                  <a:pt x="791054" y="641730"/>
                </a:lnTo>
                <a:lnTo>
                  <a:pt x="809265" y="667225"/>
                </a:lnTo>
                <a:lnTo>
                  <a:pt x="845321" y="678151"/>
                </a:lnTo>
                <a:lnTo>
                  <a:pt x="843500" y="699639"/>
                </a:lnTo>
                <a:lnTo>
                  <a:pt x="851877" y="712022"/>
                </a:lnTo>
                <a:lnTo>
                  <a:pt x="863531" y="708380"/>
                </a:lnTo>
                <a:lnTo>
                  <a:pt x="898859" y="723312"/>
                </a:lnTo>
                <a:lnTo>
                  <a:pt x="927631" y="704009"/>
                </a:lnTo>
                <a:lnTo>
                  <a:pt x="957496" y="703281"/>
                </a:lnTo>
                <a:lnTo>
                  <a:pt x="962231" y="717121"/>
                </a:lnTo>
                <a:lnTo>
                  <a:pt x="965145" y="701460"/>
                </a:lnTo>
                <a:lnTo>
                  <a:pt x="1028881" y="702917"/>
                </a:lnTo>
                <a:lnTo>
                  <a:pt x="1039807" y="719670"/>
                </a:lnTo>
                <a:lnTo>
                  <a:pt x="1039078" y="793968"/>
                </a:lnTo>
                <a:lnTo>
                  <a:pt x="1050369" y="804894"/>
                </a:lnTo>
                <a:lnTo>
                  <a:pt x="1068943" y="791783"/>
                </a:lnTo>
                <a:lnTo>
                  <a:pt x="1103543" y="799795"/>
                </a:lnTo>
                <a:lnTo>
                  <a:pt x="1146519" y="831845"/>
                </a:lnTo>
                <a:lnTo>
                  <a:pt x="1180026" y="874822"/>
                </a:lnTo>
                <a:lnTo>
                  <a:pt x="1215354" y="859889"/>
                </a:lnTo>
                <a:lnTo>
                  <a:pt x="1251774" y="808536"/>
                </a:lnTo>
                <a:lnTo>
                  <a:pt x="1264886" y="759369"/>
                </a:lnTo>
                <a:lnTo>
                  <a:pt x="1288195" y="747714"/>
                </a:lnTo>
                <a:lnTo>
                  <a:pt x="1272898" y="704373"/>
                </a:lnTo>
                <a:lnTo>
                  <a:pt x="1236114" y="662854"/>
                </a:lnTo>
                <a:lnTo>
                  <a:pt x="1252867" y="637360"/>
                </a:lnTo>
                <a:lnTo>
                  <a:pt x="1339912" y="636995"/>
                </a:lnTo>
                <a:lnTo>
                  <a:pt x="1349017" y="620242"/>
                </a:lnTo>
                <a:lnTo>
                  <a:pt x="1401099" y="591834"/>
                </a:lnTo>
                <a:close/>
              </a:path>
            </a:pathLst>
          </a:custGeom>
          <a:solidFill>
            <a:srgbClr val="E15759"/>
          </a:solidFill>
          <a:ln w="12700">
            <a:solidFill>
              <a:srgbClr val="FFFFFF"/>
            </a:solidFill>
            <a:prstDash val="solid"/>
          </a:ln>
        </p:spPr>
      </p:sp>
      <p:sp>
        <p:nvSpPr>
          <p:cNvPr id="15" name="Map Hail"/>
          <p:cNvSpPr/>
          <p:nvPr/>
        </p:nvSpPr>
        <p:spPr>
          <a:xfrm>
            <a:off x="8830660" y="2538297"/>
            <a:ext cx="785591" cy="679243"/>
          </a:xfrm>
          <a:custGeom>
            <a:avLst/>
            <a:gdLst/>
            <a:ahLst/>
            <a:cxnLst/>
            <a:rect l="l" t="t" r="r" b="b"/>
            <a:pathLst>
              <a:path w="785591" h="679243">
                <a:moveTo>
                  <a:pt x="340168" y="2185"/>
                </a:moveTo>
                <a:lnTo>
                  <a:pt x="198856" y="0"/>
                </a:lnTo>
                <a:lnTo>
                  <a:pt x="71020" y="64100"/>
                </a:lnTo>
                <a:lnTo>
                  <a:pt x="13111" y="131842"/>
                </a:lnTo>
                <a:lnTo>
                  <a:pt x="0" y="167170"/>
                </a:lnTo>
                <a:lnTo>
                  <a:pt x="78304" y="211603"/>
                </a:lnTo>
                <a:lnTo>
                  <a:pt x="109626" y="305933"/>
                </a:lnTo>
                <a:lnTo>
                  <a:pt x="104891" y="332884"/>
                </a:lnTo>
                <a:lnTo>
                  <a:pt x="80854" y="312853"/>
                </a:lnTo>
                <a:lnTo>
                  <a:pt x="67378" y="315766"/>
                </a:lnTo>
                <a:lnTo>
                  <a:pt x="21124" y="382780"/>
                </a:lnTo>
                <a:lnTo>
                  <a:pt x="20396" y="398441"/>
                </a:lnTo>
                <a:lnTo>
                  <a:pt x="48439" y="407182"/>
                </a:lnTo>
                <a:lnTo>
                  <a:pt x="87409" y="470189"/>
                </a:lnTo>
                <a:lnTo>
                  <a:pt x="87774" y="495320"/>
                </a:lnTo>
                <a:lnTo>
                  <a:pt x="100521" y="516808"/>
                </a:lnTo>
                <a:lnTo>
                  <a:pt x="102342" y="650107"/>
                </a:lnTo>
                <a:lnTo>
                  <a:pt x="109626" y="661761"/>
                </a:lnTo>
                <a:lnTo>
                  <a:pt x="138398" y="672323"/>
                </a:lnTo>
                <a:lnTo>
                  <a:pt x="185745" y="679243"/>
                </a:lnTo>
                <a:lnTo>
                  <a:pt x="193029" y="652656"/>
                </a:lnTo>
                <a:lnTo>
                  <a:pt x="230542" y="655206"/>
                </a:lnTo>
                <a:lnTo>
                  <a:pt x="259679" y="624248"/>
                </a:lnTo>
                <a:lnTo>
                  <a:pt x="291000" y="626798"/>
                </a:lnTo>
                <a:lnTo>
                  <a:pt x="320865" y="643551"/>
                </a:lnTo>
                <a:lnTo>
                  <a:pt x="359107" y="595112"/>
                </a:lnTo>
                <a:lnTo>
                  <a:pt x="396984" y="597297"/>
                </a:lnTo>
                <a:lnTo>
                  <a:pt x="421022" y="567432"/>
                </a:lnTo>
                <a:lnTo>
                  <a:pt x="422478" y="551407"/>
                </a:lnTo>
                <a:lnTo>
                  <a:pt x="437411" y="555778"/>
                </a:lnTo>
                <a:lnTo>
                  <a:pt x="441417" y="529919"/>
                </a:lnTo>
                <a:lnTo>
                  <a:pt x="468004" y="510980"/>
                </a:lnTo>
                <a:lnTo>
                  <a:pt x="480387" y="515715"/>
                </a:lnTo>
                <a:lnTo>
                  <a:pt x="485486" y="509524"/>
                </a:lnTo>
                <a:lnTo>
                  <a:pt x="480751" y="480023"/>
                </a:lnTo>
                <a:lnTo>
                  <a:pt x="500783" y="456714"/>
                </a:lnTo>
                <a:lnTo>
                  <a:pt x="510980" y="455257"/>
                </a:lnTo>
                <a:lnTo>
                  <a:pt x="514622" y="465455"/>
                </a:lnTo>
                <a:lnTo>
                  <a:pt x="522635" y="447609"/>
                </a:lnTo>
                <a:lnTo>
                  <a:pt x="559420" y="429398"/>
                </a:lnTo>
                <a:lnTo>
                  <a:pt x="575809" y="403904"/>
                </a:lnTo>
                <a:lnTo>
                  <a:pt x="575445" y="389700"/>
                </a:lnTo>
                <a:lnTo>
                  <a:pt x="614779" y="371490"/>
                </a:lnTo>
                <a:lnTo>
                  <a:pt x="627162" y="379138"/>
                </a:lnTo>
                <a:lnTo>
                  <a:pt x="645372" y="363841"/>
                </a:lnTo>
                <a:lnTo>
                  <a:pt x="662490" y="333612"/>
                </a:lnTo>
                <a:lnTo>
                  <a:pt x="662126" y="316495"/>
                </a:lnTo>
                <a:lnTo>
                  <a:pt x="683614" y="308846"/>
                </a:lnTo>
                <a:lnTo>
                  <a:pt x="671231" y="297192"/>
                </a:lnTo>
                <a:lnTo>
                  <a:pt x="674873" y="277889"/>
                </a:lnTo>
                <a:lnTo>
                  <a:pt x="691262" y="274611"/>
                </a:lnTo>
                <a:lnTo>
                  <a:pt x="697089" y="262592"/>
                </a:lnTo>
                <a:lnTo>
                  <a:pt x="748807" y="258586"/>
                </a:lnTo>
                <a:lnTo>
                  <a:pt x="751720" y="177368"/>
                </a:lnTo>
                <a:lnTo>
                  <a:pt x="785591" y="146411"/>
                </a:lnTo>
                <a:lnTo>
                  <a:pt x="777579" y="118367"/>
                </a:lnTo>
                <a:lnTo>
                  <a:pt x="782678" y="99428"/>
                </a:lnTo>
                <a:lnTo>
                  <a:pt x="772116" y="84860"/>
                </a:lnTo>
                <a:lnTo>
                  <a:pt x="753177" y="88502"/>
                </a:lnTo>
                <a:lnTo>
                  <a:pt x="739701" y="80125"/>
                </a:lnTo>
                <a:lnTo>
                  <a:pt x="722948" y="88138"/>
                </a:lnTo>
                <a:lnTo>
                  <a:pt x="708380" y="83403"/>
                </a:lnTo>
                <a:lnTo>
                  <a:pt x="705466" y="99064"/>
                </a:lnTo>
                <a:lnTo>
                  <a:pt x="700731" y="85224"/>
                </a:lnTo>
                <a:lnTo>
                  <a:pt x="670867" y="85953"/>
                </a:lnTo>
                <a:lnTo>
                  <a:pt x="642094" y="105255"/>
                </a:lnTo>
                <a:lnTo>
                  <a:pt x="606766" y="90323"/>
                </a:lnTo>
                <a:lnTo>
                  <a:pt x="595112" y="93965"/>
                </a:lnTo>
                <a:lnTo>
                  <a:pt x="586735" y="81582"/>
                </a:lnTo>
                <a:lnTo>
                  <a:pt x="588556" y="60094"/>
                </a:lnTo>
                <a:lnTo>
                  <a:pt x="552500" y="49168"/>
                </a:lnTo>
                <a:lnTo>
                  <a:pt x="534289" y="23673"/>
                </a:lnTo>
                <a:lnTo>
                  <a:pt x="474560" y="11655"/>
                </a:lnTo>
                <a:lnTo>
                  <a:pt x="460720" y="728"/>
                </a:lnTo>
                <a:lnTo>
                  <a:pt x="436682" y="14932"/>
                </a:lnTo>
                <a:close/>
              </a:path>
            </a:pathLst>
          </a:custGeom>
          <a:solidFill>
            <a:srgbClr val="E15759"/>
          </a:solidFill>
          <a:ln w="12700">
            <a:solidFill>
              <a:srgbClr val="FFFFFF"/>
            </a:solidFill>
            <a:prstDash val="solid"/>
          </a:ln>
        </p:spPr>
      </p:sp>
      <p:sp>
        <p:nvSpPr>
          <p:cNvPr id="16" name="Map Riyadh"/>
          <p:cNvSpPr/>
          <p:nvPr/>
        </p:nvSpPr>
        <p:spPr>
          <a:xfrm>
            <a:off x="9278997" y="2767382"/>
            <a:ext cx="1093709" cy="1591214"/>
          </a:xfrm>
          <a:custGeom>
            <a:avLst/>
            <a:gdLst/>
            <a:ahLst/>
            <a:cxnLst/>
            <a:rect l="l" t="t" r="r" b="b"/>
            <a:pathLst>
              <a:path w="1093709" h="1591214">
                <a:moveTo>
                  <a:pt x="518629" y="0"/>
                </a:moveTo>
                <a:lnTo>
                  <a:pt x="504060" y="17482"/>
                </a:lnTo>
                <a:lnTo>
                  <a:pt x="474196" y="27680"/>
                </a:lnTo>
                <a:lnTo>
                  <a:pt x="500783" y="70656"/>
                </a:lnTo>
                <a:lnTo>
                  <a:pt x="504060" y="140219"/>
                </a:lnTo>
                <a:lnTo>
                  <a:pt x="471646" y="118731"/>
                </a:lnTo>
                <a:lnTo>
                  <a:pt x="429398" y="126744"/>
                </a:lnTo>
                <a:lnTo>
                  <a:pt x="420293" y="139127"/>
                </a:lnTo>
                <a:lnTo>
                  <a:pt x="417015" y="199949"/>
                </a:lnTo>
                <a:lnTo>
                  <a:pt x="437047" y="303019"/>
                </a:lnTo>
                <a:lnTo>
                  <a:pt x="460720" y="354736"/>
                </a:lnTo>
                <a:lnTo>
                  <a:pt x="486579" y="372582"/>
                </a:lnTo>
                <a:lnTo>
                  <a:pt x="473467" y="409367"/>
                </a:lnTo>
                <a:lnTo>
                  <a:pt x="428306" y="389700"/>
                </a:lnTo>
                <a:lnTo>
                  <a:pt x="414102" y="404632"/>
                </a:lnTo>
                <a:lnTo>
                  <a:pt x="359107" y="420293"/>
                </a:lnTo>
                <a:lnTo>
                  <a:pt x="344538" y="441417"/>
                </a:lnTo>
                <a:lnTo>
                  <a:pt x="303747" y="446152"/>
                </a:lnTo>
                <a:lnTo>
                  <a:pt x="295735" y="470189"/>
                </a:lnTo>
                <a:lnTo>
                  <a:pt x="255308" y="466183"/>
                </a:lnTo>
                <a:lnTo>
                  <a:pt x="222530" y="502239"/>
                </a:lnTo>
                <a:lnTo>
                  <a:pt x="198492" y="507702"/>
                </a:lnTo>
                <a:lnTo>
                  <a:pt x="194850" y="524092"/>
                </a:lnTo>
                <a:lnTo>
                  <a:pt x="207961" y="517172"/>
                </a:lnTo>
                <a:lnTo>
                  <a:pt x="214517" y="522999"/>
                </a:lnTo>
                <a:lnTo>
                  <a:pt x="196671" y="535018"/>
                </a:lnTo>
                <a:lnTo>
                  <a:pt x="204319" y="544851"/>
                </a:lnTo>
                <a:lnTo>
                  <a:pt x="193029" y="552500"/>
                </a:lnTo>
                <a:lnTo>
                  <a:pt x="213060" y="556142"/>
                </a:lnTo>
                <a:lnTo>
                  <a:pt x="188658" y="596569"/>
                </a:lnTo>
                <a:lnTo>
                  <a:pt x="160250" y="590741"/>
                </a:lnTo>
                <a:lnTo>
                  <a:pt x="139855" y="610044"/>
                </a:lnTo>
                <a:lnTo>
                  <a:pt x="101613" y="610044"/>
                </a:lnTo>
                <a:lnTo>
                  <a:pt x="79033" y="561969"/>
                </a:lnTo>
                <a:lnTo>
                  <a:pt x="26587" y="560512"/>
                </a:lnTo>
                <a:lnTo>
                  <a:pt x="4006" y="615507"/>
                </a:lnTo>
                <a:lnTo>
                  <a:pt x="0" y="733874"/>
                </a:lnTo>
                <a:lnTo>
                  <a:pt x="22217" y="754634"/>
                </a:lnTo>
                <a:lnTo>
                  <a:pt x="65921" y="884655"/>
                </a:lnTo>
                <a:lnTo>
                  <a:pt x="84131" y="897038"/>
                </a:lnTo>
                <a:lnTo>
                  <a:pt x="173726" y="906872"/>
                </a:lnTo>
                <a:lnTo>
                  <a:pt x="179918" y="967694"/>
                </a:lnTo>
                <a:lnTo>
                  <a:pt x="258950" y="973886"/>
                </a:lnTo>
                <a:lnTo>
                  <a:pt x="264777" y="1080598"/>
                </a:lnTo>
                <a:lnTo>
                  <a:pt x="249845" y="1110098"/>
                </a:lnTo>
                <a:lnTo>
                  <a:pt x="244382" y="1192773"/>
                </a:lnTo>
                <a:lnTo>
                  <a:pt x="292093" y="1265614"/>
                </a:lnTo>
                <a:lnTo>
                  <a:pt x="358014" y="1339548"/>
                </a:lnTo>
                <a:lnTo>
                  <a:pt x="360563" y="1356301"/>
                </a:lnTo>
                <a:lnTo>
                  <a:pt x="343810" y="1386530"/>
                </a:lnTo>
                <a:lnTo>
                  <a:pt x="337619" y="1431328"/>
                </a:lnTo>
                <a:lnTo>
                  <a:pt x="371125" y="1479403"/>
                </a:lnTo>
                <a:lnTo>
                  <a:pt x="438868" y="1542410"/>
                </a:lnTo>
                <a:lnTo>
                  <a:pt x="507702" y="1583930"/>
                </a:lnTo>
                <a:lnTo>
                  <a:pt x="568161" y="1591214"/>
                </a:lnTo>
                <a:lnTo>
                  <a:pt x="863167" y="1564991"/>
                </a:lnTo>
                <a:lnTo>
                  <a:pt x="996102" y="1538768"/>
                </a:lnTo>
                <a:lnTo>
                  <a:pt x="1093709" y="754998"/>
                </a:lnTo>
                <a:lnTo>
                  <a:pt x="1086789" y="681429"/>
                </a:lnTo>
                <a:lnTo>
                  <a:pt x="1063844" y="641730"/>
                </a:lnTo>
                <a:lnTo>
                  <a:pt x="953490" y="546308"/>
                </a:lnTo>
                <a:lnTo>
                  <a:pt x="949484" y="303019"/>
                </a:lnTo>
                <a:lnTo>
                  <a:pt x="941835" y="265870"/>
                </a:lnTo>
                <a:lnTo>
                  <a:pt x="878100" y="240011"/>
                </a:lnTo>
                <a:lnTo>
                  <a:pt x="838401" y="197399"/>
                </a:lnTo>
                <a:lnTo>
                  <a:pt x="796517" y="201041"/>
                </a:lnTo>
                <a:lnTo>
                  <a:pt x="734603" y="160979"/>
                </a:lnTo>
                <a:lnTo>
                  <a:pt x="683614" y="155516"/>
                </a:lnTo>
                <a:lnTo>
                  <a:pt x="642094" y="116182"/>
                </a:lnTo>
                <a:lnTo>
                  <a:pt x="613322" y="111083"/>
                </a:lnTo>
                <a:lnTo>
                  <a:pt x="564883" y="83767"/>
                </a:lnTo>
                <a:lnTo>
                  <a:pt x="529919" y="8377"/>
                </a:lnTo>
                <a:close/>
              </a:path>
            </a:pathLst>
          </a:custGeom>
          <a:solidFill>
            <a:srgbClr val="BAB0AC"/>
          </a:solidFill>
          <a:ln w="12700">
            <a:solidFill>
              <a:srgbClr val="FFFFFF"/>
            </a:solidFill>
            <a:prstDash val="solid"/>
          </a:ln>
        </p:spPr>
      </p:sp>
      <p:sp>
        <p:nvSpPr>
          <p:cNvPr id="17" name="Map Asir"/>
          <p:cNvSpPr/>
          <p:nvPr/>
        </p:nvSpPr>
        <p:spPr>
          <a:xfrm>
            <a:off x="9179205" y="4032996"/>
            <a:ext cx="538660" cy="670867"/>
          </a:xfrm>
          <a:custGeom>
            <a:avLst/>
            <a:gdLst/>
            <a:ahLst/>
            <a:cxnLst/>
            <a:rect l="l" t="t" r="r" b="b"/>
            <a:pathLst>
              <a:path w="538660" h="670867">
                <a:moveTo>
                  <a:pt x="538660" y="276796"/>
                </a:moveTo>
                <a:lnTo>
                  <a:pt x="470918" y="213789"/>
                </a:lnTo>
                <a:lnTo>
                  <a:pt x="437411" y="165714"/>
                </a:lnTo>
                <a:lnTo>
                  <a:pt x="459627" y="78668"/>
                </a:lnTo>
                <a:lnTo>
                  <a:pt x="391885" y="0"/>
                </a:lnTo>
                <a:lnTo>
                  <a:pt x="343082" y="26951"/>
                </a:lnTo>
                <a:lnTo>
                  <a:pt x="316859" y="20396"/>
                </a:lnTo>
                <a:lnTo>
                  <a:pt x="266963" y="30957"/>
                </a:lnTo>
                <a:lnTo>
                  <a:pt x="151509" y="119824"/>
                </a:lnTo>
                <a:lnTo>
                  <a:pt x="132935" y="113268"/>
                </a:lnTo>
                <a:lnTo>
                  <a:pt x="109626" y="66285"/>
                </a:lnTo>
                <a:lnTo>
                  <a:pt x="98700" y="99428"/>
                </a:lnTo>
                <a:lnTo>
                  <a:pt x="110718" y="122009"/>
                </a:lnTo>
                <a:lnTo>
                  <a:pt x="76483" y="150053"/>
                </a:lnTo>
                <a:lnTo>
                  <a:pt x="73205" y="177732"/>
                </a:lnTo>
                <a:lnTo>
                  <a:pt x="52081" y="222894"/>
                </a:lnTo>
                <a:lnTo>
                  <a:pt x="71020" y="219616"/>
                </a:lnTo>
                <a:lnTo>
                  <a:pt x="80125" y="229449"/>
                </a:lnTo>
                <a:lnTo>
                  <a:pt x="74298" y="269512"/>
                </a:lnTo>
                <a:lnTo>
                  <a:pt x="85588" y="301562"/>
                </a:lnTo>
                <a:lnTo>
                  <a:pt x="71748" y="330334"/>
                </a:lnTo>
                <a:lnTo>
                  <a:pt x="36785" y="329970"/>
                </a:lnTo>
                <a:lnTo>
                  <a:pt x="13476" y="345995"/>
                </a:lnTo>
                <a:lnTo>
                  <a:pt x="0" y="336526"/>
                </a:lnTo>
                <a:lnTo>
                  <a:pt x="2185" y="408274"/>
                </a:lnTo>
                <a:lnTo>
                  <a:pt x="57180" y="421750"/>
                </a:lnTo>
                <a:lnTo>
                  <a:pt x="72113" y="469825"/>
                </a:lnTo>
                <a:lnTo>
                  <a:pt x="64464" y="503332"/>
                </a:lnTo>
                <a:lnTo>
                  <a:pt x="93237" y="506246"/>
                </a:lnTo>
                <a:lnTo>
                  <a:pt x="90323" y="552136"/>
                </a:lnTo>
                <a:lnTo>
                  <a:pt x="119459" y="553592"/>
                </a:lnTo>
                <a:lnTo>
                  <a:pt x="132935" y="579087"/>
                </a:lnTo>
                <a:lnTo>
                  <a:pt x="174454" y="581272"/>
                </a:lnTo>
                <a:lnTo>
                  <a:pt x="188658" y="607131"/>
                </a:lnTo>
                <a:lnTo>
                  <a:pt x="216338" y="627526"/>
                </a:lnTo>
                <a:lnTo>
                  <a:pt x="237098" y="576537"/>
                </a:lnTo>
                <a:lnTo>
                  <a:pt x="262592" y="560512"/>
                </a:lnTo>
                <a:lnTo>
                  <a:pt x="266598" y="589649"/>
                </a:lnTo>
                <a:lnTo>
                  <a:pt x="284809" y="599118"/>
                </a:lnTo>
                <a:lnTo>
                  <a:pt x="297920" y="623520"/>
                </a:lnTo>
                <a:lnTo>
                  <a:pt x="316130" y="629711"/>
                </a:lnTo>
                <a:lnTo>
                  <a:pt x="332155" y="650835"/>
                </a:lnTo>
                <a:lnTo>
                  <a:pt x="360199" y="648650"/>
                </a:lnTo>
                <a:lnTo>
                  <a:pt x="383508" y="670867"/>
                </a:lnTo>
                <a:lnTo>
                  <a:pt x="392978" y="641730"/>
                </a:lnTo>
                <a:lnTo>
                  <a:pt x="386786" y="521907"/>
                </a:lnTo>
                <a:lnTo>
                  <a:pt x="447973" y="455621"/>
                </a:lnTo>
                <a:lnTo>
                  <a:pt x="463269" y="426485"/>
                </a:lnTo>
                <a:lnTo>
                  <a:pt x="513166" y="401354"/>
                </a:lnTo>
                <a:lnTo>
                  <a:pt x="518993" y="378774"/>
                </a:lnTo>
                <a:lnTo>
                  <a:pt x="509888" y="333976"/>
                </a:lnTo>
                <a:lnTo>
                  <a:pt x="538296" y="308482"/>
                </a:lnTo>
                <a:close/>
              </a:path>
            </a:pathLst>
          </a:custGeom>
          <a:solidFill>
            <a:srgbClr val="E15759"/>
          </a:solidFill>
          <a:ln w="12700">
            <a:solidFill>
              <a:srgbClr val="FFFFFF"/>
            </a:solidFill>
            <a:prstDash val="solid"/>
          </a:ln>
        </p:spPr>
      </p:sp>
      <p:sp>
        <p:nvSpPr>
          <p:cNvPr id="18" name="Map Makkah"/>
          <p:cNvSpPr/>
          <p:nvPr/>
        </p:nvSpPr>
        <p:spPr>
          <a:xfrm>
            <a:off x="8707559" y="3471027"/>
            <a:ext cx="863531" cy="1106456"/>
          </a:xfrm>
          <a:custGeom>
            <a:avLst/>
            <a:gdLst/>
            <a:ahLst/>
            <a:cxnLst/>
            <a:rect l="l" t="t" r="r" b="b"/>
            <a:pathLst>
              <a:path w="863531" h="1106456">
                <a:moveTo>
                  <a:pt x="573259" y="0"/>
                </a:moveTo>
                <a:lnTo>
                  <a:pt x="531740" y="1093"/>
                </a:lnTo>
                <a:lnTo>
                  <a:pt x="535382" y="41519"/>
                </a:lnTo>
                <a:lnTo>
                  <a:pt x="526641" y="60458"/>
                </a:lnTo>
                <a:lnTo>
                  <a:pt x="449430" y="104527"/>
                </a:lnTo>
                <a:lnTo>
                  <a:pt x="481115" y="130386"/>
                </a:lnTo>
                <a:lnTo>
                  <a:pt x="480387" y="142404"/>
                </a:lnTo>
                <a:lnTo>
                  <a:pt x="439596" y="162800"/>
                </a:lnTo>
                <a:lnTo>
                  <a:pt x="367119" y="226172"/>
                </a:lnTo>
                <a:lnTo>
                  <a:pt x="344903" y="260043"/>
                </a:lnTo>
                <a:lnTo>
                  <a:pt x="302655" y="249117"/>
                </a:lnTo>
                <a:lnTo>
                  <a:pt x="267691" y="275704"/>
                </a:lnTo>
                <a:lnTo>
                  <a:pt x="244018" y="272790"/>
                </a:lnTo>
                <a:lnTo>
                  <a:pt x="242561" y="233092"/>
                </a:lnTo>
                <a:lnTo>
                  <a:pt x="209418" y="213789"/>
                </a:lnTo>
                <a:lnTo>
                  <a:pt x="222165" y="174090"/>
                </a:lnTo>
                <a:lnTo>
                  <a:pt x="215610" y="150781"/>
                </a:lnTo>
                <a:lnTo>
                  <a:pt x="139491" y="168627"/>
                </a:lnTo>
                <a:lnTo>
                  <a:pt x="133663" y="146411"/>
                </a:lnTo>
                <a:lnTo>
                  <a:pt x="93601" y="148960"/>
                </a:lnTo>
                <a:lnTo>
                  <a:pt x="45161" y="94693"/>
                </a:lnTo>
                <a:lnTo>
                  <a:pt x="0" y="99792"/>
                </a:lnTo>
                <a:lnTo>
                  <a:pt x="3278" y="123101"/>
                </a:lnTo>
                <a:lnTo>
                  <a:pt x="21488" y="146775"/>
                </a:lnTo>
                <a:lnTo>
                  <a:pt x="22945" y="177732"/>
                </a:lnTo>
                <a:lnTo>
                  <a:pt x="43705" y="187566"/>
                </a:lnTo>
                <a:lnTo>
                  <a:pt x="52810" y="205412"/>
                </a:lnTo>
                <a:lnTo>
                  <a:pt x="44069" y="207597"/>
                </a:lnTo>
                <a:lnTo>
                  <a:pt x="31686" y="191208"/>
                </a:lnTo>
                <a:lnTo>
                  <a:pt x="59730" y="224715"/>
                </a:lnTo>
                <a:lnTo>
                  <a:pt x="55723" y="230542"/>
                </a:lnTo>
                <a:lnTo>
                  <a:pt x="75026" y="269148"/>
                </a:lnTo>
                <a:lnTo>
                  <a:pt x="71020" y="293550"/>
                </a:lnTo>
                <a:lnTo>
                  <a:pt x="75026" y="300470"/>
                </a:lnTo>
                <a:lnTo>
                  <a:pt x="82310" y="291729"/>
                </a:lnTo>
                <a:lnTo>
                  <a:pt x="64829" y="329970"/>
                </a:lnTo>
                <a:lnTo>
                  <a:pt x="67014" y="356557"/>
                </a:lnTo>
                <a:lnTo>
                  <a:pt x="60094" y="356921"/>
                </a:lnTo>
                <a:lnTo>
                  <a:pt x="59001" y="371125"/>
                </a:lnTo>
                <a:lnTo>
                  <a:pt x="51717" y="371125"/>
                </a:lnTo>
                <a:lnTo>
                  <a:pt x="56088" y="361292"/>
                </a:lnTo>
                <a:lnTo>
                  <a:pt x="45526" y="366027"/>
                </a:lnTo>
                <a:lnTo>
                  <a:pt x="72113" y="423207"/>
                </a:lnTo>
                <a:lnTo>
                  <a:pt x="87409" y="410095"/>
                </a:lnTo>
                <a:lnTo>
                  <a:pt x="72477" y="424299"/>
                </a:lnTo>
                <a:lnTo>
                  <a:pt x="90323" y="480023"/>
                </a:lnTo>
                <a:lnTo>
                  <a:pt x="74662" y="496412"/>
                </a:lnTo>
                <a:lnTo>
                  <a:pt x="103070" y="552500"/>
                </a:lnTo>
                <a:lnTo>
                  <a:pt x="110718" y="571438"/>
                </a:lnTo>
                <a:lnTo>
                  <a:pt x="136577" y="590741"/>
                </a:lnTo>
                <a:lnTo>
                  <a:pt x="130750" y="591834"/>
                </a:lnTo>
                <a:lnTo>
                  <a:pt x="136577" y="606038"/>
                </a:lnTo>
                <a:lnTo>
                  <a:pt x="135484" y="598025"/>
                </a:lnTo>
                <a:lnTo>
                  <a:pt x="143497" y="602032"/>
                </a:lnTo>
                <a:lnTo>
                  <a:pt x="149688" y="625341"/>
                </a:lnTo>
                <a:lnTo>
                  <a:pt x="183924" y="672323"/>
                </a:lnTo>
                <a:lnTo>
                  <a:pt x="221437" y="697454"/>
                </a:lnTo>
                <a:lnTo>
                  <a:pt x="213789" y="688713"/>
                </a:lnTo>
                <a:lnTo>
                  <a:pt x="249481" y="694904"/>
                </a:lnTo>
                <a:lnTo>
                  <a:pt x="279710" y="727683"/>
                </a:lnTo>
                <a:lnTo>
                  <a:pt x="323415" y="752813"/>
                </a:lnTo>
                <a:lnTo>
                  <a:pt x="323050" y="764832"/>
                </a:lnTo>
                <a:lnTo>
                  <a:pt x="342353" y="791419"/>
                </a:lnTo>
                <a:lnTo>
                  <a:pt x="348545" y="793240"/>
                </a:lnTo>
                <a:lnTo>
                  <a:pt x="343810" y="785227"/>
                </a:lnTo>
                <a:lnTo>
                  <a:pt x="360928" y="788505"/>
                </a:lnTo>
                <a:lnTo>
                  <a:pt x="370397" y="809265"/>
                </a:lnTo>
                <a:lnTo>
                  <a:pt x="364570" y="820191"/>
                </a:lnTo>
                <a:lnTo>
                  <a:pt x="396620" y="841679"/>
                </a:lnTo>
                <a:lnTo>
                  <a:pt x="394799" y="869359"/>
                </a:lnTo>
                <a:lnTo>
                  <a:pt x="410824" y="885748"/>
                </a:lnTo>
                <a:lnTo>
                  <a:pt x="415558" y="912699"/>
                </a:lnTo>
                <a:lnTo>
                  <a:pt x="430855" y="919255"/>
                </a:lnTo>
                <a:lnTo>
                  <a:pt x="425392" y="944021"/>
                </a:lnTo>
                <a:lnTo>
                  <a:pt x="445059" y="964416"/>
                </a:lnTo>
                <a:lnTo>
                  <a:pt x="438868" y="991003"/>
                </a:lnTo>
                <a:lnTo>
                  <a:pt x="447244" y="1008849"/>
                </a:lnTo>
                <a:lnTo>
                  <a:pt x="465090" y="1015041"/>
                </a:lnTo>
                <a:lnTo>
                  <a:pt x="478566" y="1033251"/>
                </a:lnTo>
                <a:lnTo>
                  <a:pt x="487671" y="1080234"/>
                </a:lnTo>
                <a:lnTo>
                  <a:pt x="494227" y="1079505"/>
                </a:lnTo>
                <a:lnTo>
                  <a:pt x="504060" y="1106456"/>
                </a:lnTo>
                <a:lnTo>
                  <a:pt x="513166" y="1086789"/>
                </a:lnTo>
                <a:lnTo>
                  <a:pt x="531012" y="1075863"/>
                </a:lnTo>
                <a:lnTo>
                  <a:pt x="543759" y="1031794"/>
                </a:lnTo>
                <a:lnTo>
                  <a:pt x="528826" y="983719"/>
                </a:lnTo>
                <a:lnTo>
                  <a:pt x="473831" y="970244"/>
                </a:lnTo>
                <a:lnTo>
                  <a:pt x="470189" y="906508"/>
                </a:lnTo>
                <a:lnTo>
                  <a:pt x="471646" y="898495"/>
                </a:lnTo>
                <a:lnTo>
                  <a:pt x="485122" y="907964"/>
                </a:lnTo>
                <a:lnTo>
                  <a:pt x="508431" y="891939"/>
                </a:lnTo>
                <a:lnTo>
                  <a:pt x="547037" y="889754"/>
                </a:lnTo>
                <a:lnTo>
                  <a:pt x="557234" y="858432"/>
                </a:lnTo>
                <a:lnTo>
                  <a:pt x="546308" y="835487"/>
                </a:lnTo>
                <a:lnTo>
                  <a:pt x="551771" y="791419"/>
                </a:lnTo>
                <a:lnTo>
                  <a:pt x="535018" y="780857"/>
                </a:lnTo>
                <a:lnTo>
                  <a:pt x="488764" y="790690"/>
                </a:lnTo>
                <a:lnTo>
                  <a:pt x="463998" y="860618"/>
                </a:lnTo>
                <a:lnTo>
                  <a:pt x="439960" y="866445"/>
                </a:lnTo>
                <a:lnTo>
                  <a:pt x="396620" y="826018"/>
                </a:lnTo>
                <a:lnTo>
                  <a:pt x="395163" y="754998"/>
                </a:lnTo>
                <a:lnTo>
                  <a:pt x="367483" y="730596"/>
                </a:lnTo>
                <a:lnTo>
                  <a:pt x="387515" y="709472"/>
                </a:lnTo>
                <a:lnTo>
                  <a:pt x="426485" y="699639"/>
                </a:lnTo>
                <a:lnTo>
                  <a:pt x="446880" y="657391"/>
                </a:lnTo>
                <a:lnTo>
                  <a:pt x="441781" y="621699"/>
                </a:lnTo>
                <a:lnTo>
                  <a:pt x="451979" y="603489"/>
                </a:lnTo>
                <a:lnTo>
                  <a:pt x="470554" y="604945"/>
                </a:lnTo>
                <a:lnTo>
                  <a:pt x="492770" y="639545"/>
                </a:lnTo>
                <a:lnTo>
                  <a:pt x="571438" y="618421"/>
                </a:lnTo>
                <a:lnTo>
                  <a:pt x="604581" y="675237"/>
                </a:lnTo>
                <a:lnTo>
                  <a:pt x="623156" y="681793"/>
                </a:lnTo>
                <a:lnTo>
                  <a:pt x="738609" y="592927"/>
                </a:lnTo>
                <a:lnTo>
                  <a:pt x="788505" y="582365"/>
                </a:lnTo>
                <a:lnTo>
                  <a:pt x="814728" y="588920"/>
                </a:lnTo>
                <a:lnTo>
                  <a:pt x="863531" y="561969"/>
                </a:lnTo>
                <a:lnTo>
                  <a:pt x="815092" y="485486"/>
                </a:lnTo>
                <a:lnTo>
                  <a:pt x="821283" y="406453"/>
                </a:lnTo>
                <a:lnTo>
                  <a:pt x="836216" y="376953"/>
                </a:lnTo>
                <a:lnTo>
                  <a:pt x="830389" y="270240"/>
                </a:lnTo>
                <a:lnTo>
                  <a:pt x="751356" y="264049"/>
                </a:lnTo>
                <a:lnTo>
                  <a:pt x="745164" y="252394"/>
                </a:lnTo>
                <a:lnTo>
                  <a:pt x="750628" y="210511"/>
                </a:lnTo>
                <a:lnTo>
                  <a:pt x="741522" y="200677"/>
                </a:lnTo>
                <a:lnTo>
                  <a:pt x="655570" y="193393"/>
                </a:lnTo>
                <a:lnTo>
                  <a:pt x="640273" y="185016"/>
                </a:lnTo>
                <a:lnTo>
                  <a:pt x="593655" y="50989"/>
                </a:lnTo>
                <a:lnTo>
                  <a:pt x="572895" y="34235"/>
                </a:lnTo>
                <a:close/>
              </a:path>
            </a:pathLst>
          </a:custGeom>
          <a:solidFill>
            <a:srgbClr val="BAB0AC"/>
          </a:solidFill>
          <a:ln w="12700">
            <a:solidFill>
              <a:srgbClr val="FFFFFF"/>
            </a:solidFill>
            <a:prstDash val="solid"/>
          </a:ln>
        </p:spPr>
      </p:sp>
      <p:sp>
        <p:nvSpPr>
          <p:cNvPr id="19" name="Map Tabuk"/>
          <p:cNvSpPr/>
          <p:nvPr/>
        </p:nvSpPr>
        <p:spPr>
          <a:xfrm>
            <a:off x="8001000" y="2327422"/>
            <a:ext cx="938922" cy="1030337"/>
          </a:xfrm>
          <a:custGeom>
            <a:avLst/>
            <a:gdLst/>
            <a:ahLst/>
            <a:cxnLst/>
            <a:rect l="l" t="t" r="r" b="b"/>
            <a:pathLst>
              <a:path w="938922" h="1030337">
                <a:moveTo>
                  <a:pt x="900680" y="274975"/>
                </a:moveTo>
                <a:lnTo>
                  <a:pt x="888297" y="261500"/>
                </a:lnTo>
                <a:lnTo>
                  <a:pt x="818370" y="236005"/>
                </a:lnTo>
                <a:lnTo>
                  <a:pt x="691626" y="144590"/>
                </a:lnTo>
                <a:lnTo>
                  <a:pt x="675965" y="140948"/>
                </a:lnTo>
                <a:lnTo>
                  <a:pt x="630076" y="154059"/>
                </a:lnTo>
                <a:lnTo>
                  <a:pt x="634810" y="128200"/>
                </a:lnTo>
                <a:lnTo>
                  <a:pt x="660305" y="93601"/>
                </a:lnTo>
                <a:lnTo>
                  <a:pt x="577994" y="57180"/>
                </a:lnTo>
                <a:lnTo>
                  <a:pt x="505517" y="0"/>
                </a:lnTo>
                <a:lnTo>
                  <a:pt x="376224" y="24766"/>
                </a:lnTo>
                <a:lnTo>
                  <a:pt x="333248" y="94693"/>
                </a:lnTo>
                <a:lnTo>
                  <a:pt x="258950" y="154423"/>
                </a:lnTo>
                <a:lnTo>
                  <a:pt x="66285" y="121645"/>
                </a:lnTo>
                <a:lnTo>
                  <a:pt x="34600" y="252759"/>
                </a:lnTo>
                <a:lnTo>
                  <a:pt x="40063" y="279346"/>
                </a:lnTo>
                <a:lnTo>
                  <a:pt x="14568" y="347088"/>
                </a:lnTo>
                <a:lnTo>
                  <a:pt x="0" y="361656"/>
                </a:lnTo>
                <a:lnTo>
                  <a:pt x="6191" y="359835"/>
                </a:lnTo>
                <a:lnTo>
                  <a:pt x="8741" y="373311"/>
                </a:lnTo>
                <a:lnTo>
                  <a:pt x="18939" y="352915"/>
                </a:lnTo>
                <a:lnTo>
                  <a:pt x="31322" y="358742"/>
                </a:lnTo>
                <a:lnTo>
                  <a:pt x="28408" y="366755"/>
                </a:lnTo>
                <a:lnTo>
                  <a:pt x="41519" y="357286"/>
                </a:lnTo>
                <a:lnTo>
                  <a:pt x="38242" y="364570"/>
                </a:lnTo>
                <a:lnTo>
                  <a:pt x="47347" y="356557"/>
                </a:lnTo>
                <a:lnTo>
                  <a:pt x="47347" y="364570"/>
                </a:lnTo>
                <a:lnTo>
                  <a:pt x="79397" y="361292"/>
                </a:lnTo>
                <a:lnTo>
                  <a:pt x="75755" y="355100"/>
                </a:lnTo>
                <a:lnTo>
                  <a:pt x="111811" y="369304"/>
                </a:lnTo>
                <a:lnTo>
                  <a:pt x="101978" y="377681"/>
                </a:lnTo>
                <a:lnTo>
                  <a:pt x="147867" y="420657"/>
                </a:lnTo>
                <a:lnTo>
                  <a:pt x="175911" y="485122"/>
                </a:lnTo>
                <a:lnTo>
                  <a:pt x="213060" y="524456"/>
                </a:lnTo>
                <a:lnTo>
                  <a:pt x="211603" y="545580"/>
                </a:lnTo>
                <a:lnTo>
                  <a:pt x="253123" y="586007"/>
                </a:lnTo>
                <a:lnTo>
                  <a:pt x="263321" y="615872"/>
                </a:lnTo>
                <a:lnTo>
                  <a:pt x="287358" y="639181"/>
                </a:lnTo>
                <a:lnTo>
                  <a:pt x="331791" y="733874"/>
                </a:lnTo>
                <a:lnTo>
                  <a:pt x="368576" y="750992"/>
                </a:lnTo>
                <a:lnTo>
                  <a:pt x="357650" y="784134"/>
                </a:lnTo>
                <a:lnTo>
                  <a:pt x="375132" y="805623"/>
                </a:lnTo>
                <a:lnTo>
                  <a:pt x="384601" y="811086"/>
                </a:lnTo>
                <a:lnTo>
                  <a:pt x="387879" y="803073"/>
                </a:lnTo>
                <a:lnTo>
                  <a:pt x="408274" y="822740"/>
                </a:lnTo>
                <a:lnTo>
                  <a:pt x="438139" y="885748"/>
                </a:lnTo>
                <a:lnTo>
                  <a:pt x="462177" y="912699"/>
                </a:lnTo>
                <a:lnTo>
                  <a:pt x="464726" y="970244"/>
                </a:lnTo>
                <a:lnTo>
                  <a:pt x="457442" y="980077"/>
                </a:lnTo>
                <a:lnTo>
                  <a:pt x="445788" y="978256"/>
                </a:lnTo>
                <a:lnTo>
                  <a:pt x="458535" y="984083"/>
                </a:lnTo>
                <a:lnTo>
                  <a:pt x="457078" y="1000473"/>
                </a:lnTo>
                <a:lnTo>
                  <a:pt x="477109" y="1013948"/>
                </a:lnTo>
                <a:lnTo>
                  <a:pt x="483301" y="1030337"/>
                </a:lnTo>
                <a:lnTo>
                  <a:pt x="494591" y="1026695"/>
                </a:lnTo>
                <a:lnTo>
                  <a:pt x="505517" y="1002294"/>
                </a:lnTo>
                <a:lnTo>
                  <a:pt x="552136" y="1012491"/>
                </a:lnTo>
                <a:lnTo>
                  <a:pt x="565611" y="998652"/>
                </a:lnTo>
                <a:lnTo>
                  <a:pt x="557963" y="989911"/>
                </a:lnTo>
                <a:lnTo>
                  <a:pt x="598025" y="989546"/>
                </a:lnTo>
                <a:lnTo>
                  <a:pt x="599482" y="969879"/>
                </a:lnTo>
                <a:lnTo>
                  <a:pt x="586371" y="970972"/>
                </a:lnTo>
                <a:lnTo>
                  <a:pt x="570346" y="946570"/>
                </a:lnTo>
                <a:lnTo>
                  <a:pt x="567796" y="912335"/>
                </a:lnTo>
                <a:lnTo>
                  <a:pt x="555049" y="898131"/>
                </a:lnTo>
                <a:lnTo>
                  <a:pt x="544123" y="846049"/>
                </a:lnTo>
                <a:lnTo>
                  <a:pt x="564519" y="815092"/>
                </a:lnTo>
                <a:lnTo>
                  <a:pt x="512801" y="785591"/>
                </a:lnTo>
                <a:lnTo>
                  <a:pt x="508795" y="753905"/>
                </a:lnTo>
                <a:lnTo>
                  <a:pt x="474924" y="713114"/>
                </a:lnTo>
                <a:lnTo>
                  <a:pt x="484393" y="693812"/>
                </a:lnTo>
                <a:lnTo>
                  <a:pt x="454528" y="693447"/>
                </a:lnTo>
                <a:lnTo>
                  <a:pt x="458535" y="671959"/>
                </a:lnTo>
                <a:lnTo>
                  <a:pt x="438503" y="649014"/>
                </a:lnTo>
                <a:lnTo>
                  <a:pt x="443238" y="617693"/>
                </a:lnTo>
                <a:lnTo>
                  <a:pt x="407182" y="597297"/>
                </a:lnTo>
                <a:lnTo>
                  <a:pt x="411188" y="558327"/>
                </a:lnTo>
                <a:lnTo>
                  <a:pt x="377317" y="547401"/>
                </a:lnTo>
                <a:lnTo>
                  <a:pt x="375860" y="514987"/>
                </a:lnTo>
                <a:lnTo>
                  <a:pt x="414830" y="481844"/>
                </a:lnTo>
                <a:lnTo>
                  <a:pt x="465819" y="484393"/>
                </a:lnTo>
                <a:lnTo>
                  <a:pt x="473467" y="497869"/>
                </a:lnTo>
                <a:lnTo>
                  <a:pt x="535018" y="468004"/>
                </a:lnTo>
                <a:lnTo>
                  <a:pt x="556506" y="487671"/>
                </a:lnTo>
                <a:lnTo>
                  <a:pt x="578358" y="491313"/>
                </a:lnTo>
                <a:lnTo>
                  <a:pt x="576537" y="537932"/>
                </a:lnTo>
                <a:lnTo>
                  <a:pt x="612594" y="598754"/>
                </a:lnTo>
                <a:lnTo>
                  <a:pt x="655570" y="606402"/>
                </a:lnTo>
                <a:lnTo>
                  <a:pt x="704009" y="595840"/>
                </a:lnTo>
                <a:lnTo>
                  <a:pt x="829660" y="603853"/>
                </a:lnTo>
                <a:lnTo>
                  <a:pt x="862439" y="582365"/>
                </a:lnTo>
                <a:lnTo>
                  <a:pt x="899952" y="523363"/>
                </a:lnTo>
                <a:lnTo>
                  <a:pt x="933095" y="543395"/>
                </a:lnTo>
                <a:lnTo>
                  <a:pt x="938922" y="535018"/>
                </a:lnTo>
                <a:lnTo>
                  <a:pt x="907964" y="422478"/>
                </a:lnTo>
                <a:lnTo>
                  <a:pt x="827839" y="373675"/>
                </a:lnTo>
                <a:lnTo>
                  <a:pt x="842772" y="342717"/>
                </a:lnTo>
                <a:close/>
              </a:path>
            </a:pathLst>
          </a:custGeom>
          <a:solidFill>
            <a:srgbClr val="E15759"/>
          </a:solidFill>
          <a:ln w="12700">
            <a:solidFill>
              <a:srgbClr val="FFFFFF"/>
            </a:solidFill>
            <a:prstDash val="solid"/>
          </a:ln>
        </p:spPr>
      </p:sp>
      <p:sp>
        <p:nvSpPr>
          <p:cNvPr id="20" name="Map Madinah"/>
          <p:cNvSpPr/>
          <p:nvPr/>
        </p:nvSpPr>
        <p:spPr>
          <a:xfrm>
            <a:off x="8376860" y="2795062"/>
            <a:ext cx="930181" cy="952033"/>
          </a:xfrm>
          <a:custGeom>
            <a:avLst/>
            <a:gdLst/>
            <a:ahLst/>
            <a:cxnLst/>
            <a:rect l="l" t="t" r="r" b="b"/>
            <a:pathLst>
              <a:path w="930181" h="952033">
                <a:moveTo>
                  <a:pt x="474924" y="126015"/>
                </a:moveTo>
                <a:lnTo>
                  <a:pt x="447609" y="136941"/>
                </a:lnTo>
                <a:lnTo>
                  <a:pt x="328149" y="128200"/>
                </a:lnTo>
                <a:lnTo>
                  <a:pt x="279710" y="138762"/>
                </a:lnTo>
                <a:lnTo>
                  <a:pt x="236734" y="131114"/>
                </a:lnTo>
                <a:lnTo>
                  <a:pt x="200677" y="70292"/>
                </a:lnTo>
                <a:lnTo>
                  <a:pt x="202498" y="23673"/>
                </a:lnTo>
                <a:lnTo>
                  <a:pt x="180646" y="20031"/>
                </a:lnTo>
                <a:lnTo>
                  <a:pt x="156973" y="0"/>
                </a:lnTo>
                <a:lnTo>
                  <a:pt x="132571" y="18939"/>
                </a:lnTo>
                <a:lnTo>
                  <a:pt x="97607" y="30229"/>
                </a:lnTo>
                <a:lnTo>
                  <a:pt x="89959" y="16753"/>
                </a:lnTo>
                <a:lnTo>
                  <a:pt x="38970" y="14204"/>
                </a:lnTo>
                <a:lnTo>
                  <a:pt x="0" y="47347"/>
                </a:lnTo>
                <a:lnTo>
                  <a:pt x="1457" y="79761"/>
                </a:lnTo>
                <a:lnTo>
                  <a:pt x="35328" y="90687"/>
                </a:lnTo>
                <a:lnTo>
                  <a:pt x="31322" y="129657"/>
                </a:lnTo>
                <a:lnTo>
                  <a:pt x="67378" y="150053"/>
                </a:lnTo>
                <a:lnTo>
                  <a:pt x="62643" y="181374"/>
                </a:lnTo>
                <a:lnTo>
                  <a:pt x="82675" y="204319"/>
                </a:lnTo>
                <a:lnTo>
                  <a:pt x="78668" y="225807"/>
                </a:lnTo>
                <a:lnTo>
                  <a:pt x="108533" y="226172"/>
                </a:lnTo>
                <a:lnTo>
                  <a:pt x="99064" y="245475"/>
                </a:lnTo>
                <a:lnTo>
                  <a:pt x="132935" y="286266"/>
                </a:lnTo>
                <a:lnTo>
                  <a:pt x="136941" y="317951"/>
                </a:lnTo>
                <a:lnTo>
                  <a:pt x="188658" y="347452"/>
                </a:lnTo>
                <a:lnTo>
                  <a:pt x="168263" y="374767"/>
                </a:lnTo>
                <a:lnTo>
                  <a:pt x="178461" y="427577"/>
                </a:lnTo>
                <a:lnTo>
                  <a:pt x="191936" y="444695"/>
                </a:lnTo>
                <a:lnTo>
                  <a:pt x="194486" y="478930"/>
                </a:lnTo>
                <a:lnTo>
                  <a:pt x="210511" y="503332"/>
                </a:lnTo>
                <a:lnTo>
                  <a:pt x="224351" y="504060"/>
                </a:lnTo>
                <a:lnTo>
                  <a:pt x="221073" y="522635"/>
                </a:lnTo>
                <a:lnTo>
                  <a:pt x="201770" y="516443"/>
                </a:lnTo>
                <a:lnTo>
                  <a:pt x="181010" y="522999"/>
                </a:lnTo>
                <a:lnTo>
                  <a:pt x="189751" y="531012"/>
                </a:lnTo>
                <a:lnTo>
                  <a:pt x="178825" y="544487"/>
                </a:lnTo>
                <a:lnTo>
                  <a:pt x="128565" y="535382"/>
                </a:lnTo>
                <a:lnTo>
                  <a:pt x="109626" y="565247"/>
                </a:lnTo>
                <a:lnTo>
                  <a:pt x="122737" y="583821"/>
                </a:lnTo>
                <a:lnTo>
                  <a:pt x="116910" y="596569"/>
                </a:lnTo>
                <a:lnTo>
                  <a:pt x="142404" y="619878"/>
                </a:lnTo>
                <a:lnTo>
                  <a:pt x="162436" y="609680"/>
                </a:lnTo>
                <a:lnTo>
                  <a:pt x="192301" y="637724"/>
                </a:lnTo>
                <a:lnTo>
                  <a:pt x="203591" y="638816"/>
                </a:lnTo>
                <a:lnTo>
                  <a:pt x="200313" y="628983"/>
                </a:lnTo>
                <a:lnTo>
                  <a:pt x="207233" y="626798"/>
                </a:lnTo>
                <a:lnTo>
                  <a:pt x="204319" y="635174"/>
                </a:lnTo>
                <a:lnTo>
                  <a:pt x="214153" y="636631"/>
                </a:lnTo>
                <a:lnTo>
                  <a:pt x="204319" y="639181"/>
                </a:lnTo>
                <a:lnTo>
                  <a:pt x="232727" y="655570"/>
                </a:lnTo>
                <a:lnTo>
                  <a:pt x="295735" y="708016"/>
                </a:lnTo>
                <a:lnTo>
                  <a:pt x="309575" y="753541"/>
                </a:lnTo>
                <a:lnTo>
                  <a:pt x="318680" y="754998"/>
                </a:lnTo>
                <a:lnTo>
                  <a:pt x="311760" y="748807"/>
                </a:lnTo>
                <a:lnTo>
                  <a:pt x="320137" y="747350"/>
                </a:lnTo>
                <a:lnTo>
                  <a:pt x="328878" y="775758"/>
                </a:lnTo>
                <a:lnTo>
                  <a:pt x="375860" y="770659"/>
                </a:lnTo>
                <a:lnTo>
                  <a:pt x="424299" y="824926"/>
                </a:lnTo>
                <a:lnTo>
                  <a:pt x="464362" y="822376"/>
                </a:lnTo>
                <a:lnTo>
                  <a:pt x="470189" y="844593"/>
                </a:lnTo>
                <a:lnTo>
                  <a:pt x="546308" y="826747"/>
                </a:lnTo>
                <a:lnTo>
                  <a:pt x="552864" y="850056"/>
                </a:lnTo>
                <a:lnTo>
                  <a:pt x="540117" y="889754"/>
                </a:lnTo>
                <a:lnTo>
                  <a:pt x="570346" y="905415"/>
                </a:lnTo>
                <a:lnTo>
                  <a:pt x="571438" y="944749"/>
                </a:lnTo>
                <a:lnTo>
                  <a:pt x="594383" y="952033"/>
                </a:lnTo>
                <a:lnTo>
                  <a:pt x="633353" y="925082"/>
                </a:lnTo>
                <a:lnTo>
                  <a:pt x="675601" y="936008"/>
                </a:lnTo>
                <a:lnTo>
                  <a:pt x="697818" y="902137"/>
                </a:lnTo>
                <a:lnTo>
                  <a:pt x="770295" y="838765"/>
                </a:lnTo>
                <a:lnTo>
                  <a:pt x="811086" y="818370"/>
                </a:lnTo>
                <a:lnTo>
                  <a:pt x="811814" y="806351"/>
                </a:lnTo>
                <a:lnTo>
                  <a:pt x="780128" y="780492"/>
                </a:lnTo>
                <a:lnTo>
                  <a:pt x="857340" y="736424"/>
                </a:lnTo>
                <a:lnTo>
                  <a:pt x="866081" y="717485"/>
                </a:lnTo>
                <a:lnTo>
                  <a:pt x="862439" y="677058"/>
                </a:lnTo>
                <a:lnTo>
                  <a:pt x="903958" y="675965"/>
                </a:lnTo>
                <a:lnTo>
                  <a:pt x="906143" y="587828"/>
                </a:lnTo>
                <a:lnTo>
                  <a:pt x="922168" y="563790"/>
                </a:lnTo>
                <a:lnTo>
                  <a:pt x="930181" y="505517"/>
                </a:lnTo>
                <a:lnTo>
                  <a:pt x="854790" y="443602"/>
                </a:lnTo>
                <a:lnTo>
                  <a:pt x="842772" y="423935"/>
                </a:lnTo>
                <a:lnTo>
                  <a:pt x="808536" y="409731"/>
                </a:lnTo>
                <a:lnTo>
                  <a:pt x="801616" y="391157"/>
                </a:lnTo>
                <a:lnTo>
                  <a:pt x="763739" y="384965"/>
                </a:lnTo>
                <a:lnTo>
                  <a:pt x="744800" y="370033"/>
                </a:lnTo>
                <a:lnTo>
                  <a:pt x="704373" y="371125"/>
                </a:lnTo>
                <a:lnTo>
                  <a:pt x="684342" y="398441"/>
                </a:lnTo>
                <a:lnTo>
                  <a:pt x="648650" y="394799"/>
                </a:lnTo>
                <a:lnTo>
                  <a:pt x="639545" y="422478"/>
                </a:lnTo>
                <a:lnTo>
                  <a:pt x="563426" y="404997"/>
                </a:lnTo>
                <a:lnTo>
                  <a:pt x="553957" y="378045"/>
                </a:lnTo>
                <a:lnTo>
                  <a:pt x="554321" y="260043"/>
                </a:lnTo>
                <a:lnTo>
                  <a:pt x="541574" y="238555"/>
                </a:lnTo>
                <a:lnTo>
                  <a:pt x="541209" y="213424"/>
                </a:lnTo>
                <a:lnTo>
                  <a:pt x="502239" y="150417"/>
                </a:lnTo>
                <a:lnTo>
                  <a:pt x="476017" y="145318"/>
                </a:lnTo>
                <a:close/>
              </a:path>
            </a:pathLst>
          </a:custGeom>
          <a:solidFill>
            <a:srgbClr val="BAB0AC"/>
          </a:solidFill>
          <a:ln w="12700">
            <a:solidFill>
              <a:srgbClr val="FFFFFF"/>
            </a:solidFill>
            <a:prstDash val="solid"/>
          </a:ln>
        </p:spPr>
      </p:sp>
      <p:sp>
        <p:nvSpPr>
          <p:cNvPr id="21" name="Map Qassim"/>
          <p:cNvSpPr/>
          <p:nvPr/>
        </p:nvSpPr>
        <p:spPr>
          <a:xfrm>
            <a:off x="9151525" y="2684707"/>
            <a:ext cx="631532" cy="692719"/>
          </a:xfrm>
          <a:custGeom>
            <a:avLst/>
            <a:gdLst/>
            <a:ahLst/>
            <a:cxnLst/>
            <a:rect l="l" t="t" r="r" b="b"/>
            <a:pathLst>
              <a:path w="631532" h="692719">
                <a:moveTo>
                  <a:pt x="464726" y="0"/>
                </a:moveTo>
                <a:lnTo>
                  <a:pt x="430855" y="30957"/>
                </a:lnTo>
                <a:lnTo>
                  <a:pt x="427941" y="112175"/>
                </a:lnTo>
                <a:lnTo>
                  <a:pt x="376224" y="116182"/>
                </a:lnTo>
                <a:lnTo>
                  <a:pt x="370397" y="128200"/>
                </a:lnTo>
                <a:lnTo>
                  <a:pt x="354008" y="131478"/>
                </a:lnTo>
                <a:lnTo>
                  <a:pt x="350366" y="150781"/>
                </a:lnTo>
                <a:lnTo>
                  <a:pt x="362749" y="162436"/>
                </a:lnTo>
                <a:lnTo>
                  <a:pt x="341261" y="170084"/>
                </a:lnTo>
                <a:lnTo>
                  <a:pt x="341625" y="187202"/>
                </a:lnTo>
                <a:lnTo>
                  <a:pt x="324507" y="217431"/>
                </a:lnTo>
                <a:lnTo>
                  <a:pt x="306297" y="232727"/>
                </a:lnTo>
                <a:lnTo>
                  <a:pt x="293914" y="225079"/>
                </a:lnTo>
                <a:lnTo>
                  <a:pt x="254580" y="243289"/>
                </a:lnTo>
                <a:lnTo>
                  <a:pt x="254944" y="257493"/>
                </a:lnTo>
                <a:lnTo>
                  <a:pt x="238555" y="282988"/>
                </a:lnTo>
                <a:lnTo>
                  <a:pt x="201770" y="301198"/>
                </a:lnTo>
                <a:lnTo>
                  <a:pt x="193757" y="319044"/>
                </a:lnTo>
                <a:lnTo>
                  <a:pt x="190115" y="308846"/>
                </a:lnTo>
                <a:lnTo>
                  <a:pt x="179918" y="310303"/>
                </a:lnTo>
                <a:lnTo>
                  <a:pt x="159886" y="333612"/>
                </a:lnTo>
                <a:lnTo>
                  <a:pt x="166442" y="353644"/>
                </a:lnTo>
                <a:lnTo>
                  <a:pt x="159522" y="369304"/>
                </a:lnTo>
                <a:lnTo>
                  <a:pt x="143861" y="364570"/>
                </a:lnTo>
                <a:lnTo>
                  <a:pt x="122737" y="380595"/>
                </a:lnTo>
                <a:lnTo>
                  <a:pt x="118367" y="407546"/>
                </a:lnTo>
                <a:lnTo>
                  <a:pt x="101613" y="404997"/>
                </a:lnTo>
                <a:lnTo>
                  <a:pt x="100157" y="421022"/>
                </a:lnTo>
                <a:lnTo>
                  <a:pt x="76119" y="450886"/>
                </a:lnTo>
                <a:lnTo>
                  <a:pt x="34600" y="451251"/>
                </a:lnTo>
                <a:lnTo>
                  <a:pt x="0" y="497141"/>
                </a:lnTo>
                <a:lnTo>
                  <a:pt x="26951" y="501511"/>
                </a:lnTo>
                <a:lnTo>
                  <a:pt x="33871" y="520085"/>
                </a:lnTo>
                <a:lnTo>
                  <a:pt x="61915" y="529555"/>
                </a:lnTo>
                <a:lnTo>
                  <a:pt x="110718" y="574352"/>
                </a:lnTo>
                <a:lnTo>
                  <a:pt x="155516" y="615872"/>
                </a:lnTo>
                <a:lnTo>
                  <a:pt x="154059" y="643187"/>
                </a:lnTo>
                <a:lnTo>
                  <a:pt x="206505" y="644644"/>
                </a:lnTo>
                <a:lnTo>
                  <a:pt x="229085" y="692719"/>
                </a:lnTo>
                <a:lnTo>
                  <a:pt x="267327" y="692719"/>
                </a:lnTo>
                <a:lnTo>
                  <a:pt x="280074" y="675965"/>
                </a:lnTo>
                <a:lnTo>
                  <a:pt x="316130" y="679243"/>
                </a:lnTo>
                <a:lnTo>
                  <a:pt x="325236" y="671595"/>
                </a:lnTo>
                <a:lnTo>
                  <a:pt x="340532" y="638816"/>
                </a:lnTo>
                <a:lnTo>
                  <a:pt x="320501" y="635174"/>
                </a:lnTo>
                <a:lnTo>
                  <a:pt x="331791" y="627526"/>
                </a:lnTo>
                <a:lnTo>
                  <a:pt x="324143" y="617693"/>
                </a:lnTo>
                <a:lnTo>
                  <a:pt x="342353" y="602760"/>
                </a:lnTo>
                <a:lnTo>
                  <a:pt x="322322" y="606766"/>
                </a:lnTo>
                <a:lnTo>
                  <a:pt x="321958" y="598754"/>
                </a:lnTo>
                <a:lnTo>
                  <a:pt x="328878" y="585642"/>
                </a:lnTo>
                <a:lnTo>
                  <a:pt x="350002" y="584914"/>
                </a:lnTo>
                <a:lnTo>
                  <a:pt x="382780" y="548858"/>
                </a:lnTo>
                <a:lnTo>
                  <a:pt x="423207" y="552864"/>
                </a:lnTo>
                <a:lnTo>
                  <a:pt x="431219" y="528826"/>
                </a:lnTo>
                <a:lnTo>
                  <a:pt x="472010" y="524092"/>
                </a:lnTo>
                <a:lnTo>
                  <a:pt x="486579" y="502968"/>
                </a:lnTo>
                <a:lnTo>
                  <a:pt x="541574" y="487307"/>
                </a:lnTo>
                <a:lnTo>
                  <a:pt x="555778" y="472375"/>
                </a:lnTo>
                <a:lnTo>
                  <a:pt x="600939" y="492042"/>
                </a:lnTo>
                <a:lnTo>
                  <a:pt x="614051" y="455257"/>
                </a:lnTo>
                <a:lnTo>
                  <a:pt x="588192" y="437411"/>
                </a:lnTo>
                <a:lnTo>
                  <a:pt x="564519" y="385694"/>
                </a:lnTo>
                <a:lnTo>
                  <a:pt x="544123" y="262228"/>
                </a:lnTo>
                <a:lnTo>
                  <a:pt x="548858" y="217066"/>
                </a:lnTo>
                <a:lnTo>
                  <a:pt x="556870" y="209418"/>
                </a:lnTo>
                <a:lnTo>
                  <a:pt x="599118" y="201406"/>
                </a:lnTo>
                <a:lnTo>
                  <a:pt x="631532" y="222894"/>
                </a:lnTo>
                <a:lnTo>
                  <a:pt x="628255" y="153331"/>
                </a:lnTo>
                <a:lnTo>
                  <a:pt x="559784" y="59365"/>
                </a:lnTo>
                <a:lnTo>
                  <a:pt x="505517" y="26587"/>
                </a:lnTo>
                <a:lnTo>
                  <a:pt x="470918" y="39334"/>
                </a:lnTo>
                <a:lnTo>
                  <a:pt x="461448" y="29501"/>
                </a:lnTo>
                <a:close/>
              </a:path>
            </a:pathLst>
          </a:custGeom>
          <a:solidFill>
            <a:srgbClr val="BAB0AC"/>
          </a:solidFill>
          <a:ln w="12700">
            <a:solidFill>
              <a:srgbClr val="FFFFFF"/>
            </a:solidFill>
            <a:prstDash val="solid"/>
          </a:ln>
        </p:spPr>
      </p:sp>
      <p:sp>
        <p:nvSpPr>
          <p:cNvPr id="22" name="Map Al-Baha"/>
          <p:cNvSpPr/>
          <p:nvPr/>
        </p:nvSpPr>
        <p:spPr>
          <a:xfrm>
            <a:off x="9075042" y="4074516"/>
            <a:ext cx="213789" cy="262956"/>
          </a:xfrm>
          <a:custGeom>
            <a:avLst/>
            <a:gdLst/>
            <a:ahLst/>
            <a:cxnLst/>
            <a:rect l="l" t="t" r="r" b="b"/>
            <a:pathLst>
              <a:path w="213789" h="262956">
                <a:moveTo>
                  <a:pt x="213789" y="24766"/>
                </a:moveTo>
                <a:lnTo>
                  <a:pt x="196307" y="13840"/>
                </a:lnTo>
                <a:lnTo>
                  <a:pt x="125287" y="36056"/>
                </a:lnTo>
                <a:lnTo>
                  <a:pt x="103070" y="1457"/>
                </a:lnTo>
                <a:lnTo>
                  <a:pt x="84496" y="0"/>
                </a:lnTo>
                <a:lnTo>
                  <a:pt x="74298" y="18210"/>
                </a:lnTo>
                <a:lnTo>
                  <a:pt x="79397" y="53902"/>
                </a:lnTo>
                <a:lnTo>
                  <a:pt x="59001" y="96150"/>
                </a:lnTo>
                <a:lnTo>
                  <a:pt x="20031" y="105984"/>
                </a:lnTo>
                <a:lnTo>
                  <a:pt x="0" y="127108"/>
                </a:lnTo>
                <a:lnTo>
                  <a:pt x="4370" y="138034"/>
                </a:lnTo>
                <a:lnTo>
                  <a:pt x="25859" y="147503"/>
                </a:lnTo>
                <a:lnTo>
                  <a:pt x="26223" y="183195"/>
                </a:lnTo>
                <a:lnTo>
                  <a:pt x="31686" y="226900"/>
                </a:lnTo>
                <a:lnTo>
                  <a:pt x="72477" y="262956"/>
                </a:lnTo>
                <a:lnTo>
                  <a:pt x="96514" y="257129"/>
                </a:lnTo>
                <a:lnTo>
                  <a:pt x="118731" y="190844"/>
                </a:lnTo>
                <a:lnTo>
                  <a:pt x="155880" y="182103"/>
                </a:lnTo>
                <a:lnTo>
                  <a:pt x="177368" y="136213"/>
                </a:lnTo>
                <a:lnTo>
                  <a:pt x="180646" y="108533"/>
                </a:lnTo>
                <a:lnTo>
                  <a:pt x="213424" y="84496"/>
                </a:lnTo>
                <a:lnTo>
                  <a:pt x="202862" y="57909"/>
                </a:lnTo>
                <a:close/>
              </a:path>
            </a:pathLst>
          </a:custGeom>
          <a:solidFill>
            <a:srgbClr val="E15759"/>
          </a:solidFill>
          <a:ln w="12700">
            <a:solidFill>
              <a:srgbClr val="FFFFFF"/>
            </a:solidFill>
            <a:prstDash val="solid"/>
          </a:ln>
        </p:spPr>
      </p:sp>
      <p:sp>
        <p:nvSpPr>
          <p:cNvPr id="23" name="Map Jazan"/>
          <p:cNvSpPr/>
          <p:nvPr/>
        </p:nvSpPr>
        <p:spPr>
          <a:xfrm>
            <a:off x="9211619" y="4536328"/>
            <a:ext cx="302291" cy="361656"/>
          </a:xfrm>
          <a:custGeom>
            <a:avLst/>
            <a:gdLst/>
            <a:ahLst/>
            <a:cxnLst/>
            <a:rect l="l" t="t" r="r" b="b"/>
            <a:pathLst>
              <a:path w="302291" h="361656">
                <a:moveTo>
                  <a:pt x="29136" y="269148"/>
                </a:moveTo>
                <a:lnTo>
                  <a:pt x="32414" y="284809"/>
                </a:lnTo>
                <a:lnTo>
                  <a:pt x="49532" y="299741"/>
                </a:lnTo>
                <a:lnTo>
                  <a:pt x="67378" y="311032"/>
                </a:lnTo>
                <a:lnTo>
                  <a:pt x="89230" y="307754"/>
                </a:lnTo>
                <a:lnTo>
                  <a:pt x="84131" y="317951"/>
                </a:lnTo>
                <a:lnTo>
                  <a:pt x="99064" y="327421"/>
                </a:lnTo>
                <a:lnTo>
                  <a:pt x="104891" y="303019"/>
                </a:lnTo>
                <a:lnTo>
                  <a:pt x="99428" y="306661"/>
                </a:lnTo>
                <a:lnTo>
                  <a:pt x="102706" y="300834"/>
                </a:lnTo>
                <a:lnTo>
                  <a:pt x="93965" y="296463"/>
                </a:lnTo>
                <a:lnTo>
                  <a:pt x="86317" y="282259"/>
                </a:lnTo>
                <a:lnTo>
                  <a:pt x="77212" y="295371"/>
                </a:lnTo>
                <a:lnTo>
                  <a:pt x="83767" y="302291"/>
                </a:lnTo>
                <a:lnTo>
                  <a:pt x="54995" y="295735"/>
                </a:lnTo>
                <a:lnTo>
                  <a:pt x="46618" y="277889"/>
                </a:lnTo>
                <a:close/>
                <a:moveTo>
                  <a:pt x="32050" y="0"/>
                </a:moveTo>
                <a:lnTo>
                  <a:pt x="0" y="41519"/>
                </a:lnTo>
                <a:lnTo>
                  <a:pt x="9105" y="59365"/>
                </a:lnTo>
                <a:lnTo>
                  <a:pt x="14568" y="56088"/>
                </a:lnTo>
                <a:lnTo>
                  <a:pt x="32414" y="89959"/>
                </a:lnTo>
                <a:lnTo>
                  <a:pt x="52810" y="95786"/>
                </a:lnTo>
                <a:lnTo>
                  <a:pt x="125287" y="163892"/>
                </a:lnTo>
                <a:lnTo>
                  <a:pt x="135849" y="245475"/>
                </a:lnTo>
                <a:lnTo>
                  <a:pt x="133663" y="212332"/>
                </a:lnTo>
                <a:lnTo>
                  <a:pt x="158065" y="240376"/>
                </a:lnTo>
                <a:lnTo>
                  <a:pt x="167535" y="247660"/>
                </a:lnTo>
                <a:lnTo>
                  <a:pt x="162436" y="270240"/>
                </a:lnTo>
                <a:lnTo>
                  <a:pt x="188294" y="288815"/>
                </a:lnTo>
                <a:lnTo>
                  <a:pt x="198856" y="309939"/>
                </a:lnTo>
                <a:lnTo>
                  <a:pt x="201770" y="359471"/>
                </a:lnTo>
                <a:lnTo>
                  <a:pt x="235277" y="361656"/>
                </a:lnTo>
                <a:lnTo>
                  <a:pt x="235641" y="343446"/>
                </a:lnTo>
                <a:lnTo>
                  <a:pt x="264413" y="336890"/>
                </a:lnTo>
                <a:lnTo>
                  <a:pt x="269148" y="309210"/>
                </a:lnTo>
                <a:lnTo>
                  <a:pt x="284809" y="314309"/>
                </a:lnTo>
                <a:lnTo>
                  <a:pt x="280802" y="303019"/>
                </a:lnTo>
                <a:lnTo>
                  <a:pt x="290272" y="286994"/>
                </a:lnTo>
                <a:lnTo>
                  <a:pt x="268055" y="263685"/>
                </a:lnTo>
                <a:lnTo>
                  <a:pt x="277889" y="258586"/>
                </a:lnTo>
                <a:lnTo>
                  <a:pt x="275339" y="242197"/>
                </a:lnTo>
                <a:lnTo>
                  <a:pt x="287358" y="245475"/>
                </a:lnTo>
                <a:lnTo>
                  <a:pt x="283352" y="233820"/>
                </a:lnTo>
                <a:lnTo>
                  <a:pt x="272062" y="231635"/>
                </a:lnTo>
                <a:lnTo>
                  <a:pt x="279346" y="199220"/>
                </a:lnTo>
                <a:lnTo>
                  <a:pt x="302291" y="190844"/>
                </a:lnTo>
                <a:lnTo>
                  <a:pt x="283716" y="175547"/>
                </a:lnTo>
                <a:lnTo>
                  <a:pt x="285901" y="157337"/>
                </a:lnTo>
                <a:lnTo>
                  <a:pt x="299741" y="147503"/>
                </a:lnTo>
                <a:lnTo>
                  <a:pt x="234184" y="86317"/>
                </a:lnTo>
                <a:lnTo>
                  <a:pt x="230178" y="57180"/>
                </a:lnTo>
                <a:lnTo>
                  <a:pt x="204684" y="73205"/>
                </a:lnTo>
                <a:lnTo>
                  <a:pt x="190115" y="119824"/>
                </a:lnTo>
                <a:lnTo>
                  <a:pt x="180282" y="123830"/>
                </a:lnTo>
                <a:lnTo>
                  <a:pt x="142040" y="77940"/>
                </a:lnTo>
                <a:lnTo>
                  <a:pt x="100521" y="75755"/>
                </a:lnTo>
                <a:lnTo>
                  <a:pt x="87045" y="50260"/>
                </a:lnTo>
                <a:lnTo>
                  <a:pt x="57909" y="48804"/>
                </a:lnTo>
                <a:lnTo>
                  <a:pt x="60822" y="2914"/>
                </a:lnTo>
                <a:close/>
              </a:path>
            </a:pathLst>
          </a:custGeom>
          <a:solidFill>
            <a:srgbClr val="E15759"/>
          </a:solidFill>
          <a:ln w="12700">
            <a:solidFill>
              <a:srgbClr val="FFFFFF"/>
            </a:solidFill>
            <a:prstDash val="solid"/>
          </a:ln>
        </p:spPr>
      </p:sp>
      <p:sp>
        <p:nvSpPr>
          <p:cNvPr id="24" name="Map Al-Jouf"/>
          <p:cNvSpPr/>
          <p:nvPr/>
        </p:nvSpPr>
        <p:spPr>
          <a:xfrm>
            <a:off x="8420201" y="1997452"/>
            <a:ext cx="859161" cy="604945"/>
          </a:xfrm>
          <a:custGeom>
            <a:avLst/>
            <a:gdLst/>
            <a:ahLst/>
            <a:cxnLst/>
            <a:rect l="l" t="t" r="r" b="b"/>
            <a:pathLst>
              <a:path w="859161" h="604945">
                <a:moveTo>
                  <a:pt x="166442" y="0"/>
                </a:moveTo>
                <a:lnTo>
                  <a:pt x="0" y="46618"/>
                </a:lnTo>
                <a:lnTo>
                  <a:pt x="171905" y="235277"/>
                </a:lnTo>
                <a:lnTo>
                  <a:pt x="114725" y="266963"/>
                </a:lnTo>
                <a:lnTo>
                  <a:pt x="86317" y="329970"/>
                </a:lnTo>
                <a:lnTo>
                  <a:pt x="158794" y="387150"/>
                </a:lnTo>
                <a:lnTo>
                  <a:pt x="241104" y="423571"/>
                </a:lnTo>
                <a:lnTo>
                  <a:pt x="215610" y="458171"/>
                </a:lnTo>
                <a:lnTo>
                  <a:pt x="210875" y="484029"/>
                </a:lnTo>
                <a:lnTo>
                  <a:pt x="256765" y="470918"/>
                </a:lnTo>
                <a:lnTo>
                  <a:pt x="272426" y="474560"/>
                </a:lnTo>
                <a:lnTo>
                  <a:pt x="399169" y="565975"/>
                </a:lnTo>
                <a:lnTo>
                  <a:pt x="469097" y="591470"/>
                </a:lnTo>
                <a:lnTo>
                  <a:pt x="481480" y="604945"/>
                </a:lnTo>
                <a:lnTo>
                  <a:pt x="610408" y="540481"/>
                </a:lnTo>
                <a:lnTo>
                  <a:pt x="750628" y="543030"/>
                </a:lnTo>
                <a:lnTo>
                  <a:pt x="762282" y="498962"/>
                </a:lnTo>
                <a:lnTo>
                  <a:pt x="795425" y="492406"/>
                </a:lnTo>
                <a:lnTo>
                  <a:pt x="778671" y="415194"/>
                </a:lnTo>
                <a:lnTo>
                  <a:pt x="763375" y="418472"/>
                </a:lnTo>
                <a:lnTo>
                  <a:pt x="759733" y="367119"/>
                </a:lnTo>
                <a:lnTo>
                  <a:pt x="777215" y="364206"/>
                </a:lnTo>
                <a:lnTo>
                  <a:pt x="792875" y="345267"/>
                </a:lnTo>
                <a:lnTo>
                  <a:pt x="819827" y="347088"/>
                </a:lnTo>
                <a:lnTo>
                  <a:pt x="826747" y="325600"/>
                </a:lnTo>
                <a:lnTo>
                  <a:pt x="859161" y="313217"/>
                </a:lnTo>
                <a:lnTo>
                  <a:pt x="810721" y="266234"/>
                </a:lnTo>
                <a:lnTo>
                  <a:pt x="788505" y="259679"/>
                </a:lnTo>
                <a:lnTo>
                  <a:pt x="799795" y="231635"/>
                </a:lnTo>
                <a:lnTo>
                  <a:pt x="764467" y="218888"/>
                </a:lnTo>
                <a:lnTo>
                  <a:pt x="724405" y="220709"/>
                </a:lnTo>
                <a:lnTo>
                  <a:pt x="709837" y="233456"/>
                </a:lnTo>
                <a:lnTo>
                  <a:pt x="707651" y="191936"/>
                </a:lnTo>
                <a:lnTo>
                  <a:pt x="692355" y="186109"/>
                </a:lnTo>
                <a:lnTo>
                  <a:pt x="636631" y="190479"/>
                </a:lnTo>
                <a:lnTo>
                  <a:pt x="569253" y="174090"/>
                </a:lnTo>
                <a:lnTo>
                  <a:pt x="552136" y="188658"/>
                </a:lnTo>
                <a:lnTo>
                  <a:pt x="533925" y="191208"/>
                </a:lnTo>
                <a:lnTo>
                  <a:pt x="494955" y="161707"/>
                </a:lnTo>
                <a:lnTo>
                  <a:pt x="475288" y="168627"/>
                </a:lnTo>
                <a:lnTo>
                  <a:pt x="457078" y="156973"/>
                </a:lnTo>
                <a:lnTo>
                  <a:pt x="416651" y="161343"/>
                </a:lnTo>
                <a:lnTo>
                  <a:pt x="380959" y="146775"/>
                </a:lnTo>
                <a:lnTo>
                  <a:pt x="341625" y="147139"/>
                </a:lnTo>
                <a:lnTo>
                  <a:pt x="309210" y="163164"/>
                </a:lnTo>
                <a:lnTo>
                  <a:pt x="299013" y="154059"/>
                </a:lnTo>
                <a:lnTo>
                  <a:pt x="268784" y="153331"/>
                </a:lnTo>
                <a:lnTo>
                  <a:pt x="205776" y="167535"/>
                </a:lnTo>
                <a:lnTo>
                  <a:pt x="199220" y="124194"/>
                </a:lnTo>
                <a:lnTo>
                  <a:pt x="185381" y="121280"/>
                </a:lnTo>
                <a:lnTo>
                  <a:pt x="189023" y="110354"/>
                </a:lnTo>
                <a:lnTo>
                  <a:pt x="153331" y="100521"/>
                </a:lnTo>
                <a:lnTo>
                  <a:pt x="165714" y="69927"/>
                </a:lnTo>
                <a:close/>
              </a:path>
            </a:pathLst>
          </a:custGeom>
          <a:solidFill>
            <a:srgbClr val="E15759"/>
          </a:solidFill>
          <a:ln w="12700">
            <a:solidFill>
              <a:srgbClr val="FFFFFF"/>
            </a:solidFill>
            <a:prstDash val="solid"/>
          </a:ln>
        </p:spPr>
      </p:sp>
      <p:sp>
        <p:nvSpPr>
          <p:cNvPr id="25" name="Map caption"/>
          <p:cNvSpPr txBox="1"/>
          <p:nvPr/>
        </p:nvSpPr>
        <p:spPr>
          <a:xfrm>
            <a:off x="8001000" y="5126625"/>
            <a:ext cx="3642055" cy="1097280"/>
          </a:xfrm>
          <a:prstGeom prst="rect">
            <a:avLst/>
          </a:prstGeom>
          <a:noFill/>
          <a:ln/>
        </p:spPr>
        <p:txBody>
          <a:bodyPr wrap="square" lIns="0" tIns="0" rIns="0" bIns="0" rtlCol="0" anchor="t"/>
          <a:lstStyle/>
          <a:p>
            <a:pPr indent="0" marL="0">
              <a:buNone/>
            </a:pPr>
            <a:r>
              <a:rPr lang="en-US" sz="1300" dirty="0">
                <a:solidFill>
                  <a:schemeClr val="tx2"/>
                </a:solidFill>
              </a:rPr>
              <a:t>The eight regions below target sit in the south-west and the north. The five above 65% form one belt from Makkah and Madinah through Qassim and Riyadh to the Eastern Province.</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transition spd="med">
    <p:push dir="l"/>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t"/>
          <a:lstStyle/>
          <a:p>
            <a:pPr indent="0" marL="0">
              <a:buNone/>
            </a:pPr>
            <a:r>
              <a:rPr lang="en-US" sz="1300" b="1" dirty="0">
                <a:solidFill>
                  <a:schemeClr val="accent3"/>
                </a:solidFill>
              </a:rPr>
              <a:t>Evidence</a:t>
            </a:r>
            <a:pPr indent="0" marL="0">
              <a:buNone/>
            </a:pPr>
            <a:r>
              <a:rPr lang="en-US" sz="1300" dirty="0">
                <a:solidFill>
                  <a:schemeClr val="accent6"/>
                </a:solidFill>
              </a:rPr>
              <a:t>   Q2 + Q3 · Which regions are the biggest priorities?</a:t>
            </a:r>
            <a:endParaRPr lang="en-US" sz="1300" dirty="0"/>
          </a:p>
        </p:txBody>
      </p:sp>
      <p:sp>
        <p:nvSpPr>
          <p:cNvPr id="3" name="Text 0"/>
          <p:cNvSpPr/>
          <p:nvPr>
            <p:ph idx="101" type="title" hasCustomPrompt="1"/>
          </p:nvPr>
        </p:nvSpPr>
        <p:spPr>
          <a:xfrm>
            <a:off x="548640" y="749808"/>
            <a:ext cx="11094415" cy="960120"/>
          </a:xfrm>
          <a:prstGeom prst="rect">
            <a:avLst/>
          </a:prstGeom>
          <a:noFill/>
          <a:ln/>
        </p:spPr>
        <p:txBody>
          <a:bodyPr wrap="square" lIns="0" tIns="0" rIns="0" bIns="0" rtlCol="0" anchor="t"/>
          <a:lstStyle/>
          <a:p>
            <a:pPr algn="l" indent="0" marL="0">
              <a:buNone/>
            </a:pPr>
            <a:r>
              <a:rPr lang="en-US" sz="2800" b="1" dirty="0">
                <a:solidFill>
                  <a:schemeClr val="tx1"/>
                </a:solidFill>
              </a:rPr>
              <a:t>Najran, Northern Borders, Al-Baha and Jazan hold 84% of the remaining gap</a:t>
            </a:r>
            <a:endParaRPr lang="en-US" sz="2800" dirty="0"/>
          </a:p>
        </p:txBody>
      </p:sp>
      <p:sp>
        <p:nvSpPr>
          <p:cNvPr id="4" name="Text 0"/>
          <p:cNvSpPr/>
          <p:nvPr>
            <p:ph idx="102" type="body" hasCustomPrompt="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chemeClr val="accent6"/>
                </a:solidFill>
              </a:rPr>
              <a:t>Evidence: Tableau Regional Adoption + target gaps · Dec 2024 and Dec 2025</a:t>
            </a:r>
            <a:endParaRPr lang="en-US" sz="1100" dirty="0"/>
          </a:p>
        </p:txBody>
      </p:sp>
      <p:sp>
        <p:nvSpPr>
          <p:cNvPr id="5" name="Chart heading"/>
          <p:cNvSpPr txBox="1"/>
          <p:nvPr/>
        </p:nvSpPr>
        <p:spPr>
          <a:xfrm>
            <a:off x="548640" y="1856232"/>
            <a:ext cx="6583680" cy="274320"/>
          </a:xfrm>
          <a:prstGeom prst="rect">
            <a:avLst/>
          </a:prstGeom>
          <a:noFill/>
          <a:ln/>
        </p:spPr>
        <p:txBody>
          <a:bodyPr wrap="square" lIns="0" tIns="0" rIns="0" bIns="0" rtlCol="0" anchor="ctr"/>
          <a:lstStyle/>
          <a:p>
            <a:pPr indent="0" marL="0">
              <a:buNone/>
            </a:pPr>
            <a:r>
              <a:rPr lang="en-US" sz="1400" b="1" dirty="0">
                <a:solidFill>
                  <a:schemeClr val="tx1"/>
                </a:solidFill>
              </a:rPr>
              <a:t>Share of the remaining gap to 65%</a:t>
            </a:r>
            <a:endParaRPr lang="en-US" sz="1400" dirty="0"/>
          </a:p>
        </p:txBody>
      </p:sp>
      <p:graphicFrame>
        <p:nvGraphicFramePr>
          <p:cNvPr id="6" name="Share of gap chart" descr=""/>
          <p:cNvGraphicFramePr/>
          <p:nvPr/>
        </p:nvGraphicFramePr>
        <p:xfrm>
          <a:off x="548640" y="2194560"/>
          <a:ext cx="6583680" cy="3611880"/>
        </p:xfrm>
        <a:graphic xmlns:a="http://schemas.openxmlformats.org/drawingml/2006/main">
          <a:graphicData uri="http://schemas.openxmlformats.org/drawingml/2006/chart">
            <c:chart xmlns:c="http://schemas.openxmlformats.org/drawingml/2006/chart" r:id="rId1"/>
          </a:graphicData>
        </a:graphic>
      </p:graphicFrame>
      <p:sp>
        <p:nvSpPr>
          <p:cNvPr id="7" name="Priority four swatch"/>
          <p:cNvSpPr/>
          <p:nvPr/>
        </p:nvSpPr>
        <p:spPr>
          <a:xfrm>
            <a:off x="7635240" y="1984248"/>
            <a:ext cx="182880" cy="182880"/>
          </a:xfrm>
          <a:prstGeom prst="rect">
            <a:avLst/>
          </a:prstGeom>
          <a:solidFill>
            <a:srgbClr val="E15759"/>
          </a:solidFill>
          <a:ln/>
        </p:spPr>
      </p:sp>
      <p:sp>
        <p:nvSpPr>
          <p:cNvPr id="8" name="Priority four heading"/>
          <p:cNvSpPr txBox="1"/>
          <p:nvPr/>
        </p:nvSpPr>
        <p:spPr>
          <a:xfrm>
            <a:off x="7927848" y="1920240"/>
            <a:ext cx="3715207" cy="310896"/>
          </a:xfrm>
          <a:prstGeom prst="rect">
            <a:avLst/>
          </a:prstGeom>
          <a:noFill/>
          <a:ln/>
        </p:spPr>
        <p:txBody>
          <a:bodyPr wrap="square" lIns="0" tIns="0" rIns="0" bIns="0" rtlCol="0" anchor="ctr"/>
          <a:lstStyle/>
          <a:p>
            <a:pPr indent="0" marL="0">
              <a:buNone/>
            </a:pPr>
            <a:r>
              <a:rPr lang="en-US" sz="1700" b="1" dirty="0">
                <a:solidFill>
                  <a:schemeClr val="tx1"/>
                </a:solidFill>
              </a:rPr>
              <a:t>Priority four: 84% of the gap</a:t>
            </a:r>
            <a:endParaRPr lang="en-US" sz="1700" dirty="0"/>
          </a:p>
        </p:txBody>
      </p:sp>
      <p:sp>
        <p:nvSpPr>
          <p:cNvPr id="9" name="Priority four detail"/>
          <p:cNvSpPr txBox="1"/>
          <p:nvPr/>
        </p:nvSpPr>
        <p:spPr>
          <a:xfrm>
            <a:off x="7927848" y="2331720"/>
            <a:ext cx="3715207" cy="1143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60.9% to 63.0% adoption in Dec 2025</a:t>
            </a:r>
            <a:endParaRPr lang="en-US" sz="1400" dirty="0"/>
          </a:p>
          <a:p>
            <a:pPr marL="342900" indent="-342900">
              <a:spcAft>
                <a:spcPts val="500"/>
              </a:spcAft>
              <a:buSzPct val="100000"/>
              <a:buChar char="•"/>
            </a:pPr>
            <a:r>
              <a:rPr lang="en-US" sz="1400" dirty="0">
                <a:solidFill>
                  <a:schemeClr val="tx2"/>
                </a:solidFill>
              </a:rPr>
              <a:t>7 to 19 months to reach 65% at today's pace</a:t>
            </a:r>
            <a:endParaRPr lang="en-US" sz="1400" dirty="0"/>
          </a:p>
          <a:p>
            <a:pPr marL="342900" indent="-342900">
              <a:spcAft>
                <a:spcPts val="500"/>
              </a:spcAft>
              <a:buSzPct val="100000"/>
              <a:buChar char="•"/>
            </a:pPr>
            <a:r>
              <a:rPr lang="en-US" sz="1400" dirty="0">
                <a:solidFill>
                  <a:schemeClr val="tx2"/>
                </a:solidFill>
              </a:rPr>
              <a:t>Najran alone is 31% of the gap; Northern Borders grows slowest (+2.4 pts a year)</a:t>
            </a:r>
            <a:endParaRPr lang="en-US" sz="1400" dirty="0"/>
          </a:p>
        </p:txBody>
      </p:sp>
      <p:sp>
        <p:nvSpPr>
          <p:cNvPr id="10" name="Tier rule"/>
          <p:cNvSpPr/>
          <p:nvPr/>
        </p:nvSpPr>
        <p:spPr>
          <a:xfrm>
            <a:off x="7635240" y="3767328"/>
            <a:ext cx="4007815" cy="0"/>
          </a:xfrm>
          <a:prstGeom prst="line">
            <a:avLst/>
          </a:prstGeom>
          <a:noFill/>
          <a:ln w="9525">
            <a:solidFill>
              <a:srgbClr val="D5DAD6"/>
            </a:solidFill>
            <a:prstDash val="solid"/>
          </a:ln>
        </p:spPr>
      </p:sp>
      <p:sp>
        <p:nvSpPr>
          <p:cNvPr id="11" name="Near-miss four swatch"/>
          <p:cNvSpPr/>
          <p:nvPr/>
        </p:nvSpPr>
        <p:spPr>
          <a:xfrm>
            <a:off x="7635240" y="3995928"/>
            <a:ext cx="182880" cy="182880"/>
          </a:xfrm>
          <a:prstGeom prst="rect">
            <a:avLst/>
          </a:prstGeom>
          <a:solidFill>
            <a:srgbClr val="BAB0AC"/>
          </a:solidFill>
          <a:ln/>
        </p:spPr>
      </p:sp>
      <p:sp>
        <p:nvSpPr>
          <p:cNvPr id="12" name="Near-miss four heading"/>
          <p:cNvSpPr txBox="1"/>
          <p:nvPr/>
        </p:nvSpPr>
        <p:spPr>
          <a:xfrm>
            <a:off x="7927848" y="3931920"/>
            <a:ext cx="3715207" cy="310896"/>
          </a:xfrm>
          <a:prstGeom prst="rect">
            <a:avLst/>
          </a:prstGeom>
          <a:noFill/>
          <a:ln/>
        </p:spPr>
        <p:txBody>
          <a:bodyPr wrap="square" lIns="0" tIns="0" rIns="0" bIns="0" rtlCol="0" anchor="ctr"/>
          <a:lstStyle/>
          <a:p>
            <a:pPr indent="0" marL="0">
              <a:buNone/>
            </a:pPr>
            <a:r>
              <a:rPr lang="en-US" sz="1700" b="1" dirty="0">
                <a:solidFill>
                  <a:schemeClr val="tx1"/>
                </a:solidFill>
              </a:rPr>
              <a:t>Near-miss four: 16% of the gap</a:t>
            </a:r>
            <a:endParaRPr lang="en-US" sz="1700" dirty="0"/>
          </a:p>
        </p:txBody>
      </p:sp>
      <p:sp>
        <p:nvSpPr>
          <p:cNvPr id="13" name="Near-miss four detail"/>
          <p:cNvSpPr txBox="1"/>
          <p:nvPr/>
        </p:nvSpPr>
        <p:spPr>
          <a:xfrm>
            <a:off x="7927848" y="4343400"/>
            <a:ext cx="3715207" cy="1143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Asir, Tabuk, Hail and Al-Jouf are each within 0.7 pts of 65%</a:t>
            </a:r>
            <a:endParaRPr lang="en-US" sz="1400" dirty="0"/>
          </a:p>
          <a:p>
            <a:pPr marL="342900" indent="-342900">
              <a:spcAft>
                <a:spcPts val="500"/>
              </a:spcAft>
              <a:buSzPct val="100000"/>
              <a:buChar char="•"/>
            </a:pPr>
            <a:r>
              <a:rPr lang="en-US" sz="1400" dirty="0">
                <a:solidFill>
                  <a:schemeClr val="tx2"/>
                </a:solidFill>
              </a:rPr>
              <a:t>on their current pace they cross 65% within about 3 months</a:t>
            </a:r>
            <a:endParaRPr lang="en-US" sz="1400" dirty="0"/>
          </a:p>
        </p:txBody>
      </p:sp>
      <p:sp>
        <p:nvSpPr>
          <p:cNvPr id="14" name="Definitions"/>
          <p:cNvSpPr txBox="1"/>
          <p:nvPr/>
        </p:nvSpPr>
        <p:spPr>
          <a:xfrm>
            <a:off x="548640" y="5870448"/>
            <a:ext cx="6766560" cy="411480"/>
          </a:xfrm>
          <a:prstGeom prst="rect">
            <a:avLst/>
          </a:prstGeom>
          <a:noFill/>
          <a:ln/>
        </p:spPr>
        <p:txBody>
          <a:bodyPr wrap="square" lIns="0" tIns="0" rIns="0" bIns="0" rtlCol="0" anchor="t"/>
          <a:lstStyle/>
          <a:p>
            <a:pPr indent="0" marL="0">
              <a:buNone/>
            </a:pPr>
            <a:r>
              <a:rPr lang="en-US" sz="1000" dirty="0">
                <a:solidFill>
                  <a:schemeClr val="accent6"/>
                </a:solidFill>
              </a:rPr>
              <a:t>Gap = users who would need to move to digital for the region to reach 65% (gap in points × unique users, Dec 2025). Pace = change from Dec 2024 to Dec 2025, assumed to continue.</a:t>
            </a:r>
            <a:endParaRPr lang="en-US" sz="10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t"/>
          <a:lstStyle/>
          <a:p>
            <a:pPr indent="0" marL="0">
              <a:buNone/>
            </a:pPr>
            <a:r>
              <a:rPr lang="en-US" sz="1300" b="1" dirty="0">
                <a:solidFill>
                  <a:schemeClr val="accent3"/>
                </a:solidFill>
              </a:rPr>
              <a:t>Options</a:t>
            </a:r>
            <a:pPr indent="0" marL="0">
              <a:buNone/>
            </a:pPr>
            <a:r>
              <a:rPr lang="en-US" sz="1300" dirty="0">
                <a:solidFill>
                  <a:schemeClr val="accent6"/>
                </a:solidFill>
              </a:rPr>
              <a:t>   Q3 · How could the SAR 40M be used?</a:t>
            </a:r>
            <a:endParaRPr lang="en-US" sz="1300" dirty="0"/>
          </a:p>
        </p:txBody>
      </p:sp>
      <p:sp>
        <p:nvSpPr>
          <p:cNvPr id="3" name="Text 0"/>
          <p:cNvSpPr/>
          <p:nvPr>
            <p:ph idx="101" type="title" hasCustomPrompt="1"/>
          </p:nvPr>
        </p:nvSpPr>
        <p:spPr>
          <a:xfrm>
            <a:off x="548640" y="749808"/>
            <a:ext cx="11094415" cy="960120"/>
          </a:xfrm>
          <a:prstGeom prst="rect">
            <a:avLst/>
          </a:prstGeom>
          <a:noFill/>
          <a:ln/>
        </p:spPr>
        <p:txBody>
          <a:bodyPr wrap="square" lIns="0" tIns="0" rIns="0" bIns="0" rtlCol="0" anchor="t"/>
          <a:lstStyle/>
          <a:p>
            <a:pPr algn="l" indent="0" marL="0">
              <a:buNone/>
            </a:pPr>
            <a:r>
              <a:rPr lang="en-US" sz="2800" b="1" dirty="0">
                <a:solidFill>
                  <a:schemeClr val="tx1"/>
                </a:solidFill>
              </a:rPr>
              <a:t>Only targeting the gap gets most of the money to the four priority regions</a:t>
            </a:r>
            <a:endParaRPr lang="en-US" sz="2800" dirty="0"/>
          </a:p>
        </p:txBody>
      </p:sp>
      <p:sp>
        <p:nvSpPr>
          <p:cNvPr id="4" name="Text 0"/>
          <p:cNvSpPr/>
          <p:nvPr>
            <p:ph idx="102" type="body" hasCustomPrompt="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chemeClr val="accent6"/>
                </a:solidFill>
              </a:rPr>
              <a:t>Evidence: Tableau regional ranking + target gaps · user shares from Dec 2025</a:t>
            </a:r>
            <a:endParaRPr lang="en-US" sz="1100" dirty="0"/>
          </a:p>
        </p:txBody>
      </p:sp>
      <p:graphicFrame>
        <p:nvGraphicFramePr>
          <p:cNvPr id="6" name="Options table"/>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148840"/>
                <a:gridCol w="2980944"/>
                <a:gridCol w="2980944"/>
                <a:gridCol w="2980944"/>
              </a:tblGrid>
              <a:tr h="502920">
                <a:tc>
                  <a:txBody>
                    <a:bodyPr/>
                    <a:lstStyle/>
                    <a:p>
                      <a:pPr indent="0" marL="0">
                        <a:buNone/>
                      </a:pPr>
                      <a:endParaRPr lang="en-US" sz="15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mn-lt" pitchFamily="34" charset="0"/>
                          <a:ea typeface="+mn-lt" pitchFamily="34" charset="-122"/>
                          <a:cs typeface="+mn-lt" pitchFamily="34" charset="-120"/>
                        </a:rPr>
                        <a:t>A. Spread evenly</a:t>
                      </a:r>
                      <a:endParaRPr lang="en-US" sz="15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solidFill>
                      <a:schemeClr val="bg2"/>
                    </a:solidFill>
                  </a:tcPr>
                </a:tc>
                <a:tc>
                  <a:txBody>
                    <a:bodyPr/>
                    <a:lstStyle/>
                    <a:p>
                      <a:pPr indent="0" marL="0">
                        <a:buNone/>
                      </a:pPr>
                      <a:r>
                        <a:rPr lang="en-US" sz="1500" b="1" dirty="0">
                          <a:solidFill>
                            <a:schemeClr val="bg1"/>
                          </a:solidFill>
                          <a:latin typeface="+mn-lt" pitchFamily="34" charset="0"/>
                          <a:ea typeface="+mn-lt" pitchFamily="34" charset="-122"/>
                          <a:cs typeface="+mn-lt" pitchFamily="34" charset="-120"/>
                        </a:rPr>
                        <a:t>B. Target the gap</a:t>
                      </a:r>
                      <a:endParaRPr lang="en-US" sz="15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solidFill>
                      <a:schemeClr val="accent3"/>
                    </a:solidFill>
                  </a:tcPr>
                </a:tc>
                <a:tc>
                  <a:txBody>
                    <a:bodyPr/>
                    <a:lstStyle/>
                    <a:p>
                      <a:pPr indent="0" marL="0">
                        <a:buNone/>
                      </a:pPr>
                      <a:r>
                        <a:rPr lang="en-US" sz="1500" b="1" dirty="0">
                          <a:solidFill>
                            <a:schemeClr val="tx1"/>
                          </a:solidFill>
                          <a:latin typeface="+mn-lt" pitchFamily="34" charset="0"/>
                          <a:ea typeface="+mn-lt" pitchFamily="34" charset="-122"/>
                          <a:cs typeface="+mn-lt" pitchFamily="34" charset="-120"/>
                        </a:rPr>
                        <a:t>C. National push</a:t>
                      </a:r>
                      <a:endParaRPr lang="en-US" sz="15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solidFill>
                      <a:schemeClr val="bg2"/>
                    </a:solidFill>
                  </a:tcPr>
                </a:tc>
              </a:tr>
              <a:tr h="822960">
                <a:tc>
                  <a:txBody>
                    <a:bodyPr/>
                    <a:lstStyle/>
                    <a:p>
                      <a:pPr indent="0" marL="0">
                        <a:buNone/>
                      </a:pPr>
                      <a:r>
                        <a:rPr lang="en-US" sz="1300" b="1" dirty="0">
                          <a:solidFill>
                            <a:schemeClr val="accent6"/>
                          </a:solidFill>
                          <a:latin typeface="+mn-lt" pitchFamily="34" charset="0"/>
                          <a:ea typeface="+mn-lt" pitchFamily="34" charset="-122"/>
                          <a:cs typeface="+mn-lt" pitchFamily="34" charset="-120"/>
                        </a:rPr>
                        <a:t>How it works</a:t>
                      </a:r>
                      <a:endParaRPr lang="en-US" sz="13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SAR 5M to each of the 8 below-target regions</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SAR 36M to the priority four, split by gap size, plus a SAR 4M reserve</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One nationwide campaign; spending follows where users are</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r>
              <a:tr h="731520">
                <a:tc>
                  <a:txBody>
                    <a:bodyPr/>
                    <a:lstStyle/>
                    <a:p>
                      <a:pPr indent="0" marL="0">
                        <a:buNone/>
                      </a:pPr>
                      <a:r>
                        <a:rPr lang="en-US" sz="1300" b="1" dirty="0">
                          <a:solidFill>
                            <a:schemeClr val="accent6"/>
                          </a:solidFill>
                          <a:latin typeface="+mn-lt" pitchFamily="34" charset="0"/>
                          <a:ea typeface="+mn-lt" pitchFamily="34" charset="-122"/>
                          <a:cs typeface="+mn-lt" pitchFamily="34" charset="-120"/>
                        </a:rPr>
                        <a:t>Money reaching the priority four</a:t>
                      </a:r>
                      <a:endParaRPr lang="en-US" sz="13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2200" b="1" dirty="0">
                          <a:solidFill>
                            <a:schemeClr val="tx1"/>
                          </a:solidFill>
                          <a:latin typeface="+mj-lt" pitchFamily="34" charset="0"/>
                          <a:ea typeface="+mj-lt" pitchFamily="34" charset="-122"/>
                          <a:cs typeface="+mj-lt" pitchFamily="34" charset="-120"/>
                        </a:rPr>
                        <a:t>SAR 20M (50%)</a:t>
                      </a:r>
                      <a:endParaRPr lang="en-US" sz="2200" dirty="0">
                        <a:latin typeface="+mj-lt" charset="0"/>
                        <a:ea typeface="+mj-lt" charset="0"/>
                        <a:cs typeface="+mj-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2200" b="1" dirty="0">
                          <a:solidFill>
                            <a:schemeClr val="accent3"/>
                          </a:solidFill>
                          <a:latin typeface="+mj-lt" pitchFamily="34" charset="0"/>
                          <a:ea typeface="+mj-lt" pitchFamily="34" charset="-122"/>
                          <a:cs typeface="+mj-lt" pitchFamily="34" charset="-120"/>
                        </a:rPr>
                        <a:t>SAR 36M (90%)</a:t>
                      </a:r>
                      <a:endParaRPr lang="en-US" sz="2200" dirty="0">
                        <a:latin typeface="+mj-lt" charset="0"/>
                        <a:ea typeface="+mj-lt" charset="0"/>
                        <a:cs typeface="+mj-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2200" b="1" dirty="0">
                          <a:solidFill>
                            <a:schemeClr val="tx1"/>
                          </a:solidFill>
                          <a:latin typeface="+mj-lt" pitchFamily="34" charset="0"/>
                          <a:ea typeface="+mj-lt" pitchFamily="34" charset="-122"/>
                          <a:cs typeface="+mj-lt" pitchFamily="34" charset="-120"/>
                        </a:rPr>
                        <a:t>≈SAR 9M (23%)</a:t>
                      </a:r>
                      <a:endParaRPr lang="en-US" sz="2200" dirty="0">
                        <a:latin typeface="+mj-lt" charset="0"/>
                        <a:ea typeface="+mj-lt" charset="0"/>
                        <a:cs typeface="+mj-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r>
              <a:tr h="822960">
                <a:tc>
                  <a:txBody>
                    <a:bodyPr/>
                    <a:lstStyle/>
                    <a:p>
                      <a:pPr indent="0" marL="0">
                        <a:buNone/>
                      </a:pPr>
                      <a:r>
                        <a:rPr lang="en-US" sz="1300" b="1" dirty="0">
                          <a:solidFill>
                            <a:schemeClr val="accent6"/>
                          </a:solidFill>
                          <a:latin typeface="+mn-lt" pitchFamily="34" charset="0"/>
                          <a:ea typeface="+mn-lt" pitchFamily="34" charset="-122"/>
                          <a:cs typeface="+mn-lt" pitchFamily="34" charset="-120"/>
                        </a:rPr>
                        <a:t>Upside</a:t>
                      </a:r>
                      <a:endParaRPr lang="en-US" sz="13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Simple and visibly fair</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Money follows the evidence; fastest route to all 13 regions at 65%</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Lifts every region and every service</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r>
              <a:tr h="822960">
                <a:tc>
                  <a:txBody>
                    <a:bodyPr/>
                    <a:lstStyle/>
                    <a:p>
                      <a:pPr indent="0" marL="0">
                        <a:buNone/>
                      </a:pPr>
                      <a:r>
                        <a:rPr lang="en-US" sz="1300" b="1" dirty="0">
                          <a:solidFill>
                            <a:schemeClr val="accent6"/>
                          </a:solidFill>
                          <a:latin typeface="+mn-lt" pitchFamily="34" charset="0"/>
                          <a:ea typeface="+mn-lt" pitchFamily="34" charset="-122"/>
                          <a:cs typeface="+mn-lt" pitchFamily="34" charset="-120"/>
                        </a:rPr>
                        <a:t>Downside</a:t>
                      </a:r>
                      <a:endParaRPr lang="en-US" sz="13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SAR 20M goes to regions already within 0.7 pts of 65%</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Near-miss regions get nothing upfront; the reserve covers a stall</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48% of spending lands in regions already above 65%</a:t>
                      </a:r>
                      <a:endParaRPr lang="en-US" sz="1400" dirty="0">
                        <a:latin typeface="+mn-lt" charset="0"/>
                        <a:ea typeface="+mn-lt" charset="0"/>
                        <a:cs typeface="+mn-lt" charset="0"/>
                      </a:endParaRPr>
                    </a:p>
                  </a:txBody>
                  <a:tcPr marL="137160" marR="137160" marT="73152" marB="73152" anchor="ctr">
                    <a:lnL w="0" cap="flat" cmpd="sng" algn="ctr">
                      <a:noFill/>
                    </a:lnL>
                    <a:lnR w="0" cap="flat" cmpd="sng" algn="ctr">
                      <a:noFill/>
                    </a:lnR>
                    <a:lnT w="0" cap="flat" cmpd="sng" algn="ctr">
                      <a:noFill/>
                    </a:lnT>
                    <a:lnB w="9525" cap="flat" cmpd="sng" algn="ctr">
                      <a:solidFill>
                        <a:srgbClr val="D5DAD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t"/>
          <a:lstStyle/>
          <a:p>
            <a:pPr indent="0" marL="0">
              <a:buNone/>
            </a:pPr>
            <a:r>
              <a:rPr lang="en-US" sz="1300" b="1" dirty="0">
                <a:solidFill>
                  <a:schemeClr val="accent3"/>
                </a:solidFill>
              </a:rPr>
              <a:t>Recommendation</a:t>
            </a:r>
            <a:pPr indent="0" marL="0">
              <a:buNone/>
            </a:pPr>
            <a:r>
              <a:rPr lang="en-US" sz="1300" dirty="0">
                <a:solidFill>
                  <a:schemeClr val="accent6"/>
                </a:solidFill>
              </a:rPr>
              <a:t>   Q3 · Which option, and why?</a:t>
            </a:r>
            <a:endParaRPr lang="en-US" sz="1300" dirty="0"/>
          </a:p>
        </p:txBody>
      </p:sp>
      <p:sp>
        <p:nvSpPr>
          <p:cNvPr id="3" name="Text 0"/>
          <p:cNvSpPr/>
          <p:nvPr>
            <p:ph idx="101" type="title" hasCustomPrompt="1"/>
          </p:nvPr>
        </p:nvSpPr>
        <p:spPr>
          <a:xfrm>
            <a:off x="548640" y="749808"/>
            <a:ext cx="11094415" cy="960120"/>
          </a:xfrm>
          <a:prstGeom prst="rect">
            <a:avLst/>
          </a:prstGeom>
          <a:noFill/>
          <a:ln/>
        </p:spPr>
        <p:txBody>
          <a:bodyPr wrap="square" lIns="0" tIns="0" rIns="0" bIns="0" rtlCol="0" anchor="t"/>
          <a:lstStyle/>
          <a:p>
            <a:pPr algn="l" indent="0" marL="0">
              <a:buNone/>
            </a:pPr>
            <a:r>
              <a:rPr lang="en-US" sz="2800" b="1" dirty="0">
                <a:solidFill>
                  <a:schemeClr val="tx1"/>
                </a:solidFill>
              </a:rPr>
              <a:t>We recommend SAR 36M for the four priority regions, split by their share of the gap</a:t>
            </a:r>
            <a:endParaRPr lang="en-US" sz="2800" dirty="0"/>
          </a:p>
        </p:txBody>
      </p:sp>
      <p:sp>
        <p:nvSpPr>
          <p:cNvPr id="4" name="Text 0"/>
          <p:cNvSpPr/>
          <p:nvPr>
            <p:ph idx="102" type="body" hasCustomPrompt="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chemeClr val="accent6"/>
                </a:solidFill>
              </a:rPr>
              <a:t>Evidence: Tableau target gaps + channel cost and CSAT, 2025 · amounts rounded to SAR 0.5M</a:t>
            </a:r>
            <a:endParaRPr lang="en-US" sz="1100" dirty="0"/>
          </a:p>
        </p:txBody>
      </p:sp>
      <p:sp>
        <p:nvSpPr>
          <p:cNvPr id="5" name="Allocation heading"/>
          <p:cNvSpPr txBox="1"/>
          <p:nvPr/>
        </p:nvSpPr>
        <p:spPr>
          <a:xfrm>
            <a:off x="548640" y="1874520"/>
            <a:ext cx="5486400" cy="292608"/>
          </a:xfrm>
          <a:prstGeom prst="rect">
            <a:avLst/>
          </a:prstGeom>
          <a:noFill/>
          <a:ln/>
        </p:spPr>
        <p:txBody>
          <a:bodyPr wrap="square" lIns="0" tIns="0" rIns="0" bIns="0" rtlCol="0" anchor="ctr"/>
          <a:lstStyle/>
          <a:p>
            <a:pPr indent="0" marL="0">
              <a:buNone/>
            </a:pPr>
            <a:r>
              <a:rPr lang="en-US" sz="1500" b="1" dirty="0">
                <a:solidFill>
                  <a:schemeClr val="tx1"/>
                </a:solidFill>
              </a:rPr>
              <a:t>How the SAR 40M is split</a:t>
            </a:r>
            <a:endParaRPr lang="en-US" sz="1500" dirty="0"/>
          </a:p>
        </p:txBody>
      </p:sp>
      <p:graphicFrame>
        <p:nvGraphicFramePr>
          <p:cNvPr id="6" name="Allocation chart" descr=""/>
          <p:cNvGraphicFramePr/>
          <p:nvPr/>
        </p:nvGraphicFramePr>
        <p:xfrm>
          <a:off x="548640" y="224028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7" name="Allocation caption"/>
          <p:cNvSpPr txBox="1"/>
          <p:nvPr/>
        </p:nvSpPr>
        <p:spPr>
          <a:xfrm>
            <a:off x="548640" y="5394960"/>
            <a:ext cx="5486400" cy="685800"/>
          </a:xfrm>
          <a:prstGeom prst="rect">
            <a:avLst/>
          </a:prstGeom>
          <a:noFill/>
          <a:ln/>
        </p:spPr>
        <p:txBody>
          <a:bodyPr wrap="square" lIns="0" tIns="0" rIns="0" bIns="0" rtlCol="0" anchor="t"/>
          <a:lstStyle/>
          <a:p>
            <a:pPr indent="0" marL="0">
              <a:buNone/>
            </a:pPr>
            <a:r>
              <a:rPr lang="en-US" sz="1200" dirty="0">
                <a:solidFill>
                  <a:schemeClr val="accent6"/>
                </a:solidFill>
              </a:rPr>
              <a:t>Each amount follows the region's share of the gap (37%, 23%, 20%, 20%). The reserve goes to any near-miss region still below 65% at month 6.</a:t>
            </a:r>
            <a:endParaRPr lang="en-US" sz="1200" dirty="0"/>
          </a:p>
        </p:txBody>
      </p:sp>
      <p:sp>
        <p:nvSpPr>
          <p:cNvPr id="8" name="Reason 1"/>
          <p:cNvSpPr txBox="1"/>
          <p:nvPr/>
        </p:nvSpPr>
        <p:spPr>
          <a:xfrm>
            <a:off x="6446520" y="1920240"/>
            <a:ext cx="5196535" cy="566928"/>
          </a:xfrm>
          <a:prstGeom prst="rect">
            <a:avLst/>
          </a:prstGeom>
          <a:noFill/>
          <a:ln/>
        </p:spPr>
        <p:txBody>
          <a:bodyPr wrap="square" lIns="0" tIns="0" rIns="0" bIns="0" rtlCol="0" anchor="t"/>
          <a:lstStyle/>
          <a:p>
            <a:pPr indent="0" marL="0">
              <a:buNone/>
            </a:pPr>
            <a:r>
              <a:rPr lang="en-US" sz="1500" b="1" dirty="0">
                <a:solidFill>
                  <a:schemeClr val="tx1"/>
                </a:solidFill>
              </a:rPr>
              <a:t>It follows the evidence. </a:t>
            </a:r>
            <a:pPr indent="0" marL="0">
              <a:buNone/>
            </a:pPr>
            <a:r>
              <a:rPr lang="en-US" sz="1500" dirty="0">
                <a:solidFill>
                  <a:schemeClr val="tx2"/>
                </a:solidFill>
              </a:rPr>
              <a:t>90% of the funds reach the regions that hold 84% of the gap.</a:t>
            </a:r>
            <a:endParaRPr lang="en-US" sz="1500" dirty="0"/>
          </a:p>
        </p:txBody>
      </p:sp>
      <p:sp>
        <p:nvSpPr>
          <p:cNvPr id="9" name="Reason rule 1"/>
          <p:cNvSpPr/>
          <p:nvPr/>
        </p:nvSpPr>
        <p:spPr>
          <a:xfrm>
            <a:off x="6446520" y="2578608"/>
            <a:ext cx="5196535" cy="0"/>
          </a:xfrm>
          <a:prstGeom prst="line">
            <a:avLst/>
          </a:prstGeom>
          <a:noFill/>
          <a:ln w="9525">
            <a:solidFill>
              <a:srgbClr val="D5DAD6"/>
            </a:solidFill>
            <a:prstDash val="solid"/>
          </a:ln>
        </p:spPr>
      </p:sp>
      <p:sp>
        <p:nvSpPr>
          <p:cNvPr id="10" name="Reason 2"/>
          <p:cNvSpPr txBox="1"/>
          <p:nvPr/>
        </p:nvSpPr>
        <p:spPr>
          <a:xfrm>
            <a:off x="6446520" y="2688336"/>
            <a:ext cx="5196535" cy="566928"/>
          </a:xfrm>
          <a:prstGeom prst="rect">
            <a:avLst/>
          </a:prstGeom>
          <a:noFill/>
          <a:ln/>
        </p:spPr>
        <p:txBody>
          <a:bodyPr wrap="square" lIns="0" tIns="0" rIns="0" bIns="0" rtlCol="0" anchor="t"/>
          <a:lstStyle/>
          <a:p>
            <a:pPr indent="0" marL="0">
              <a:buNone/>
            </a:pPr>
            <a:r>
              <a:rPr lang="en-US" sz="1500" b="1" dirty="0">
                <a:solidFill>
                  <a:schemeClr val="tx1"/>
                </a:solidFill>
              </a:rPr>
              <a:t>It fixes the slowest case. </a:t>
            </a:r>
            <a:pPr indent="0" marL="0">
              <a:buNone/>
            </a:pPr>
            <a:r>
              <a:rPr lang="en-US" sz="1500" dirty="0">
                <a:solidFill>
                  <a:schemeClr val="tx2"/>
                </a:solidFill>
              </a:rPr>
              <a:t>Najran (60.9%) needs about 19 months to reach 65% on its own.</a:t>
            </a:r>
            <a:endParaRPr lang="en-US" sz="1500" dirty="0"/>
          </a:p>
        </p:txBody>
      </p:sp>
      <p:sp>
        <p:nvSpPr>
          <p:cNvPr id="11" name="Reason rule 2"/>
          <p:cNvSpPr/>
          <p:nvPr/>
        </p:nvSpPr>
        <p:spPr>
          <a:xfrm>
            <a:off x="6446520" y="3346704"/>
            <a:ext cx="5196535" cy="0"/>
          </a:xfrm>
          <a:prstGeom prst="line">
            <a:avLst/>
          </a:prstGeom>
          <a:noFill/>
          <a:ln w="9525">
            <a:solidFill>
              <a:srgbClr val="D5DAD6"/>
            </a:solidFill>
            <a:prstDash val="solid"/>
          </a:ln>
        </p:spPr>
      </p:sp>
      <p:sp>
        <p:nvSpPr>
          <p:cNvPr id="12" name="Reason 3"/>
          <p:cNvSpPr txBox="1"/>
          <p:nvPr/>
        </p:nvSpPr>
        <p:spPr>
          <a:xfrm>
            <a:off x="6446520" y="3456432"/>
            <a:ext cx="5196535" cy="1051560"/>
          </a:xfrm>
          <a:prstGeom prst="rect">
            <a:avLst/>
          </a:prstGeom>
          <a:noFill/>
          <a:ln/>
        </p:spPr>
        <p:txBody>
          <a:bodyPr wrap="square" lIns="0" tIns="0" rIns="0" bIns="0" rtlCol="0" anchor="t"/>
          <a:lstStyle/>
          <a:p>
            <a:pPr indent="0" marL="0">
              <a:buNone/>
            </a:pPr>
            <a:r>
              <a:rPr lang="en-US" sz="1500" b="1" dirty="0">
                <a:solidFill>
                  <a:schemeClr val="tx1"/>
                </a:solidFill>
              </a:rPr>
              <a:t>The money has a clear use. </a:t>
            </a:r>
            <a:pPr indent="0" marL="0">
              <a:buNone/>
            </a:pPr>
            <a:r>
              <a:rPr lang="en-US" sz="1500" dirty="0">
                <a:solidFill>
                  <a:schemeClr val="tx2"/>
                </a:solidFill>
              </a:rPr>
              <a:t>Move branch and call-centre transactions online (about 34% of volume; SAR 23-24 each against SAR 15-16 online) and fix Complaints, the weakest service at 58.8% digital.</a:t>
            </a:r>
            <a:endParaRPr lang="en-US" sz="1500" dirty="0"/>
          </a:p>
        </p:txBody>
      </p:sp>
      <p:sp>
        <p:nvSpPr>
          <p:cNvPr id="13" name="Expected effect panel"/>
          <p:cNvSpPr/>
          <p:nvPr/>
        </p:nvSpPr>
        <p:spPr>
          <a:xfrm>
            <a:off x="6446520" y="5166360"/>
            <a:ext cx="5196535" cy="914400"/>
          </a:xfrm>
          <a:prstGeom prst="rect">
            <a:avLst/>
          </a:prstGeom>
          <a:solidFill>
            <a:schemeClr val="bg2"/>
          </a:solidFill>
          <a:ln/>
        </p:spPr>
      </p:sp>
      <p:sp>
        <p:nvSpPr>
          <p:cNvPr id="14" name="Expected effect"/>
          <p:cNvSpPr txBox="1"/>
          <p:nvPr/>
        </p:nvSpPr>
        <p:spPr>
          <a:xfrm>
            <a:off x="6675120" y="5166360"/>
            <a:ext cx="4739335" cy="914400"/>
          </a:xfrm>
          <a:prstGeom prst="rect">
            <a:avLst/>
          </a:prstGeom>
          <a:noFill/>
          <a:ln/>
        </p:spPr>
        <p:txBody>
          <a:bodyPr wrap="square" lIns="0" tIns="0" rIns="0" bIns="0" rtlCol="0" anchor="ctr"/>
          <a:lstStyle/>
          <a:p>
            <a:pPr indent="0" marL="0">
              <a:buNone/>
            </a:pPr>
            <a:r>
              <a:rPr lang="en-US" sz="1600" b="1" dirty="0">
                <a:solidFill>
                  <a:schemeClr val="accent3"/>
                </a:solidFill>
              </a:rPr>
              <a:t>Expected effect: </a:t>
            </a:r>
            <a:pPr indent="0" marL="0">
              <a:buNone/>
            </a:pPr>
            <a:r>
              <a:rPr lang="en-US" sz="1600" dirty="0">
                <a:solidFill>
                  <a:schemeClr val="tx1"/>
                </a:solidFill>
              </a:rPr>
              <a:t>all 13 regions at or above 65% within 12 months of approval.</a:t>
            </a:r>
            <a:endParaRPr lang="en-US" sz="16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1094415" cy="292608"/>
          </a:xfrm>
          <a:prstGeom prst="rect">
            <a:avLst/>
          </a:prstGeom>
          <a:noFill/>
          <a:ln/>
        </p:spPr>
        <p:txBody>
          <a:bodyPr wrap="square" lIns="0" tIns="0" rIns="0" bIns="0" rtlCol="0" anchor="t"/>
          <a:lstStyle/>
          <a:p>
            <a:pPr indent="0" marL="0">
              <a:buNone/>
            </a:pPr>
            <a:r>
              <a:rPr lang="en-US" sz="1300" b="1" dirty="0">
                <a:solidFill>
                  <a:schemeClr val="accent4"/>
                </a:solidFill>
              </a:rPr>
              <a:t>Ask and next step</a:t>
            </a:r>
            <a:endParaRPr lang="en-US" sz="1300" dirty="0"/>
          </a:p>
        </p:txBody>
      </p:sp>
      <p:sp>
        <p:nvSpPr>
          <p:cNvPr id="3" name="Text 0"/>
          <p:cNvSpPr/>
          <p:nvPr>
            <p:ph idx="101" type="title" hasCustomPrompt="1"/>
          </p:nvPr>
        </p:nvSpPr>
        <p:spPr>
          <a:xfrm>
            <a:off x="548640" y="960120"/>
            <a:ext cx="11094415" cy="1188720"/>
          </a:xfrm>
          <a:prstGeom prst="rect">
            <a:avLst/>
          </a:prstGeom>
          <a:noFill/>
          <a:ln/>
        </p:spPr>
        <p:txBody>
          <a:bodyPr wrap="square" lIns="0" tIns="0" rIns="0" bIns="0" rtlCol="0" anchor="t"/>
          <a:lstStyle/>
          <a:p>
            <a:pPr algn="l" indent="0" marL="0">
              <a:buNone/>
            </a:pPr>
            <a:r>
              <a:rPr lang="en-US" sz="3200" b="1" dirty="0">
                <a:solidFill>
                  <a:schemeClr val="bg1"/>
                </a:solidFill>
              </a:rPr>
              <a:t>Approve SAR 36M today and decide the remaining SAR 4M at the month-6 checkpoint</a:t>
            </a:r>
            <a:endParaRPr lang="en-US" sz="3200" dirty="0"/>
          </a:p>
        </p:txBody>
      </p:sp>
      <p:sp>
        <p:nvSpPr>
          <p:cNvPr id="4" name="Step 1 when"/>
          <p:cNvSpPr txBox="1"/>
          <p:nvPr/>
        </p:nvSpPr>
        <p:spPr>
          <a:xfrm>
            <a:off x="548640" y="2743200"/>
            <a:ext cx="3393338" cy="274320"/>
          </a:xfrm>
          <a:prstGeom prst="rect">
            <a:avLst/>
          </a:prstGeom>
          <a:noFill/>
          <a:ln/>
        </p:spPr>
        <p:txBody>
          <a:bodyPr wrap="square" lIns="0" tIns="0" rIns="0" bIns="0" rtlCol="0" anchor="ctr"/>
          <a:lstStyle/>
          <a:p>
            <a:pPr indent="0" marL="0">
              <a:buNone/>
            </a:pPr>
            <a:r>
              <a:rPr lang="en-US" sz="1400" b="1" dirty="0">
                <a:solidFill>
                  <a:schemeClr val="accent4"/>
                </a:solidFill>
              </a:rPr>
              <a:t>Month 0</a:t>
            </a:r>
            <a:endParaRPr lang="en-US" sz="1400" dirty="0"/>
          </a:p>
        </p:txBody>
      </p:sp>
      <p:sp>
        <p:nvSpPr>
          <p:cNvPr id="5" name="Step 1 heading"/>
          <p:cNvSpPr txBox="1"/>
          <p:nvPr/>
        </p:nvSpPr>
        <p:spPr>
          <a:xfrm>
            <a:off x="548640" y="3090672"/>
            <a:ext cx="3393338" cy="438912"/>
          </a:xfrm>
          <a:prstGeom prst="rect">
            <a:avLst/>
          </a:prstGeom>
          <a:noFill/>
          <a:ln/>
        </p:spPr>
        <p:txBody>
          <a:bodyPr wrap="square" lIns="0" tIns="0" rIns="0" bIns="0" rtlCol="0" anchor="ctr"/>
          <a:lstStyle/>
          <a:p>
            <a:pPr indent="0" marL="0">
              <a:buNone/>
            </a:pPr>
            <a:r>
              <a:rPr lang="en-US" sz="2200" b="1" dirty="0">
                <a:solidFill>
                  <a:schemeClr val="bg1"/>
                </a:solidFill>
                <a:latin typeface="+mj-lt" pitchFamily="34" charset="0"/>
                <a:ea typeface="+mj-lt" pitchFamily="34" charset="-122"/>
                <a:cs typeface="+mj-lt" pitchFamily="34" charset="-120"/>
              </a:rPr>
              <a:t>Approve and launch</a:t>
            </a:r>
            <a:endParaRPr lang="en-US" sz="2200" dirty="0"/>
          </a:p>
        </p:txBody>
      </p:sp>
      <p:sp>
        <p:nvSpPr>
          <p:cNvPr id="6" name="Step 1 text"/>
          <p:cNvSpPr txBox="1"/>
          <p:nvPr/>
        </p:nvSpPr>
        <p:spPr>
          <a:xfrm>
            <a:off x="548640" y="3611880"/>
            <a:ext cx="3301898" cy="1188720"/>
          </a:xfrm>
          <a:prstGeom prst="rect">
            <a:avLst/>
          </a:prstGeom>
          <a:noFill/>
          <a:ln/>
        </p:spPr>
        <p:txBody>
          <a:bodyPr wrap="square" lIns="0" tIns="0" rIns="0" bIns="0" rtlCol="0" anchor="t"/>
          <a:lstStyle/>
          <a:p>
            <a:pPr indent="0" marL="0">
              <a:buNone/>
            </a:pPr>
            <a:r>
              <a:rPr lang="en-US" sz="1500" dirty="0">
                <a:solidFill>
                  <a:srgbClr val="D6E0DA"/>
                </a:solidFill>
              </a:rPr>
              <a:t>Fund Najran (SAR 13.5M), Northern Borders (8.5M), Al-Baha (7M) and Jazan (7M).</a:t>
            </a:r>
            <a:endParaRPr lang="en-US" sz="1500" dirty="0"/>
          </a:p>
        </p:txBody>
      </p:sp>
      <p:sp>
        <p:nvSpPr>
          <p:cNvPr id="7" name="Step divider 1"/>
          <p:cNvSpPr/>
          <p:nvPr/>
        </p:nvSpPr>
        <p:spPr>
          <a:xfrm>
            <a:off x="4170578" y="2743200"/>
            <a:ext cx="0" cy="2103120"/>
          </a:xfrm>
          <a:prstGeom prst="line">
            <a:avLst/>
          </a:prstGeom>
          <a:noFill/>
          <a:ln w="12700">
            <a:solidFill>
              <a:srgbClr val="3E6B5A"/>
            </a:solidFill>
            <a:prstDash val="solid"/>
          </a:ln>
        </p:spPr>
      </p:sp>
      <p:sp>
        <p:nvSpPr>
          <p:cNvPr id="8" name="Step 2 when"/>
          <p:cNvSpPr txBox="1"/>
          <p:nvPr/>
        </p:nvSpPr>
        <p:spPr>
          <a:xfrm>
            <a:off x="4399178" y="2743200"/>
            <a:ext cx="3393338" cy="274320"/>
          </a:xfrm>
          <a:prstGeom prst="rect">
            <a:avLst/>
          </a:prstGeom>
          <a:noFill/>
          <a:ln/>
        </p:spPr>
        <p:txBody>
          <a:bodyPr wrap="square" lIns="0" tIns="0" rIns="0" bIns="0" rtlCol="0" anchor="ctr"/>
          <a:lstStyle/>
          <a:p>
            <a:pPr indent="0" marL="0">
              <a:buNone/>
            </a:pPr>
            <a:r>
              <a:rPr lang="en-US" sz="1400" b="1" dirty="0">
                <a:solidFill>
                  <a:schemeClr val="accent4"/>
                </a:solidFill>
              </a:rPr>
              <a:t>Month 6</a:t>
            </a:r>
            <a:endParaRPr lang="en-US" sz="1400" dirty="0"/>
          </a:p>
        </p:txBody>
      </p:sp>
      <p:sp>
        <p:nvSpPr>
          <p:cNvPr id="9" name="Step 2 heading"/>
          <p:cNvSpPr txBox="1"/>
          <p:nvPr/>
        </p:nvSpPr>
        <p:spPr>
          <a:xfrm>
            <a:off x="4399178" y="3090672"/>
            <a:ext cx="3393338" cy="438912"/>
          </a:xfrm>
          <a:prstGeom prst="rect">
            <a:avLst/>
          </a:prstGeom>
          <a:noFill/>
          <a:ln/>
        </p:spPr>
        <p:txBody>
          <a:bodyPr wrap="square" lIns="0" tIns="0" rIns="0" bIns="0" rtlCol="0" anchor="ctr"/>
          <a:lstStyle/>
          <a:p>
            <a:pPr indent="0" marL="0">
              <a:buNone/>
            </a:pPr>
            <a:r>
              <a:rPr lang="en-US" sz="2200" b="1" dirty="0">
                <a:solidFill>
                  <a:schemeClr val="bg1"/>
                </a:solidFill>
                <a:latin typeface="+mj-lt" pitchFamily="34" charset="0"/>
                <a:ea typeface="+mj-lt" pitchFamily="34" charset="-122"/>
                <a:cs typeface="+mj-lt" pitchFamily="34" charset="-120"/>
              </a:rPr>
              <a:t>Checkpoint</a:t>
            </a:r>
            <a:endParaRPr lang="en-US" sz="2200" dirty="0"/>
          </a:p>
        </p:txBody>
      </p:sp>
      <p:sp>
        <p:nvSpPr>
          <p:cNvPr id="10" name="Step 2 text"/>
          <p:cNvSpPr txBox="1"/>
          <p:nvPr/>
        </p:nvSpPr>
        <p:spPr>
          <a:xfrm>
            <a:off x="4399178" y="3611880"/>
            <a:ext cx="3301898" cy="1188720"/>
          </a:xfrm>
          <a:prstGeom prst="rect">
            <a:avLst/>
          </a:prstGeom>
          <a:noFill/>
          <a:ln/>
        </p:spPr>
        <p:txBody>
          <a:bodyPr wrap="square" lIns="0" tIns="0" rIns="0" bIns="0" rtlCol="0" anchor="t"/>
          <a:lstStyle/>
          <a:p>
            <a:pPr indent="0" marL="0">
              <a:buNone/>
            </a:pPr>
            <a:r>
              <a:rPr lang="en-US" sz="1500" dirty="0">
                <a:solidFill>
                  <a:srgbClr val="D6E0DA"/>
                </a:solidFill>
              </a:rPr>
              <a:t>Each funded region has closed at least half its gap (Najran ≥ 62.9%). Any near-miss region still below 65% receives the SAR 4M reserve.</a:t>
            </a:r>
            <a:endParaRPr lang="en-US" sz="1500" dirty="0"/>
          </a:p>
        </p:txBody>
      </p:sp>
      <p:sp>
        <p:nvSpPr>
          <p:cNvPr id="11" name="Step divider 2"/>
          <p:cNvSpPr/>
          <p:nvPr/>
        </p:nvSpPr>
        <p:spPr>
          <a:xfrm>
            <a:off x="8021117" y="2743200"/>
            <a:ext cx="0" cy="2103120"/>
          </a:xfrm>
          <a:prstGeom prst="line">
            <a:avLst/>
          </a:prstGeom>
          <a:noFill/>
          <a:ln w="12700">
            <a:solidFill>
              <a:srgbClr val="3E6B5A"/>
            </a:solidFill>
            <a:prstDash val="solid"/>
          </a:ln>
        </p:spPr>
      </p:sp>
      <p:sp>
        <p:nvSpPr>
          <p:cNvPr id="12" name="Step 3 when"/>
          <p:cNvSpPr txBox="1"/>
          <p:nvPr/>
        </p:nvSpPr>
        <p:spPr>
          <a:xfrm>
            <a:off x="8249717" y="2743200"/>
            <a:ext cx="3393338" cy="274320"/>
          </a:xfrm>
          <a:prstGeom prst="rect">
            <a:avLst/>
          </a:prstGeom>
          <a:noFill/>
          <a:ln/>
        </p:spPr>
        <p:txBody>
          <a:bodyPr wrap="square" lIns="0" tIns="0" rIns="0" bIns="0" rtlCol="0" anchor="ctr"/>
          <a:lstStyle/>
          <a:p>
            <a:pPr indent="0" marL="0">
              <a:buNone/>
            </a:pPr>
            <a:r>
              <a:rPr lang="en-US" sz="1400" b="1" dirty="0">
                <a:solidFill>
                  <a:schemeClr val="accent4"/>
                </a:solidFill>
              </a:rPr>
              <a:t>Month 12</a:t>
            </a:r>
            <a:endParaRPr lang="en-US" sz="1400" dirty="0"/>
          </a:p>
        </p:txBody>
      </p:sp>
      <p:sp>
        <p:nvSpPr>
          <p:cNvPr id="13" name="Step 3 heading"/>
          <p:cNvSpPr txBox="1"/>
          <p:nvPr/>
        </p:nvSpPr>
        <p:spPr>
          <a:xfrm>
            <a:off x="8249717" y="3090672"/>
            <a:ext cx="3393338" cy="438912"/>
          </a:xfrm>
          <a:prstGeom prst="rect">
            <a:avLst/>
          </a:prstGeom>
          <a:noFill/>
          <a:ln/>
        </p:spPr>
        <p:txBody>
          <a:bodyPr wrap="square" lIns="0" tIns="0" rIns="0" bIns="0" rtlCol="0" anchor="ctr"/>
          <a:lstStyle/>
          <a:p>
            <a:pPr indent="0" marL="0">
              <a:buNone/>
            </a:pPr>
            <a:r>
              <a:rPr lang="en-US" sz="2200" b="1" dirty="0">
                <a:solidFill>
                  <a:schemeClr val="bg1"/>
                </a:solidFill>
                <a:latin typeface="+mj-lt" pitchFamily="34" charset="0"/>
                <a:ea typeface="+mj-lt" pitchFamily="34" charset="-122"/>
                <a:cs typeface="+mj-lt" pitchFamily="34" charset="-120"/>
              </a:rPr>
              <a:t>Target</a:t>
            </a:r>
            <a:endParaRPr lang="en-US" sz="2200" dirty="0"/>
          </a:p>
        </p:txBody>
      </p:sp>
      <p:sp>
        <p:nvSpPr>
          <p:cNvPr id="14" name="Step 3 text"/>
          <p:cNvSpPr txBox="1"/>
          <p:nvPr/>
        </p:nvSpPr>
        <p:spPr>
          <a:xfrm>
            <a:off x="8249717" y="3611880"/>
            <a:ext cx="3301898" cy="1188720"/>
          </a:xfrm>
          <a:prstGeom prst="rect">
            <a:avLst/>
          </a:prstGeom>
          <a:noFill/>
          <a:ln/>
        </p:spPr>
        <p:txBody>
          <a:bodyPr wrap="square" lIns="0" tIns="0" rIns="0" bIns="0" rtlCol="0" anchor="t"/>
          <a:lstStyle/>
          <a:p>
            <a:pPr indent="0" marL="0">
              <a:buNone/>
            </a:pPr>
            <a:r>
              <a:rPr lang="en-US" sz="1500" dirty="0">
                <a:solidFill>
                  <a:srgbClr val="D6E0DA"/>
                </a:solidFill>
              </a:rPr>
              <a:t>All 13 regions at or above 65%, tracked monthly on the Tableau dashboard.</a:t>
            </a:r>
            <a:endParaRPr lang="en-US" sz="1500" dirty="0"/>
          </a:p>
        </p:txBody>
      </p:sp>
      <p:sp>
        <p:nvSpPr>
          <p:cNvPr id="15" name="Dashboard link"/>
          <p:cNvSpPr txBox="1"/>
          <p:nvPr/>
        </p:nvSpPr>
        <p:spPr>
          <a:xfrm>
            <a:off x="548640" y="5440680"/>
            <a:ext cx="11094415" cy="365760"/>
          </a:xfrm>
          <a:prstGeom prst="rect">
            <a:avLst/>
          </a:prstGeom>
          <a:noFill/>
          <a:ln/>
        </p:spPr>
        <p:txBody>
          <a:bodyPr wrap="square" lIns="0" tIns="0" rIns="0" bIns="0" rtlCol="0" anchor="ctr"/>
          <a:lstStyle/>
          <a:p>
            <a:pPr indent="0" marL="0">
              <a:buNone/>
            </a:pPr>
            <a:r>
              <a:rPr lang="en-US" sz="1400" b="1" dirty="0">
                <a:solidFill>
                  <a:schemeClr val="accent4"/>
                </a:solidFill>
              </a:rPr>
              <a:t>Evidence and monthly tracking: </a:t>
            </a:r>
            <a:pPr indent="0" marL="0">
              <a:buNone/>
            </a:pPr>
            <a:r>
              <a:rPr lang="en-US" sz="1400" u="sng" dirty="0">
                <a:solidFill>
                  <a:schemeClr val="bg1"/>
                </a:solidFill>
                <a:hlinkClick r:id="rId1" invalidUrl="" action="" tgtFrame="" tooltip="Open the Tableau dashboard" history="1" highlightClick="0" endSnd="0">
                  <a:extLst>
                    <a:ext uri="{A12FA001-AC4F-418D-AE19-62706E023703}">
                      <ahyp:hlinkClr xmlns:ahyp="http://schemas.microsoft.com/office/drawing/2018/hyperlinkcolor" val="tx"/>
                    </a:ext>
                  </a:extLst>
                </a:hlinkClick>
              </a:rPr>
              <a:t>Tayseer Digital Adoption dashboard on Tableau Public</a:t>
            </a:r>
            <a:endParaRPr lang="en-US" sz="14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6E0DA"/>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theme/theme1.xml><?xml version="1.0" encoding="utf-8"?>
<a:theme xmlns:a="http://schemas.openxmlformats.org/drawingml/2006/main" name="Tayseer Capstone">
  <a:themeElements>
    <a:clrScheme name="Tayseer Capstone">
      <a:dk1>
        <a:srgbClr val="1D2B26"/>
      </a:dk1>
      <a:lt1>
        <a:srgbClr val="FFFFFF"/>
      </a:lt1>
      <a:dk2>
        <a:srgbClr val="46524D"/>
      </a:dk2>
      <a:lt2>
        <a:srgbClr val="F2F4F1"/>
      </a:lt2>
      <a:accent1>
        <a:srgbClr val="E15759"/>
      </a:accent1>
      <a:accent2>
        <a:srgbClr val="BAB0AC"/>
      </a:accent2>
      <a:accent3>
        <a:srgbClr val="006C35"/>
      </a:accent3>
      <a:accent4>
        <a:srgbClr val="C8A96A"/>
      </a:accent4>
      <a:accent5>
        <a:srgbClr val="0E3B2E"/>
      </a:accent5>
      <a:accent6>
        <a:srgbClr val="66706B"/>
      </a:accent6>
      <a:hlink>
        <a:srgbClr val="006C35"/>
      </a:hlink>
      <a:folHlink>
        <a:srgbClr val="4D6B5E"/>
      </a:folHlink>
    </a:clrScheme>
    <a:fontScheme name="Tayseer Capsto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Naif Alnasser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Tayseer: where the next SAR 40M should go</dc:title>
  <dc:subject>SDAIA Academy SDA-DSC-112 Data Visualization &amp; Storytelling capstone</dc:subject>
  <dc:creator>Naif Alnasser</dc:creator>
  <cp:lastModifiedBy>Naif Alnasser</cp:lastModifiedBy>
  <cp:revision>1</cp:revision>
  <dcterms:created xsi:type="dcterms:W3CDTF">2026-10-07T05:43:49Z</dcterms:created>
  <dcterms:modified xsi:type="dcterms:W3CDTF">2026-10-07T05:43:49Z</dcterms:modified>
</cp:coreProperties>
</file>